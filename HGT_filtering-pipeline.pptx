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8" r:id="rId2"/>
    <p:sldId id="259" r:id="rId3"/>
  </p:sldIdLst>
  <p:sldSz cx="25199975" cy="14712950"/>
  <p:notesSz cx="6858000" cy="9144000"/>
  <p:defaultTextStyle>
    <a:defPPr>
      <a:defRPr lang="en-US"/>
    </a:defPPr>
    <a:lvl1pPr marL="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616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2332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8497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4663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30829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6995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316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932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50"/>
    <p:restoredTop sz="96208"/>
  </p:normalViewPr>
  <p:slideViewPr>
    <p:cSldViewPr snapToGrid="0" snapToObjects="1">
      <p:cViewPr>
        <p:scale>
          <a:sx n="70" d="100"/>
          <a:sy n="70" d="100"/>
        </p:scale>
        <p:origin x="-328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407884"/>
            <a:ext cx="18899981" cy="5122286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727705"/>
            <a:ext cx="18899981" cy="3552223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11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668023"/>
            <a:ext cx="21734978" cy="6120177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846099"/>
            <a:ext cx="21734978" cy="3218457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75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75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03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9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83329"/>
            <a:ext cx="21734978" cy="2843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606717"/>
            <a:ext cx="10660770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374314"/>
            <a:ext cx="10660770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606717"/>
            <a:ext cx="10713272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374314"/>
            <a:ext cx="10713272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2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118393"/>
            <a:ext cx="12757487" cy="10455731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9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118393"/>
            <a:ext cx="12757487" cy="10455731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3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83328"/>
            <a:ext cx="5433745" cy="1246854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83328"/>
            <a:ext cx="15986234" cy="1246854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83329"/>
            <a:ext cx="21734978" cy="2843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916642"/>
            <a:ext cx="21734978" cy="93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6A93F-6D44-2341-95C7-2E010A24378A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636726"/>
            <a:ext cx="8504992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67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225572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1047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1510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5976550" y="8658063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6475343" y="8759491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7284800" y="11014490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4398154" y="11014490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6769847" y="13097145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8.v1.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5859065" y="10220666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7907321" y="10215310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8452680" y="1261492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7171909" y="813771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9492405-852F-8748-84B8-F43709FA6970}"/>
              </a:ext>
            </a:extLst>
          </p:cNvPr>
          <p:cNvSpPr txBox="1"/>
          <p:nvPr/>
        </p:nvSpPr>
        <p:spPr>
          <a:xfrm>
            <a:off x="258477" y="1676933"/>
            <a:ext cx="1396536" cy="507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REVISED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1CF808-C665-2141-A432-0720A64D3625}"/>
              </a:ext>
            </a:extLst>
          </p:cNvPr>
          <p:cNvCxnSpPr>
            <a:cxnSpLocks/>
          </p:cNvCxnSpPr>
          <p:nvPr/>
        </p:nvCxnSpPr>
        <p:spPr>
          <a:xfrm>
            <a:off x="17662988" y="829426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303DFD-6A6C-7B40-B7CF-0A6F73BC8980}"/>
              </a:ext>
            </a:extLst>
          </p:cNvPr>
          <p:cNvSpPr txBox="1"/>
          <p:nvPr/>
        </p:nvSpPr>
        <p:spPr>
          <a:xfrm>
            <a:off x="6030460" y="6752719"/>
            <a:ext cx="239071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36D22B-6F54-9240-B923-42DFE8F134B7}"/>
              </a:ext>
            </a:extLst>
          </p:cNvPr>
          <p:cNvSpPr txBox="1"/>
          <p:nvPr/>
        </p:nvSpPr>
        <p:spPr>
          <a:xfrm>
            <a:off x="16449308" y="6815594"/>
            <a:ext cx="22961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B5AE58-014A-EF45-81F8-A04514BF2AA7}"/>
              </a:ext>
            </a:extLst>
          </p:cNvPr>
          <p:cNvCxnSpPr>
            <a:cxnSpLocks/>
          </p:cNvCxnSpPr>
          <p:nvPr/>
        </p:nvCxnSpPr>
        <p:spPr>
          <a:xfrm>
            <a:off x="7221931" y="625723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F48E10C-BE2D-5145-AA11-4269774ACC6E}"/>
              </a:ext>
            </a:extLst>
          </p:cNvPr>
          <p:cNvCxnSpPr>
            <a:cxnSpLocks/>
          </p:cNvCxnSpPr>
          <p:nvPr/>
        </p:nvCxnSpPr>
        <p:spPr>
          <a:xfrm>
            <a:off x="17610548" y="6320641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n 2">
            <a:extLst>
              <a:ext uri="{FF2B5EF4-FFF2-40B4-BE49-F238E27FC236}">
                <a16:creationId xmlns:a16="http://schemas.microsoft.com/office/drawing/2014/main" id="{4364D50A-9967-C446-80C8-B0D63D927604}"/>
              </a:ext>
            </a:extLst>
          </p:cNvPr>
          <p:cNvSpPr/>
          <p:nvPr/>
        </p:nvSpPr>
        <p:spPr>
          <a:xfrm>
            <a:off x="19087195" y="15755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Sun 48">
            <a:extLst>
              <a:ext uri="{FF2B5EF4-FFF2-40B4-BE49-F238E27FC236}">
                <a16:creationId xmlns:a16="http://schemas.microsoft.com/office/drawing/2014/main" id="{1AAE7072-21A4-FD45-ACA7-EC5A7A284B71}"/>
              </a:ext>
            </a:extLst>
          </p:cNvPr>
          <p:cNvSpPr/>
          <p:nvPr/>
        </p:nvSpPr>
        <p:spPr>
          <a:xfrm>
            <a:off x="19087195" y="399426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4967D5-3605-5E4A-B6E5-10E6BE29D6DD}"/>
              </a:ext>
            </a:extLst>
          </p:cNvPr>
          <p:cNvSpPr txBox="1"/>
          <p:nvPr/>
        </p:nvSpPr>
        <p:spPr>
          <a:xfrm>
            <a:off x="17716901" y="11082594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616213D-729F-EB41-A3D3-1CB2C19FB1FE}"/>
              </a:ext>
            </a:extLst>
          </p:cNvPr>
          <p:cNvSpPr txBox="1"/>
          <p:nvPr/>
        </p:nvSpPr>
        <p:spPr>
          <a:xfrm>
            <a:off x="14830255" y="11082594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EF96A2-DA4C-0945-BABA-141796027DC7}"/>
              </a:ext>
            </a:extLst>
          </p:cNvPr>
          <p:cNvSpPr txBox="1"/>
          <p:nvPr/>
        </p:nvSpPr>
        <p:spPr>
          <a:xfrm>
            <a:off x="17310959" y="1315340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8.v2.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AC655D3-5B76-BF45-8D8E-AB4AD50DCBCF}"/>
              </a:ext>
            </a:extLst>
          </p:cNvPr>
          <p:cNvCxnSpPr>
            <a:cxnSpLocks/>
          </p:cNvCxnSpPr>
          <p:nvPr/>
        </p:nvCxnSpPr>
        <p:spPr>
          <a:xfrm flipH="1">
            <a:off x="16291166" y="10404517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CEFBD08-A37D-474B-9ADF-36F7C8960033}"/>
              </a:ext>
            </a:extLst>
          </p:cNvPr>
          <p:cNvCxnSpPr>
            <a:cxnSpLocks/>
          </p:cNvCxnSpPr>
          <p:nvPr/>
        </p:nvCxnSpPr>
        <p:spPr>
          <a:xfrm>
            <a:off x="18339422" y="10399161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F3EF3D-ECA9-1845-8ABE-35845D86126F}"/>
              </a:ext>
            </a:extLst>
          </p:cNvPr>
          <p:cNvCxnSpPr>
            <a:cxnSpLocks/>
          </p:cNvCxnSpPr>
          <p:nvPr/>
        </p:nvCxnSpPr>
        <p:spPr>
          <a:xfrm>
            <a:off x="18884781" y="1268303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un 64">
            <a:extLst>
              <a:ext uri="{FF2B5EF4-FFF2-40B4-BE49-F238E27FC236}">
                <a16:creationId xmlns:a16="http://schemas.microsoft.com/office/drawing/2014/main" id="{DB69A1F4-85B2-0E44-AB34-B61CB6F44BA7}"/>
              </a:ext>
            </a:extLst>
          </p:cNvPr>
          <p:cNvSpPr/>
          <p:nvPr/>
        </p:nvSpPr>
        <p:spPr>
          <a:xfrm>
            <a:off x="20387229" y="1171329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Sun 45">
            <a:extLst>
              <a:ext uri="{FF2B5EF4-FFF2-40B4-BE49-F238E27FC236}">
                <a16:creationId xmlns:a16="http://schemas.microsoft.com/office/drawing/2014/main" id="{D05C800A-54C5-F74E-9FCB-6F12DF209D6E}"/>
              </a:ext>
            </a:extLst>
          </p:cNvPr>
          <p:cNvSpPr/>
          <p:nvPr/>
        </p:nvSpPr>
        <p:spPr>
          <a:xfrm>
            <a:off x="21007435" y="20327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48FAF8-9EFF-5447-B45F-342E51A576D0}"/>
              </a:ext>
            </a:extLst>
          </p:cNvPr>
          <p:cNvSpPr txBox="1"/>
          <p:nvPr/>
        </p:nvSpPr>
        <p:spPr>
          <a:xfrm>
            <a:off x="21416638" y="1730779"/>
            <a:ext cx="30784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Indicates that step has alternate thresholds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B0A67-B3DD-7F4E-8558-64AC8DB85BFD}"/>
              </a:ext>
            </a:extLst>
          </p:cNvPr>
          <p:cNvSpPr/>
          <p:nvPr/>
        </p:nvSpPr>
        <p:spPr>
          <a:xfrm>
            <a:off x="20885514" y="1575519"/>
            <a:ext cx="3599671" cy="1103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193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545CE03D-C4E9-1D4B-A693-7D8993CDE0E9}"/>
              </a:ext>
            </a:extLst>
          </p:cNvPr>
          <p:cNvSpPr txBox="1"/>
          <p:nvPr/>
        </p:nvSpPr>
        <p:spPr>
          <a:xfrm>
            <a:off x="312821" y="409074"/>
            <a:ext cx="17317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Figure S1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A9C6EF-E05D-0940-81B5-B91353BEEB0B}"/>
              </a:ext>
            </a:extLst>
          </p:cNvPr>
          <p:cNvSpPr txBox="1"/>
          <p:nvPr/>
        </p:nvSpPr>
        <p:spPr>
          <a:xfrm>
            <a:off x="10019868" y="224949"/>
            <a:ext cx="4286245" cy="13392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Inserts characterized via alignment of Blattabacterium fragments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A405A806-B41B-9A48-BEE1-4B3BB92BB7DA}"/>
              </a:ext>
            </a:extLst>
          </p:cNvPr>
          <p:cNvSpPr/>
          <p:nvPr/>
        </p:nvSpPr>
        <p:spPr>
          <a:xfrm>
            <a:off x="12060871" y="1622503"/>
            <a:ext cx="369250" cy="73693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B77F7F-A393-7142-8063-C1F7DEF7F40F}"/>
              </a:ext>
            </a:extLst>
          </p:cNvPr>
          <p:cNvSpPr txBox="1"/>
          <p:nvPr/>
        </p:nvSpPr>
        <p:spPr>
          <a:xfrm>
            <a:off x="10121224" y="2448914"/>
            <a:ext cx="4083535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Genuine Blattabacterium sequences/inserts removed  </a:t>
            </a:r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13EB6D68-094E-FB46-BACB-633E2C97166D}"/>
              </a:ext>
            </a:extLst>
          </p:cNvPr>
          <p:cNvSpPr/>
          <p:nvPr/>
        </p:nvSpPr>
        <p:spPr>
          <a:xfrm>
            <a:off x="12060871" y="3433405"/>
            <a:ext cx="369250" cy="73693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B0DE31-354C-5147-892D-BF987031C0C4}"/>
              </a:ext>
            </a:extLst>
          </p:cNvPr>
          <p:cNvSpPr txBox="1"/>
          <p:nvPr/>
        </p:nvSpPr>
        <p:spPr>
          <a:xfrm>
            <a:off x="10272712" y="4285801"/>
            <a:ext cx="3757613" cy="507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False duplicates removed</a:t>
            </a: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334B1BBD-BB80-274A-9E59-42BF196F379C}"/>
              </a:ext>
            </a:extLst>
          </p:cNvPr>
          <p:cNvSpPr/>
          <p:nvPr/>
        </p:nvSpPr>
        <p:spPr>
          <a:xfrm>
            <a:off x="12060871" y="4879032"/>
            <a:ext cx="369250" cy="73693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1F511E-80BA-E546-860F-1F2CC2BBEC6D}"/>
              </a:ext>
            </a:extLst>
          </p:cNvPr>
          <p:cNvSpPr txBox="1"/>
          <p:nvPr/>
        </p:nvSpPr>
        <p:spPr>
          <a:xfrm>
            <a:off x="10203728" y="5733444"/>
            <a:ext cx="4083535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Highly repetitive low-complexity inserts removed </a:t>
            </a:r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C6AAEFA2-1CAE-6840-A1E2-B6E347B70ED0}"/>
              </a:ext>
            </a:extLst>
          </p:cNvPr>
          <p:cNvSpPr/>
          <p:nvPr/>
        </p:nvSpPr>
        <p:spPr>
          <a:xfrm>
            <a:off x="12060870" y="6722933"/>
            <a:ext cx="369250" cy="73693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FBEE2-53CA-B746-9037-C0B9028BE09F}"/>
              </a:ext>
            </a:extLst>
          </p:cNvPr>
          <p:cNvSpPr txBox="1"/>
          <p:nvPr/>
        </p:nvSpPr>
        <p:spPr>
          <a:xfrm>
            <a:off x="10410669" y="7572886"/>
            <a:ext cx="3557587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Inserts more similar to other bacteria removed</a:t>
            </a: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8D4983D3-C9AC-1140-A50C-42DAAA142EF6}"/>
              </a:ext>
            </a:extLst>
          </p:cNvPr>
          <p:cNvSpPr/>
          <p:nvPr/>
        </p:nvSpPr>
        <p:spPr>
          <a:xfrm rot="2912297">
            <a:off x="10688163" y="9920525"/>
            <a:ext cx="369250" cy="107443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197907DB-ED72-D644-B079-747A06132BBD}"/>
              </a:ext>
            </a:extLst>
          </p:cNvPr>
          <p:cNvSpPr/>
          <p:nvPr/>
        </p:nvSpPr>
        <p:spPr>
          <a:xfrm rot="18687703" flipH="1">
            <a:off x="13258800" y="9920525"/>
            <a:ext cx="369250" cy="107443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6A9684-8A5D-FA4C-8934-39EEF8AA7AAF}"/>
              </a:ext>
            </a:extLst>
          </p:cNvPr>
          <p:cNvSpPr txBox="1"/>
          <p:nvPr/>
        </p:nvSpPr>
        <p:spPr>
          <a:xfrm>
            <a:off x="9329738" y="10998660"/>
            <a:ext cx="1757362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inserts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94E8B1-219B-EA48-A183-DE1765FF26DB}"/>
              </a:ext>
            </a:extLst>
          </p:cNvPr>
          <p:cNvSpPr txBox="1"/>
          <p:nvPr/>
        </p:nvSpPr>
        <p:spPr>
          <a:xfrm>
            <a:off x="12508469" y="10998660"/>
            <a:ext cx="4265056" cy="9235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 inserts identified (duplicated inserts removed)</a:t>
            </a:r>
          </a:p>
        </p:txBody>
      </p:sp>
      <p:sp>
        <p:nvSpPr>
          <p:cNvPr id="36" name="Down Arrow 35">
            <a:extLst>
              <a:ext uri="{FF2B5EF4-FFF2-40B4-BE49-F238E27FC236}">
                <a16:creationId xmlns:a16="http://schemas.microsoft.com/office/drawing/2014/main" id="{0568BB51-2C85-0D4E-BB1B-AA5ED2B3A0C7}"/>
              </a:ext>
            </a:extLst>
          </p:cNvPr>
          <p:cNvSpPr/>
          <p:nvPr/>
        </p:nvSpPr>
        <p:spPr>
          <a:xfrm>
            <a:off x="14612421" y="12012164"/>
            <a:ext cx="369250" cy="7369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2C0856-C1E4-4C45-B66D-8493737319CA}"/>
              </a:ext>
            </a:extLst>
          </p:cNvPr>
          <p:cNvSpPr txBox="1"/>
          <p:nvPr/>
        </p:nvSpPr>
        <p:spPr>
          <a:xfrm>
            <a:off x="13199742" y="12872549"/>
            <a:ext cx="3194607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Putatively ancestral inserts identified</a:t>
            </a:r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1EB783CD-2D15-174D-9711-DABB0169C942}"/>
              </a:ext>
            </a:extLst>
          </p:cNvPr>
          <p:cNvSpPr/>
          <p:nvPr/>
        </p:nvSpPr>
        <p:spPr>
          <a:xfrm>
            <a:off x="12060870" y="8550298"/>
            <a:ext cx="369250" cy="73693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7D494A-26E6-D34F-8167-8317CFAA2F25}"/>
              </a:ext>
            </a:extLst>
          </p:cNvPr>
          <p:cNvSpPr txBox="1"/>
          <p:nvPr/>
        </p:nvSpPr>
        <p:spPr>
          <a:xfrm>
            <a:off x="10203728" y="9410683"/>
            <a:ext cx="4083535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Manual curation of inserts</a:t>
            </a:r>
          </a:p>
        </p:txBody>
      </p:sp>
    </p:spTree>
    <p:extLst>
      <p:ext uri="{BB962C8B-B14F-4D97-AF65-F5344CB8AC3E}">
        <p14:creationId xmlns:p14="http://schemas.microsoft.com/office/powerpoint/2010/main" val="1398200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2112</TotalTime>
  <Words>517</Words>
  <Application>Microsoft Macintosh PowerPoint</Application>
  <PresentationFormat>Custom</PresentationFormat>
  <Paragraphs>102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22</cp:revision>
  <dcterms:created xsi:type="dcterms:W3CDTF">2025-03-26T20:16:19Z</dcterms:created>
  <dcterms:modified xsi:type="dcterms:W3CDTF">2025-09-28T20:52:09Z</dcterms:modified>
</cp:coreProperties>
</file>