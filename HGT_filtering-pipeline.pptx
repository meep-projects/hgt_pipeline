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732" r:id="rId1"/>
  </p:sldMasterIdLst>
  <p:sldIdLst>
    <p:sldId id="258" r:id="rId2"/>
    <p:sldId id="259" r:id="rId3"/>
  </p:sldIdLst>
  <p:sldSz cx="25199975" cy="14712950"/>
  <p:notesSz cx="6858000" cy="9144000"/>
  <p:defaultTextStyle>
    <a:defPPr>
      <a:defRPr lang="en-US"/>
    </a:defPPr>
    <a:lvl1pPr marL="0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1pPr>
    <a:lvl2pPr marL="686166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2pPr>
    <a:lvl3pPr marL="1372332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3pPr>
    <a:lvl4pPr marL="2058497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4pPr>
    <a:lvl5pPr marL="2744663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5pPr>
    <a:lvl6pPr marL="3430829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6pPr>
    <a:lvl7pPr marL="4116995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7pPr>
    <a:lvl8pPr marL="4803160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8pPr>
    <a:lvl9pPr marL="5489326" algn="l" defTabSz="1372332" rtl="0" eaLnBrk="1" latinLnBrk="0" hangingPunct="1">
      <a:defRPr sz="2701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8294"/>
    <p:restoredTop sz="96208"/>
  </p:normalViewPr>
  <p:slideViewPr>
    <p:cSldViewPr snapToGrid="0" snapToObjects="1">
      <p:cViewPr>
        <p:scale>
          <a:sx n="70" d="100"/>
          <a:sy n="70" d="100"/>
        </p:scale>
        <p:origin x="-104" y="-2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slide" Target="slides/slide2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3149997" y="2407884"/>
            <a:ext cx="18899981" cy="5122286"/>
          </a:xfrm>
        </p:spPr>
        <p:txBody>
          <a:bodyPr anchor="b"/>
          <a:lstStyle>
            <a:lvl1pPr algn="ctr">
              <a:defRPr sz="124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149997" y="7727705"/>
            <a:ext cx="18899981" cy="3552223"/>
          </a:xfrm>
        </p:spPr>
        <p:txBody>
          <a:bodyPr/>
          <a:lstStyle>
            <a:lvl1pPr marL="0" indent="0" algn="ctr">
              <a:buNone/>
              <a:defRPr sz="4961"/>
            </a:lvl1pPr>
            <a:lvl2pPr marL="944987" indent="0" algn="ctr">
              <a:buNone/>
              <a:defRPr sz="4134"/>
            </a:lvl2pPr>
            <a:lvl3pPr marL="1889973" indent="0" algn="ctr">
              <a:buNone/>
              <a:defRPr sz="3720"/>
            </a:lvl3pPr>
            <a:lvl4pPr marL="2834960" indent="0" algn="ctr">
              <a:buNone/>
              <a:defRPr sz="3307"/>
            </a:lvl4pPr>
            <a:lvl5pPr marL="3779947" indent="0" algn="ctr">
              <a:buNone/>
              <a:defRPr sz="3307"/>
            </a:lvl5pPr>
            <a:lvl6pPr marL="4724933" indent="0" algn="ctr">
              <a:buNone/>
              <a:defRPr sz="3307"/>
            </a:lvl6pPr>
            <a:lvl7pPr marL="5669920" indent="0" algn="ctr">
              <a:buNone/>
              <a:defRPr sz="3307"/>
            </a:lvl7pPr>
            <a:lvl8pPr marL="6614907" indent="0" algn="ctr">
              <a:buNone/>
              <a:defRPr sz="3307"/>
            </a:lvl8pPr>
            <a:lvl9pPr marL="7559893" indent="0" algn="ctr">
              <a:buNone/>
              <a:defRPr sz="3307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10/19/25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311137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10/19/25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30616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19374" y="3668023"/>
            <a:ext cx="21734978" cy="6120177"/>
          </a:xfrm>
        </p:spPr>
        <p:txBody>
          <a:bodyPr anchor="b"/>
          <a:lstStyle>
            <a:lvl1pPr>
              <a:defRPr sz="12401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19374" y="9846099"/>
            <a:ext cx="21734978" cy="3218457"/>
          </a:xfrm>
        </p:spPr>
        <p:txBody>
          <a:bodyPr/>
          <a:lstStyle>
            <a:lvl1pPr marL="0" indent="0">
              <a:buNone/>
              <a:defRPr sz="4961">
                <a:solidFill>
                  <a:schemeClr val="tx1">
                    <a:tint val="75000"/>
                  </a:schemeClr>
                </a:solidFill>
              </a:defRPr>
            </a:lvl1pPr>
            <a:lvl2pPr marL="944987" indent="0">
              <a:buNone/>
              <a:defRPr sz="4134">
                <a:solidFill>
                  <a:schemeClr val="tx1">
                    <a:tint val="75000"/>
                  </a:schemeClr>
                </a:solidFill>
              </a:defRPr>
            </a:lvl2pPr>
            <a:lvl3pPr marL="1889973" indent="0">
              <a:buNone/>
              <a:defRPr sz="3720">
                <a:solidFill>
                  <a:schemeClr val="tx1">
                    <a:tint val="75000"/>
                  </a:schemeClr>
                </a:solidFill>
              </a:defRPr>
            </a:lvl3pPr>
            <a:lvl4pPr marL="2834960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4pPr>
            <a:lvl5pPr marL="3779947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5pPr>
            <a:lvl6pPr marL="4724933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6pPr>
            <a:lvl7pPr marL="5669920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7pPr>
            <a:lvl8pPr marL="6614907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8pPr>
            <a:lvl9pPr marL="7559893" indent="0">
              <a:buNone/>
              <a:defRPr sz="3307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10/19/25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24031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732498" y="3916642"/>
            <a:ext cx="10709989" cy="933523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757488" y="3916642"/>
            <a:ext cx="10709989" cy="9335232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10/19/25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239850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1" y="783329"/>
            <a:ext cx="21734978" cy="2843824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5781" y="3606717"/>
            <a:ext cx="10660770" cy="1767596"/>
          </a:xfrm>
        </p:spPr>
        <p:txBody>
          <a:bodyPr anchor="b"/>
          <a:lstStyle>
            <a:lvl1pPr marL="0" indent="0">
              <a:buNone/>
              <a:defRPr sz="4961" b="1"/>
            </a:lvl1pPr>
            <a:lvl2pPr marL="944987" indent="0">
              <a:buNone/>
              <a:defRPr sz="4134" b="1"/>
            </a:lvl2pPr>
            <a:lvl3pPr marL="1889973" indent="0">
              <a:buNone/>
              <a:defRPr sz="3720" b="1"/>
            </a:lvl3pPr>
            <a:lvl4pPr marL="2834960" indent="0">
              <a:buNone/>
              <a:defRPr sz="3307" b="1"/>
            </a:lvl4pPr>
            <a:lvl5pPr marL="3779947" indent="0">
              <a:buNone/>
              <a:defRPr sz="3307" b="1"/>
            </a:lvl5pPr>
            <a:lvl6pPr marL="4724933" indent="0">
              <a:buNone/>
              <a:defRPr sz="3307" b="1"/>
            </a:lvl6pPr>
            <a:lvl7pPr marL="5669920" indent="0">
              <a:buNone/>
              <a:defRPr sz="3307" b="1"/>
            </a:lvl7pPr>
            <a:lvl8pPr marL="6614907" indent="0">
              <a:buNone/>
              <a:defRPr sz="3307" b="1"/>
            </a:lvl8pPr>
            <a:lvl9pPr marL="7559893" indent="0">
              <a:buNone/>
              <a:defRPr sz="3307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735781" y="5374314"/>
            <a:ext cx="10660770" cy="79048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757487" y="3606717"/>
            <a:ext cx="10713272" cy="1767596"/>
          </a:xfrm>
        </p:spPr>
        <p:txBody>
          <a:bodyPr anchor="b"/>
          <a:lstStyle>
            <a:lvl1pPr marL="0" indent="0">
              <a:buNone/>
              <a:defRPr sz="4961" b="1"/>
            </a:lvl1pPr>
            <a:lvl2pPr marL="944987" indent="0">
              <a:buNone/>
              <a:defRPr sz="4134" b="1"/>
            </a:lvl2pPr>
            <a:lvl3pPr marL="1889973" indent="0">
              <a:buNone/>
              <a:defRPr sz="3720" b="1"/>
            </a:lvl3pPr>
            <a:lvl4pPr marL="2834960" indent="0">
              <a:buNone/>
              <a:defRPr sz="3307" b="1"/>
            </a:lvl4pPr>
            <a:lvl5pPr marL="3779947" indent="0">
              <a:buNone/>
              <a:defRPr sz="3307" b="1"/>
            </a:lvl5pPr>
            <a:lvl6pPr marL="4724933" indent="0">
              <a:buNone/>
              <a:defRPr sz="3307" b="1"/>
            </a:lvl6pPr>
            <a:lvl7pPr marL="5669920" indent="0">
              <a:buNone/>
              <a:defRPr sz="3307" b="1"/>
            </a:lvl7pPr>
            <a:lvl8pPr marL="6614907" indent="0">
              <a:buNone/>
              <a:defRPr sz="3307" b="1"/>
            </a:lvl8pPr>
            <a:lvl9pPr marL="7559893" indent="0">
              <a:buNone/>
              <a:defRPr sz="3307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757487" y="5374314"/>
            <a:ext cx="10713272" cy="7904806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10/19/25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83794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10/19/25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1251650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10/19/25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879224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2" y="980863"/>
            <a:ext cx="8127647" cy="3433022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0713272" y="2118393"/>
            <a:ext cx="12757487" cy="10455731"/>
          </a:xfrm>
        </p:spPr>
        <p:txBody>
          <a:bodyPr/>
          <a:lstStyle>
            <a:lvl1pPr>
              <a:defRPr sz="6614"/>
            </a:lvl1pPr>
            <a:lvl2pPr>
              <a:defRPr sz="5787"/>
            </a:lvl2pPr>
            <a:lvl3pPr>
              <a:defRPr sz="4961"/>
            </a:lvl3pPr>
            <a:lvl4pPr>
              <a:defRPr sz="4134"/>
            </a:lvl4pPr>
            <a:lvl5pPr>
              <a:defRPr sz="4134"/>
            </a:lvl5pPr>
            <a:lvl6pPr>
              <a:defRPr sz="4134"/>
            </a:lvl6pPr>
            <a:lvl7pPr>
              <a:defRPr sz="4134"/>
            </a:lvl7pPr>
            <a:lvl8pPr>
              <a:defRPr sz="4134"/>
            </a:lvl8pPr>
            <a:lvl9pPr>
              <a:defRPr sz="4134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2" y="4413885"/>
            <a:ext cx="8127647" cy="8177268"/>
          </a:xfrm>
        </p:spPr>
        <p:txBody>
          <a:bodyPr/>
          <a:lstStyle>
            <a:lvl1pPr marL="0" indent="0">
              <a:buNone/>
              <a:defRPr sz="3307"/>
            </a:lvl1pPr>
            <a:lvl2pPr marL="944987" indent="0">
              <a:buNone/>
              <a:defRPr sz="2894"/>
            </a:lvl2pPr>
            <a:lvl3pPr marL="1889973" indent="0">
              <a:buNone/>
              <a:defRPr sz="2480"/>
            </a:lvl3pPr>
            <a:lvl4pPr marL="2834960" indent="0">
              <a:buNone/>
              <a:defRPr sz="2067"/>
            </a:lvl4pPr>
            <a:lvl5pPr marL="3779947" indent="0">
              <a:buNone/>
              <a:defRPr sz="2067"/>
            </a:lvl5pPr>
            <a:lvl6pPr marL="4724933" indent="0">
              <a:buNone/>
              <a:defRPr sz="2067"/>
            </a:lvl6pPr>
            <a:lvl7pPr marL="5669920" indent="0">
              <a:buNone/>
              <a:defRPr sz="2067"/>
            </a:lvl7pPr>
            <a:lvl8pPr marL="6614907" indent="0">
              <a:buNone/>
              <a:defRPr sz="2067"/>
            </a:lvl8pPr>
            <a:lvl9pPr marL="7559893" indent="0">
              <a:buNone/>
              <a:defRPr sz="2067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10/19/25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046924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35782" y="980863"/>
            <a:ext cx="8127647" cy="3433022"/>
          </a:xfrm>
        </p:spPr>
        <p:txBody>
          <a:bodyPr anchor="b"/>
          <a:lstStyle>
            <a:lvl1pPr>
              <a:defRPr sz="6614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0713272" y="2118393"/>
            <a:ext cx="12757487" cy="10455731"/>
          </a:xfrm>
        </p:spPr>
        <p:txBody>
          <a:bodyPr anchor="t"/>
          <a:lstStyle>
            <a:lvl1pPr marL="0" indent="0">
              <a:buNone/>
              <a:defRPr sz="6614"/>
            </a:lvl1pPr>
            <a:lvl2pPr marL="944987" indent="0">
              <a:buNone/>
              <a:defRPr sz="5787"/>
            </a:lvl2pPr>
            <a:lvl3pPr marL="1889973" indent="0">
              <a:buNone/>
              <a:defRPr sz="4961"/>
            </a:lvl3pPr>
            <a:lvl4pPr marL="2834960" indent="0">
              <a:buNone/>
              <a:defRPr sz="4134"/>
            </a:lvl4pPr>
            <a:lvl5pPr marL="3779947" indent="0">
              <a:buNone/>
              <a:defRPr sz="4134"/>
            </a:lvl5pPr>
            <a:lvl6pPr marL="4724933" indent="0">
              <a:buNone/>
              <a:defRPr sz="4134"/>
            </a:lvl6pPr>
            <a:lvl7pPr marL="5669920" indent="0">
              <a:buNone/>
              <a:defRPr sz="4134"/>
            </a:lvl7pPr>
            <a:lvl8pPr marL="6614907" indent="0">
              <a:buNone/>
              <a:defRPr sz="4134"/>
            </a:lvl8pPr>
            <a:lvl9pPr marL="7559893" indent="0">
              <a:buNone/>
              <a:defRPr sz="4134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35782" y="4413885"/>
            <a:ext cx="8127647" cy="8177268"/>
          </a:xfrm>
        </p:spPr>
        <p:txBody>
          <a:bodyPr/>
          <a:lstStyle>
            <a:lvl1pPr marL="0" indent="0">
              <a:buNone/>
              <a:defRPr sz="3307"/>
            </a:lvl1pPr>
            <a:lvl2pPr marL="944987" indent="0">
              <a:buNone/>
              <a:defRPr sz="2894"/>
            </a:lvl2pPr>
            <a:lvl3pPr marL="1889973" indent="0">
              <a:buNone/>
              <a:defRPr sz="2480"/>
            </a:lvl3pPr>
            <a:lvl4pPr marL="2834960" indent="0">
              <a:buNone/>
              <a:defRPr sz="2067"/>
            </a:lvl4pPr>
            <a:lvl5pPr marL="3779947" indent="0">
              <a:buNone/>
              <a:defRPr sz="2067"/>
            </a:lvl5pPr>
            <a:lvl6pPr marL="4724933" indent="0">
              <a:buNone/>
              <a:defRPr sz="2067"/>
            </a:lvl6pPr>
            <a:lvl7pPr marL="5669920" indent="0">
              <a:buNone/>
              <a:defRPr sz="2067"/>
            </a:lvl7pPr>
            <a:lvl8pPr marL="6614907" indent="0">
              <a:buNone/>
              <a:defRPr sz="2067"/>
            </a:lvl8pPr>
            <a:lvl9pPr marL="7559893" indent="0">
              <a:buNone/>
              <a:defRPr sz="2067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10/19/25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942336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10/19/25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47777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8033732" y="783328"/>
            <a:ext cx="5433745" cy="12468545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732498" y="783328"/>
            <a:ext cx="15986234" cy="1246854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386A93F-6D44-2341-95C7-2E010A24378A}" type="datetimeFigureOut">
              <a:rPr lang="en-US" smtClean="0"/>
              <a:t>10/19/25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91535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732499" y="783329"/>
            <a:ext cx="21734978" cy="284382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732499" y="3916642"/>
            <a:ext cx="21734978" cy="933523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732498" y="13636726"/>
            <a:ext cx="5669994" cy="783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2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386A93F-6D44-2341-95C7-2E010A24378A}" type="datetimeFigureOut">
              <a:rPr lang="en-US" smtClean="0"/>
              <a:t>10/19/25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47492" y="13636726"/>
            <a:ext cx="8504992" cy="783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2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797483" y="13636726"/>
            <a:ext cx="5669994" cy="783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248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5DBD39A-A1E8-D34C-AEB2-BBAA6F05559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80674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33" r:id="rId1"/>
    <p:sldLayoutId id="2147483734" r:id="rId2"/>
    <p:sldLayoutId id="2147483735" r:id="rId3"/>
    <p:sldLayoutId id="2147483736" r:id="rId4"/>
    <p:sldLayoutId id="2147483737" r:id="rId5"/>
    <p:sldLayoutId id="2147483738" r:id="rId6"/>
    <p:sldLayoutId id="2147483739" r:id="rId7"/>
    <p:sldLayoutId id="2147483740" r:id="rId8"/>
    <p:sldLayoutId id="2147483741" r:id="rId9"/>
    <p:sldLayoutId id="2147483742" r:id="rId10"/>
    <p:sldLayoutId id="2147483743" r:id="rId11"/>
  </p:sldLayoutIdLst>
  <p:txStyles>
    <p:titleStyle>
      <a:lvl1pPr algn="l" defTabSz="1889973" rtl="0" eaLnBrk="1" latinLnBrk="0" hangingPunct="1">
        <a:lnSpc>
          <a:spcPct val="90000"/>
        </a:lnSpc>
        <a:spcBef>
          <a:spcPct val="0"/>
        </a:spcBef>
        <a:buNone/>
        <a:defRPr sz="9094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472493" indent="-472493" algn="l" defTabSz="1889973" rtl="0" eaLnBrk="1" latinLnBrk="0" hangingPunct="1">
        <a:lnSpc>
          <a:spcPct val="90000"/>
        </a:lnSpc>
        <a:spcBef>
          <a:spcPts val="2067"/>
        </a:spcBef>
        <a:buFont typeface="Arial" panose="020B0604020202020204" pitchFamily="34" charset="0"/>
        <a:buChar char="•"/>
        <a:defRPr sz="5787" kern="1200">
          <a:solidFill>
            <a:schemeClr val="tx1"/>
          </a:solidFill>
          <a:latin typeface="+mn-lt"/>
          <a:ea typeface="+mn-ea"/>
          <a:cs typeface="+mn-cs"/>
        </a:defRPr>
      </a:lvl1pPr>
      <a:lvl2pPr marL="1417480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4961" kern="1200">
          <a:solidFill>
            <a:schemeClr val="tx1"/>
          </a:solidFill>
          <a:latin typeface="+mn-lt"/>
          <a:ea typeface="+mn-ea"/>
          <a:cs typeface="+mn-cs"/>
        </a:defRPr>
      </a:lvl2pPr>
      <a:lvl3pPr marL="2362467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4134" kern="1200">
          <a:solidFill>
            <a:schemeClr val="tx1"/>
          </a:solidFill>
          <a:latin typeface="+mn-lt"/>
          <a:ea typeface="+mn-ea"/>
          <a:cs typeface="+mn-cs"/>
        </a:defRPr>
      </a:lvl3pPr>
      <a:lvl4pPr marL="3307453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4pPr>
      <a:lvl5pPr marL="4252440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5pPr>
      <a:lvl6pPr marL="5197427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6pPr>
      <a:lvl7pPr marL="6142413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7pPr>
      <a:lvl8pPr marL="7087400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8pPr>
      <a:lvl9pPr marL="8032387" indent="-472493" algn="l" defTabSz="1889973" rtl="0" eaLnBrk="1" latinLnBrk="0" hangingPunct="1">
        <a:lnSpc>
          <a:spcPct val="90000"/>
        </a:lnSpc>
        <a:spcBef>
          <a:spcPts val="1033"/>
        </a:spcBef>
        <a:buFont typeface="Arial" panose="020B0604020202020204" pitchFamily="34" charset="0"/>
        <a:buChar char="•"/>
        <a:defRPr sz="372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1pPr>
      <a:lvl2pPr marL="944987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2pPr>
      <a:lvl3pPr marL="1889973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3pPr>
      <a:lvl4pPr marL="2834960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4pPr>
      <a:lvl5pPr marL="3779947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5pPr>
      <a:lvl6pPr marL="4724933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6pPr>
      <a:lvl7pPr marL="5669920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7pPr>
      <a:lvl8pPr marL="6614907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8pPr>
      <a:lvl9pPr marL="7559893" algn="l" defTabSz="1889973" rtl="0" eaLnBrk="1" latinLnBrk="0" hangingPunct="1">
        <a:defRPr sz="372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extBox 3">
            <a:extLst>
              <a:ext uri="{FF2B5EF4-FFF2-40B4-BE49-F238E27FC236}">
                <a16:creationId xmlns:a16="http://schemas.microsoft.com/office/drawing/2014/main" id="{79D15BB4-6BA6-2049-8E82-70645DB193B4}"/>
              </a:ext>
            </a:extLst>
          </p:cNvPr>
          <p:cNvSpPr txBox="1"/>
          <p:nvPr/>
        </p:nvSpPr>
        <p:spPr>
          <a:xfrm>
            <a:off x="11808013" y="225572"/>
            <a:ext cx="1091966" cy="40011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sz="2000" b="1" dirty="0"/>
              <a:t>Genome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D14E54-D4CF-194B-9C3B-AEE4FF6C22B6}"/>
              </a:ext>
            </a:extLst>
          </p:cNvPr>
          <p:cNvSpPr txBox="1"/>
          <p:nvPr/>
        </p:nvSpPr>
        <p:spPr>
          <a:xfrm>
            <a:off x="6317033" y="1469169"/>
            <a:ext cx="1880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1.v1. Unfiltered inserts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8080F88-E331-2047-9AD7-ABE3E9C884B3}"/>
              </a:ext>
            </a:extLst>
          </p:cNvPr>
          <p:cNvSpPr txBox="1"/>
          <p:nvPr/>
        </p:nvSpPr>
        <p:spPr>
          <a:xfrm>
            <a:off x="16753247" y="1469169"/>
            <a:ext cx="18805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1.v2. Unfiltered inserts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209F653F-7200-2D41-880A-CA0582D478BF}"/>
              </a:ext>
            </a:extLst>
          </p:cNvPr>
          <p:cNvSpPr txBox="1"/>
          <p:nvPr/>
        </p:nvSpPr>
        <p:spPr>
          <a:xfrm>
            <a:off x="6061962" y="2473622"/>
            <a:ext cx="239071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2.v1.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E4DBABE2-F8ED-174A-8D10-E377AEB6701E}"/>
              </a:ext>
            </a:extLst>
          </p:cNvPr>
          <p:cNvSpPr txBox="1"/>
          <p:nvPr/>
        </p:nvSpPr>
        <p:spPr>
          <a:xfrm>
            <a:off x="16429633" y="2473622"/>
            <a:ext cx="2390718" cy="7386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2.v2.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CE9E3A89-700F-BD4B-B39C-DD01A77A5980}"/>
              </a:ext>
            </a:extLst>
          </p:cNvPr>
          <p:cNvSpPr txBox="1"/>
          <p:nvPr/>
        </p:nvSpPr>
        <p:spPr>
          <a:xfrm>
            <a:off x="258477" y="156466"/>
            <a:ext cx="4362727" cy="1323439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rtlCol="0">
            <a:spAutoFit/>
          </a:bodyPr>
          <a:lstStyle/>
          <a:p>
            <a:r>
              <a:rPr lang="en-US" sz="1600" b="1" dirty="0"/>
              <a:t>Note: </a:t>
            </a:r>
            <a:r>
              <a:rPr lang="en-US" sz="1600" i="1" dirty="0"/>
              <a:t>The numbers/versions alongside the inserts can be used for version control (e.g. associated with a spreadsheet with all the counts for each step. They do not related to the numbered filtering steps/scripts in the bioinformatic pipeline.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9D581CBE-81DD-0B46-8031-F67E8607273D}"/>
              </a:ext>
            </a:extLst>
          </p:cNvPr>
          <p:cNvSpPr txBox="1"/>
          <p:nvPr/>
        </p:nvSpPr>
        <p:spPr>
          <a:xfrm>
            <a:off x="6061961" y="3618626"/>
            <a:ext cx="239071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3.v1.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2CBE8C63-93C8-384C-B5CC-2DD847BFE618}"/>
              </a:ext>
            </a:extLst>
          </p:cNvPr>
          <p:cNvSpPr txBox="1"/>
          <p:nvPr/>
        </p:nvSpPr>
        <p:spPr>
          <a:xfrm>
            <a:off x="16429631" y="3618626"/>
            <a:ext cx="2390719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3.v2.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8D50C5D7-03F6-1846-A65C-2427BD56E71C}"/>
              </a:ext>
            </a:extLst>
          </p:cNvPr>
          <p:cNvSpPr txBox="1"/>
          <p:nvPr/>
        </p:nvSpPr>
        <p:spPr>
          <a:xfrm>
            <a:off x="6034349" y="5104790"/>
            <a:ext cx="239071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4.v1.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7382D8C-47B0-3D47-9A60-CC4C6989A90D}"/>
              </a:ext>
            </a:extLst>
          </p:cNvPr>
          <p:cNvSpPr txBox="1"/>
          <p:nvPr/>
        </p:nvSpPr>
        <p:spPr>
          <a:xfrm>
            <a:off x="16402020" y="5151090"/>
            <a:ext cx="2390719" cy="116955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4.v2.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4B7531FA-3444-C844-9A50-CF0405B132EA}"/>
              </a:ext>
            </a:extLst>
          </p:cNvPr>
          <p:cNvSpPr txBox="1"/>
          <p:nvPr/>
        </p:nvSpPr>
        <p:spPr>
          <a:xfrm>
            <a:off x="5976550" y="8658063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348EFCF4-FD6E-5740-B1AD-844F219CBE0D}"/>
              </a:ext>
            </a:extLst>
          </p:cNvPr>
          <p:cNvSpPr txBox="1"/>
          <p:nvPr/>
        </p:nvSpPr>
        <p:spPr>
          <a:xfrm>
            <a:off x="16475343" y="8759491"/>
            <a:ext cx="2390719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6.v2.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A6803DC-BA7F-8348-B934-4F6965560027}"/>
              </a:ext>
            </a:extLst>
          </p:cNvPr>
          <p:cNvSpPr txBox="1"/>
          <p:nvPr/>
        </p:nvSpPr>
        <p:spPr>
          <a:xfrm>
            <a:off x="7284800" y="11014490"/>
            <a:ext cx="2298321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7.v2. Unique filtered inserts:</a:t>
            </a:r>
          </a:p>
          <a:p>
            <a:pPr algn="ctr"/>
            <a:r>
              <a:rPr lang="en-US" sz="1400" dirty="0"/>
              <a:t>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38099BC1-7C5A-7046-99A9-6BBCB024205D}"/>
              </a:ext>
            </a:extLst>
          </p:cNvPr>
          <p:cNvSpPr txBox="1"/>
          <p:nvPr/>
        </p:nvSpPr>
        <p:spPr>
          <a:xfrm>
            <a:off x="4398154" y="11014490"/>
            <a:ext cx="2921826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7.v1. Filtered inserts with duplicates: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6EF5C63B-4DB0-AD4D-911F-26DE25E9492B}"/>
              </a:ext>
            </a:extLst>
          </p:cNvPr>
          <p:cNvSpPr txBox="1"/>
          <p:nvPr/>
        </p:nvSpPr>
        <p:spPr>
          <a:xfrm>
            <a:off x="6769847" y="13097145"/>
            <a:ext cx="3365665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8.v1. Unique putatively old filtered inserts:</a:t>
            </a:r>
          </a:p>
          <a:p>
            <a:pPr algn="ctr"/>
            <a:r>
              <a:rPr lang="en-US" sz="1400" dirty="0"/>
              <a:t>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cxnSp>
        <p:nvCxnSpPr>
          <p:cNvPr id="33" name="Straight Arrow Connector 32">
            <a:extLst>
              <a:ext uri="{FF2B5EF4-FFF2-40B4-BE49-F238E27FC236}">
                <a16:creationId xmlns:a16="http://schemas.microsoft.com/office/drawing/2014/main" id="{9A542E3C-41E7-FD46-9C1D-F365971515B2}"/>
              </a:ext>
            </a:extLst>
          </p:cNvPr>
          <p:cNvCxnSpPr>
            <a:cxnSpLocks/>
          </p:cNvCxnSpPr>
          <p:nvPr/>
        </p:nvCxnSpPr>
        <p:spPr>
          <a:xfrm flipH="1">
            <a:off x="8425068" y="625682"/>
            <a:ext cx="3114660" cy="8434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traight Arrow Connector 34">
            <a:extLst>
              <a:ext uri="{FF2B5EF4-FFF2-40B4-BE49-F238E27FC236}">
                <a16:creationId xmlns:a16="http://schemas.microsoft.com/office/drawing/2014/main" id="{B1618980-A340-1F47-82EA-5C084CF4A795}"/>
              </a:ext>
            </a:extLst>
          </p:cNvPr>
          <p:cNvCxnSpPr>
            <a:cxnSpLocks/>
          </p:cNvCxnSpPr>
          <p:nvPr/>
        </p:nvCxnSpPr>
        <p:spPr>
          <a:xfrm>
            <a:off x="13198236" y="625682"/>
            <a:ext cx="3114660" cy="843487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1" name="Straight Arrow Connector 40">
            <a:extLst>
              <a:ext uri="{FF2B5EF4-FFF2-40B4-BE49-F238E27FC236}">
                <a16:creationId xmlns:a16="http://schemas.microsoft.com/office/drawing/2014/main" id="{1E10A0AC-93A2-0041-BFEB-449ECABBB3C5}"/>
              </a:ext>
            </a:extLst>
          </p:cNvPr>
          <p:cNvCxnSpPr>
            <a:cxnSpLocks/>
          </p:cNvCxnSpPr>
          <p:nvPr/>
        </p:nvCxnSpPr>
        <p:spPr>
          <a:xfrm flipH="1">
            <a:off x="5859065" y="10220666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3" name="Straight Arrow Connector 42">
            <a:extLst>
              <a:ext uri="{FF2B5EF4-FFF2-40B4-BE49-F238E27FC236}">
                <a16:creationId xmlns:a16="http://schemas.microsoft.com/office/drawing/2014/main" id="{AC795674-A231-1A43-9999-A5CAF1038820}"/>
              </a:ext>
            </a:extLst>
          </p:cNvPr>
          <p:cNvCxnSpPr>
            <a:cxnSpLocks/>
          </p:cNvCxnSpPr>
          <p:nvPr/>
        </p:nvCxnSpPr>
        <p:spPr>
          <a:xfrm>
            <a:off x="7907321" y="10215310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8D8769D7-6309-EF43-949D-3F5D6A94F337}"/>
              </a:ext>
            </a:extLst>
          </p:cNvPr>
          <p:cNvCxnSpPr>
            <a:cxnSpLocks/>
          </p:cNvCxnSpPr>
          <p:nvPr/>
        </p:nvCxnSpPr>
        <p:spPr>
          <a:xfrm>
            <a:off x="7257320" y="1992389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2" name="Straight Arrow Connector 51">
            <a:extLst>
              <a:ext uri="{FF2B5EF4-FFF2-40B4-BE49-F238E27FC236}">
                <a16:creationId xmlns:a16="http://schemas.microsoft.com/office/drawing/2014/main" id="{BEF9459E-08E5-9D46-B1F7-DD88BFA29DB7}"/>
              </a:ext>
            </a:extLst>
          </p:cNvPr>
          <p:cNvCxnSpPr>
            <a:cxnSpLocks/>
          </p:cNvCxnSpPr>
          <p:nvPr/>
        </p:nvCxnSpPr>
        <p:spPr>
          <a:xfrm>
            <a:off x="7244108" y="3169870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3" name="Straight Arrow Connector 52">
            <a:extLst>
              <a:ext uri="{FF2B5EF4-FFF2-40B4-BE49-F238E27FC236}">
                <a16:creationId xmlns:a16="http://schemas.microsoft.com/office/drawing/2014/main" id="{E87FD5F4-0AC1-8348-A9D6-105805AE84E0}"/>
              </a:ext>
            </a:extLst>
          </p:cNvPr>
          <p:cNvCxnSpPr>
            <a:cxnSpLocks/>
          </p:cNvCxnSpPr>
          <p:nvPr/>
        </p:nvCxnSpPr>
        <p:spPr>
          <a:xfrm>
            <a:off x="7225820" y="4609309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4" name="Straight Arrow Connector 53">
            <a:extLst>
              <a:ext uri="{FF2B5EF4-FFF2-40B4-BE49-F238E27FC236}">
                <a16:creationId xmlns:a16="http://schemas.microsoft.com/office/drawing/2014/main" id="{82A524E1-5C8A-434E-A3CE-95287F8AE912}"/>
              </a:ext>
            </a:extLst>
          </p:cNvPr>
          <p:cNvCxnSpPr>
            <a:cxnSpLocks/>
          </p:cNvCxnSpPr>
          <p:nvPr/>
        </p:nvCxnSpPr>
        <p:spPr>
          <a:xfrm>
            <a:off x="17610591" y="1992389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Straight Arrow Connector 54">
            <a:extLst>
              <a:ext uri="{FF2B5EF4-FFF2-40B4-BE49-F238E27FC236}">
                <a16:creationId xmlns:a16="http://schemas.microsoft.com/office/drawing/2014/main" id="{67DA0B2E-3885-3840-B80A-8EFD30152B76}"/>
              </a:ext>
            </a:extLst>
          </p:cNvPr>
          <p:cNvCxnSpPr>
            <a:cxnSpLocks/>
          </p:cNvCxnSpPr>
          <p:nvPr/>
        </p:nvCxnSpPr>
        <p:spPr>
          <a:xfrm>
            <a:off x="17597379" y="3169870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8CCA2B6A-89CA-F947-B4C1-3DC707B03094}"/>
              </a:ext>
            </a:extLst>
          </p:cNvPr>
          <p:cNvCxnSpPr>
            <a:cxnSpLocks/>
          </p:cNvCxnSpPr>
          <p:nvPr/>
        </p:nvCxnSpPr>
        <p:spPr>
          <a:xfrm>
            <a:off x="17579091" y="4609309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7" name="Straight Arrow Connector 56">
            <a:extLst>
              <a:ext uri="{FF2B5EF4-FFF2-40B4-BE49-F238E27FC236}">
                <a16:creationId xmlns:a16="http://schemas.microsoft.com/office/drawing/2014/main" id="{042505FD-B585-CB4E-B35F-301B8EB11289}"/>
              </a:ext>
            </a:extLst>
          </p:cNvPr>
          <p:cNvCxnSpPr>
            <a:cxnSpLocks/>
          </p:cNvCxnSpPr>
          <p:nvPr/>
        </p:nvCxnSpPr>
        <p:spPr>
          <a:xfrm>
            <a:off x="8452680" y="12614928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Straight Arrow Connector 57">
            <a:extLst>
              <a:ext uri="{FF2B5EF4-FFF2-40B4-BE49-F238E27FC236}">
                <a16:creationId xmlns:a16="http://schemas.microsoft.com/office/drawing/2014/main" id="{6C8DB00C-870A-BC42-8ED2-66844AAD633A}"/>
              </a:ext>
            </a:extLst>
          </p:cNvPr>
          <p:cNvCxnSpPr>
            <a:cxnSpLocks/>
          </p:cNvCxnSpPr>
          <p:nvPr/>
        </p:nvCxnSpPr>
        <p:spPr>
          <a:xfrm>
            <a:off x="7171909" y="8137714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F9492405-852F-8748-84B8-F43709FA6970}"/>
              </a:ext>
            </a:extLst>
          </p:cNvPr>
          <p:cNvSpPr txBox="1"/>
          <p:nvPr/>
        </p:nvSpPr>
        <p:spPr>
          <a:xfrm>
            <a:off x="258477" y="1676933"/>
            <a:ext cx="1396536" cy="50796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none" rtlCol="0">
            <a:spAutoFit/>
          </a:bodyPr>
          <a:lstStyle/>
          <a:p>
            <a:r>
              <a:rPr lang="en-US" b="1" dirty="0">
                <a:solidFill>
                  <a:srgbClr val="FF0000"/>
                </a:solidFill>
              </a:rPr>
              <a:t>REVISED</a:t>
            </a:r>
          </a:p>
        </p:txBody>
      </p:sp>
      <p:cxnSp>
        <p:nvCxnSpPr>
          <p:cNvPr id="69" name="Straight Arrow Connector 68">
            <a:extLst>
              <a:ext uri="{FF2B5EF4-FFF2-40B4-BE49-F238E27FC236}">
                <a16:creationId xmlns:a16="http://schemas.microsoft.com/office/drawing/2014/main" id="{091CF808-C665-2141-A432-0720A64D3625}"/>
              </a:ext>
            </a:extLst>
          </p:cNvPr>
          <p:cNvCxnSpPr>
            <a:cxnSpLocks/>
          </p:cNvCxnSpPr>
          <p:nvPr/>
        </p:nvCxnSpPr>
        <p:spPr>
          <a:xfrm>
            <a:off x="17662988" y="8294262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Box 41">
            <a:extLst>
              <a:ext uri="{FF2B5EF4-FFF2-40B4-BE49-F238E27FC236}">
                <a16:creationId xmlns:a16="http://schemas.microsoft.com/office/drawing/2014/main" id="{25303DFD-6A6C-7B40-B7CF-0A6F73BC8980}"/>
              </a:ext>
            </a:extLst>
          </p:cNvPr>
          <p:cNvSpPr txBox="1"/>
          <p:nvPr/>
        </p:nvSpPr>
        <p:spPr>
          <a:xfrm>
            <a:off x="6030460" y="6752719"/>
            <a:ext cx="2390719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5.v1. Filtered inserts: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i="1" dirty="0">
                <a:solidFill>
                  <a:schemeClr val="accent1">
                    <a:lumMod val="75000"/>
                  </a:schemeClr>
                </a:solidFill>
              </a:rPr>
              <a:t>Standard thresholds</a:t>
            </a:r>
          </a:p>
        </p:txBody>
      </p:sp>
      <p:sp>
        <p:nvSpPr>
          <p:cNvPr id="44" name="TextBox 43">
            <a:extLst>
              <a:ext uri="{FF2B5EF4-FFF2-40B4-BE49-F238E27FC236}">
                <a16:creationId xmlns:a16="http://schemas.microsoft.com/office/drawing/2014/main" id="{7336D22B-6F54-9240-B923-42DFE8F134B7}"/>
              </a:ext>
            </a:extLst>
          </p:cNvPr>
          <p:cNvSpPr txBox="1"/>
          <p:nvPr/>
        </p:nvSpPr>
        <p:spPr>
          <a:xfrm>
            <a:off x="16449308" y="6815594"/>
            <a:ext cx="2296141" cy="138499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5.v2. Filtered inserts:</a:t>
            </a:r>
          </a:p>
          <a:p>
            <a:pPr algn="ctr"/>
            <a:r>
              <a:rPr lang="en-US" sz="1400" dirty="0"/>
              <a:t>Insert length vs contig length</a:t>
            </a:r>
          </a:p>
          <a:p>
            <a:pPr algn="ctr"/>
            <a:r>
              <a:rPr lang="en-US" sz="1400" dirty="0"/>
              <a:t>- False duplications</a:t>
            </a:r>
          </a:p>
          <a:p>
            <a:pPr algn="ctr"/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cxnSp>
        <p:nvCxnSpPr>
          <p:cNvPr id="45" name="Straight Arrow Connector 44">
            <a:extLst>
              <a:ext uri="{FF2B5EF4-FFF2-40B4-BE49-F238E27FC236}">
                <a16:creationId xmlns:a16="http://schemas.microsoft.com/office/drawing/2014/main" id="{99B5AE58-014A-EF45-81F8-A04514BF2AA7}"/>
              </a:ext>
            </a:extLst>
          </p:cNvPr>
          <p:cNvCxnSpPr>
            <a:cxnSpLocks/>
          </p:cNvCxnSpPr>
          <p:nvPr/>
        </p:nvCxnSpPr>
        <p:spPr>
          <a:xfrm>
            <a:off x="7221931" y="6257238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8" name="Straight Arrow Connector 47">
            <a:extLst>
              <a:ext uri="{FF2B5EF4-FFF2-40B4-BE49-F238E27FC236}">
                <a16:creationId xmlns:a16="http://schemas.microsoft.com/office/drawing/2014/main" id="{6F48E10C-BE2D-5145-AA11-4269774ACC6E}"/>
              </a:ext>
            </a:extLst>
          </p:cNvPr>
          <p:cNvCxnSpPr>
            <a:cxnSpLocks/>
          </p:cNvCxnSpPr>
          <p:nvPr/>
        </p:nvCxnSpPr>
        <p:spPr>
          <a:xfrm>
            <a:off x="17610548" y="6320641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" name="Sun 2">
            <a:extLst>
              <a:ext uri="{FF2B5EF4-FFF2-40B4-BE49-F238E27FC236}">
                <a16:creationId xmlns:a16="http://schemas.microsoft.com/office/drawing/2014/main" id="{4364D50A-9967-C446-80C8-B0D63D927604}"/>
              </a:ext>
            </a:extLst>
          </p:cNvPr>
          <p:cNvSpPr/>
          <p:nvPr/>
        </p:nvSpPr>
        <p:spPr>
          <a:xfrm>
            <a:off x="19087195" y="1575519"/>
            <a:ext cx="202828" cy="202828"/>
          </a:xfrm>
          <a:prstGeom prst="sun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9" name="Sun 48">
            <a:extLst>
              <a:ext uri="{FF2B5EF4-FFF2-40B4-BE49-F238E27FC236}">
                <a16:creationId xmlns:a16="http://schemas.microsoft.com/office/drawing/2014/main" id="{1AAE7072-21A4-FD45-ACA7-EC5A7A284B71}"/>
              </a:ext>
            </a:extLst>
          </p:cNvPr>
          <p:cNvSpPr/>
          <p:nvPr/>
        </p:nvSpPr>
        <p:spPr>
          <a:xfrm>
            <a:off x="19087195" y="3994265"/>
            <a:ext cx="202828" cy="202828"/>
          </a:xfrm>
          <a:prstGeom prst="sun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1" name="TextBox 50">
            <a:extLst>
              <a:ext uri="{FF2B5EF4-FFF2-40B4-BE49-F238E27FC236}">
                <a16:creationId xmlns:a16="http://schemas.microsoft.com/office/drawing/2014/main" id="{D44967D5-3605-5E4A-B6E5-10E6BE29D6DD}"/>
              </a:ext>
            </a:extLst>
          </p:cNvPr>
          <p:cNvSpPr txBox="1"/>
          <p:nvPr/>
        </p:nvSpPr>
        <p:spPr>
          <a:xfrm>
            <a:off x="17716901" y="11082594"/>
            <a:ext cx="2298321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7.v4. Unique filtered inserts:</a:t>
            </a:r>
          </a:p>
          <a:p>
            <a:pPr algn="ctr"/>
            <a:r>
              <a:rPr lang="en-US" sz="1400" dirty="0"/>
              <a:t>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60" name="TextBox 59">
            <a:extLst>
              <a:ext uri="{FF2B5EF4-FFF2-40B4-BE49-F238E27FC236}">
                <a16:creationId xmlns:a16="http://schemas.microsoft.com/office/drawing/2014/main" id="{2616213D-729F-EB41-A3D3-1CB2C19FB1FE}"/>
              </a:ext>
            </a:extLst>
          </p:cNvPr>
          <p:cNvSpPr txBox="1"/>
          <p:nvPr/>
        </p:nvSpPr>
        <p:spPr>
          <a:xfrm>
            <a:off x="14830255" y="11082594"/>
            <a:ext cx="2921826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7.v3. Filtered inserts with duplicates:</a:t>
            </a:r>
          </a:p>
          <a:p>
            <a:pPr algn="ctr"/>
            <a:r>
              <a:rPr lang="en-US" sz="1400" dirty="0"/>
              <a:t>- 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sp>
        <p:nvSpPr>
          <p:cNvPr id="61" name="TextBox 60">
            <a:extLst>
              <a:ext uri="{FF2B5EF4-FFF2-40B4-BE49-F238E27FC236}">
                <a16:creationId xmlns:a16="http://schemas.microsoft.com/office/drawing/2014/main" id="{9CEF96A2-DA4C-0945-BABA-141796027DC7}"/>
              </a:ext>
            </a:extLst>
          </p:cNvPr>
          <p:cNvSpPr txBox="1"/>
          <p:nvPr/>
        </p:nvSpPr>
        <p:spPr>
          <a:xfrm>
            <a:off x="17310959" y="13153403"/>
            <a:ext cx="3365665" cy="160043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1400" b="1" dirty="0"/>
              <a:t>8.v2. Unique putatively old filtered inserts:</a:t>
            </a:r>
          </a:p>
          <a:p>
            <a:pPr algn="ctr"/>
            <a:r>
              <a:rPr lang="en-US" sz="1400" dirty="0"/>
              <a:t>Insert length vs contig length</a:t>
            </a:r>
          </a:p>
          <a:p>
            <a:pPr algn="ctr"/>
            <a:r>
              <a:rPr lang="en-US" sz="1400" dirty="0"/>
              <a:t>- False duplications</a:t>
            </a:r>
            <a:br>
              <a:rPr lang="en-US" sz="1400" dirty="0"/>
            </a:br>
            <a:r>
              <a:rPr lang="en-US" sz="1400" dirty="0"/>
              <a:t>- Sequence complexity</a:t>
            </a:r>
          </a:p>
          <a:p>
            <a:pPr algn="ctr"/>
            <a:r>
              <a:rPr lang="en-US" sz="1400" dirty="0"/>
              <a:t>- Flanked by Ns</a:t>
            </a:r>
          </a:p>
          <a:p>
            <a:pPr algn="ctr"/>
            <a:r>
              <a:rPr lang="en-US" sz="1400" dirty="0"/>
              <a:t>- Non-target bacteria</a:t>
            </a:r>
          </a:p>
          <a:p>
            <a:pPr algn="ctr"/>
            <a:r>
              <a:rPr lang="en-US" sz="1400" i="1" dirty="0">
                <a:solidFill>
                  <a:schemeClr val="accent2">
                    <a:lumMod val="75000"/>
                  </a:schemeClr>
                </a:solidFill>
              </a:rPr>
              <a:t>Alternate thresholds</a:t>
            </a:r>
          </a:p>
        </p:txBody>
      </p:sp>
      <p:cxnSp>
        <p:nvCxnSpPr>
          <p:cNvPr id="62" name="Straight Arrow Connector 61">
            <a:extLst>
              <a:ext uri="{FF2B5EF4-FFF2-40B4-BE49-F238E27FC236}">
                <a16:creationId xmlns:a16="http://schemas.microsoft.com/office/drawing/2014/main" id="{BAC655D3-5B76-BF45-8D8E-AB4AD50DCBCF}"/>
              </a:ext>
            </a:extLst>
          </p:cNvPr>
          <p:cNvCxnSpPr>
            <a:cxnSpLocks/>
          </p:cNvCxnSpPr>
          <p:nvPr/>
        </p:nvCxnSpPr>
        <p:spPr>
          <a:xfrm flipH="1">
            <a:off x="16291166" y="10404517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1CEFBD08-A37D-474B-9ADF-36F7C8960033}"/>
              </a:ext>
            </a:extLst>
          </p:cNvPr>
          <p:cNvCxnSpPr>
            <a:cxnSpLocks/>
          </p:cNvCxnSpPr>
          <p:nvPr/>
        </p:nvCxnSpPr>
        <p:spPr>
          <a:xfrm>
            <a:off x="18339422" y="10399161"/>
            <a:ext cx="545359" cy="650842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4" name="Straight Arrow Connector 63">
            <a:extLst>
              <a:ext uri="{FF2B5EF4-FFF2-40B4-BE49-F238E27FC236}">
                <a16:creationId xmlns:a16="http://schemas.microsoft.com/office/drawing/2014/main" id="{A7F3EF3D-ECA9-1845-8ABE-35845D86126F}"/>
              </a:ext>
            </a:extLst>
          </p:cNvPr>
          <p:cNvCxnSpPr>
            <a:cxnSpLocks/>
          </p:cNvCxnSpPr>
          <p:nvPr/>
        </p:nvCxnSpPr>
        <p:spPr>
          <a:xfrm>
            <a:off x="18884781" y="12683032"/>
            <a:ext cx="0" cy="447793"/>
          </a:xfrm>
          <a:prstGeom prst="straightConnector1">
            <a:avLst/>
          </a:prstGeom>
          <a:ln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5" name="Sun 64">
            <a:extLst>
              <a:ext uri="{FF2B5EF4-FFF2-40B4-BE49-F238E27FC236}">
                <a16:creationId xmlns:a16="http://schemas.microsoft.com/office/drawing/2014/main" id="{DB69A1F4-85B2-0E44-AB34-B61CB6F44BA7}"/>
              </a:ext>
            </a:extLst>
          </p:cNvPr>
          <p:cNvSpPr/>
          <p:nvPr/>
        </p:nvSpPr>
        <p:spPr>
          <a:xfrm>
            <a:off x="20387229" y="11713295"/>
            <a:ext cx="202828" cy="202828"/>
          </a:xfrm>
          <a:prstGeom prst="sun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6" name="Sun 45">
            <a:extLst>
              <a:ext uri="{FF2B5EF4-FFF2-40B4-BE49-F238E27FC236}">
                <a16:creationId xmlns:a16="http://schemas.microsoft.com/office/drawing/2014/main" id="{D05C800A-54C5-F74E-9FCB-6F12DF209D6E}"/>
              </a:ext>
            </a:extLst>
          </p:cNvPr>
          <p:cNvSpPr/>
          <p:nvPr/>
        </p:nvSpPr>
        <p:spPr>
          <a:xfrm>
            <a:off x="21007435" y="2032719"/>
            <a:ext cx="202828" cy="202828"/>
          </a:xfrm>
          <a:prstGeom prst="sun">
            <a:avLst/>
          </a:prstGeom>
          <a:solidFill>
            <a:schemeClr val="accent2"/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C48FAF8-9EFF-5447-B45F-342E51A576D0}"/>
              </a:ext>
            </a:extLst>
          </p:cNvPr>
          <p:cNvSpPr txBox="1"/>
          <p:nvPr/>
        </p:nvSpPr>
        <p:spPr>
          <a:xfrm>
            <a:off x="21416638" y="1730779"/>
            <a:ext cx="307847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/>
              <a:t>Indicates that step has alternate thresholds</a:t>
            </a:r>
          </a:p>
        </p:txBody>
      </p:sp>
      <p:sp>
        <p:nvSpPr>
          <p:cNvPr id="11" name="Rectangle 10">
            <a:extLst>
              <a:ext uri="{FF2B5EF4-FFF2-40B4-BE49-F238E27FC236}">
                <a16:creationId xmlns:a16="http://schemas.microsoft.com/office/drawing/2014/main" id="{5B1B0A67-B3DD-7F4E-8558-64AC8DB85BFD}"/>
              </a:ext>
            </a:extLst>
          </p:cNvPr>
          <p:cNvSpPr/>
          <p:nvPr/>
        </p:nvSpPr>
        <p:spPr>
          <a:xfrm>
            <a:off x="20885514" y="1575519"/>
            <a:ext cx="3599671" cy="110376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381938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A000F6BC-E29F-1440-BC0C-A26FF0DCE7A6}"/>
              </a:ext>
            </a:extLst>
          </p:cNvPr>
          <p:cNvSpPr/>
          <p:nvPr/>
        </p:nvSpPr>
        <p:spPr>
          <a:xfrm>
            <a:off x="7315200" y="13919385"/>
            <a:ext cx="10416209" cy="3467467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545CE03D-C4E9-1D4B-A693-7D8993CDE0E9}"/>
              </a:ext>
            </a:extLst>
          </p:cNvPr>
          <p:cNvSpPr txBox="1"/>
          <p:nvPr/>
        </p:nvSpPr>
        <p:spPr>
          <a:xfrm>
            <a:off x="312821" y="409074"/>
            <a:ext cx="1731756" cy="58477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3200" b="1" dirty="0"/>
              <a:t>Figure S1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5A9C6EF-E05D-0940-81B5-B91353BEEB0B}"/>
              </a:ext>
            </a:extLst>
          </p:cNvPr>
          <p:cNvSpPr txBox="1"/>
          <p:nvPr/>
        </p:nvSpPr>
        <p:spPr>
          <a:xfrm>
            <a:off x="10019868" y="224949"/>
            <a:ext cx="4286245" cy="133921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Inserts characterized via alignment of Blattabacterium fragments</a:t>
            </a:r>
          </a:p>
        </p:txBody>
      </p:sp>
      <p:sp>
        <p:nvSpPr>
          <p:cNvPr id="23" name="Down Arrow 22">
            <a:extLst>
              <a:ext uri="{FF2B5EF4-FFF2-40B4-BE49-F238E27FC236}">
                <a16:creationId xmlns:a16="http://schemas.microsoft.com/office/drawing/2014/main" id="{A405A806-B41B-9A48-BEE1-4B3BB92BB7DA}"/>
              </a:ext>
            </a:extLst>
          </p:cNvPr>
          <p:cNvSpPr/>
          <p:nvPr/>
        </p:nvSpPr>
        <p:spPr>
          <a:xfrm>
            <a:off x="12060871" y="1622503"/>
            <a:ext cx="369250" cy="736930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76B77F7F-A393-7142-8063-C1F7DEF7F40F}"/>
              </a:ext>
            </a:extLst>
          </p:cNvPr>
          <p:cNvSpPr txBox="1"/>
          <p:nvPr/>
        </p:nvSpPr>
        <p:spPr>
          <a:xfrm>
            <a:off x="10121224" y="2448914"/>
            <a:ext cx="4083535" cy="923586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Genuine Blattabacterium sequences/inserts removed  </a:t>
            </a:r>
          </a:p>
        </p:txBody>
      </p:sp>
      <p:sp>
        <p:nvSpPr>
          <p:cNvPr id="25" name="Down Arrow 24">
            <a:extLst>
              <a:ext uri="{FF2B5EF4-FFF2-40B4-BE49-F238E27FC236}">
                <a16:creationId xmlns:a16="http://schemas.microsoft.com/office/drawing/2014/main" id="{13EB6D68-094E-FB46-BACB-633E2C97166D}"/>
              </a:ext>
            </a:extLst>
          </p:cNvPr>
          <p:cNvSpPr/>
          <p:nvPr/>
        </p:nvSpPr>
        <p:spPr>
          <a:xfrm>
            <a:off x="12060871" y="3433405"/>
            <a:ext cx="369250" cy="736930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B0DE31-354C-5147-892D-BF987031C0C4}"/>
              </a:ext>
            </a:extLst>
          </p:cNvPr>
          <p:cNvSpPr txBox="1"/>
          <p:nvPr/>
        </p:nvSpPr>
        <p:spPr>
          <a:xfrm>
            <a:off x="10272712" y="4285801"/>
            <a:ext cx="3757613" cy="507960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False duplicates removed</a:t>
            </a:r>
          </a:p>
        </p:txBody>
      </p:sp>
      <p:sp>
        <p:nvSpPr>
          <p:cNvPr id="27" name="Down Arrow 26">
            <a:extLst>
              <a:ext uri="{FF2B5EF4-FFF2-40B4-BE49-F238E27FC236}">
                <a16:creationId xmlns:a16="http://schemas.microsoft.com/office/drawing/2014/main" id="{334B1BBD-BB80-274A-9E59-42BF196F379C}"/>
              </a:ext>
            </a:extLst>
          </p:cNvPr>
          <p:cNvSpPr/>
          <p:nvPr/>
        </p:nvSpPr>
        <p:spPr>
          <a:xfrm>
            <a:off x="12060871" y="4879032"/>
            <a:ext cx="369250" cy="736930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F21F511E-80BA-E546-860F-1F2CC2BBEC6D}"/>
              </a:ext>
            </a:extLst>
          </p:cNvPr>
          <p:cNvSpPr txBox="1"/>
          <p:nvPr/>
        </p:nvSpPr>
        <p:spPr>
          <a:xfrm>
            <a:off x="10203728" y="5733444"/>
            <a:ext cx="4083535" cy="923586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Highly repetitive low-complexity inserts removed </a:t>
            </a:r>
          </a:p>
        </p:txBody>
      </p:sp>
      <p:sp>
        <p:nvSpPr>
          <p:cNvPr id="29" name="Down Arrow 28">
            <a:extLst>
              <a:ext uri="{FF2B5EF4-FFF2-40B4-BE49-F238E27FC236}">
                <a16:creationId xmlns:a16="http://schemas.microsoft.com/office/drawing/2014/main" id="{C6AAEFA2-1CAE-6840-A1E2-B6E347B70ED0}"/>
              </a:ext>
            </a:extLst>
          </p:cNvPr>
          <p:cNvSpPr/>
          <p:nvPr/>
        </p:nvSpPr>
        <p:spPr>
          <a:xfrm>
            <a:off x="12060870" y="6722933"/>
            <a:ext cx="369250" cy="736930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EDFFBEE2-53CA-B746-9037-C0B9028BE09F}"/>
              </a:ext>
            </a:extLst>
          </p:cNvPr>
          <p:cNvSpPr txBox="1"/>
          <p:nvPr/>
        </p:nvSpPr>
        <p:spPr>
          <a:xfrm>
            <a:off x="10410669" y="7572886"/>
            <a:ext cx="3557587" cy="923586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Inserts more similar to other bacteria removed</a:t>
            </a:r>
          </a:p>
        </p:txBody>
      </p:sp>
      <p:sp>
        <p:nvSpPr>
          <p:cNvPr id="31" name="Down Arrow 30">
            <a:extLst>
              <a:ext uri="{FF2B5EF4-FFF2-40B4-BE49-F238E27FC236}">
                <a16:creationId xmlns:a16="http://schemas.microsoft.com/office/drawing/2014/main" id="{8D4983D3-C9AC-1140-A50C-42DAAA142EF6}"/>
              </a:ext>
            </a:extLst>
          </p:cNvPr>
          <p:cNvSpPr/>
          <p:nvPr/>
        </p:nvSpPr>
        <p:spPr>
          <a:xfrm rot="2912297">
            <a:off x="10688163" y="9869725"/>
            <a:ext cx="369250" cy="1074430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2" name="Down Arrow 31">
            <a:extLst>
              <a:ext uri="{FF2B5EF4-FFF2-40B4-BE49-F238E27FC236}">
                <a16:creationId xmlns:a16="http://schemas.microsoft.com/office/drawing/2014/main" id="{197907DB-ED72-D644-B079-747A06132BBD}"/>
              </a:ext>
            </a:extLst>
          </p:cNvPr>
          <p:cNvSpPr/>
          <p:nvPr/>
        </p:nvSpPr>
        <p:spPr>
          <a:xfrm rot="18687703" flipH="1">
            <a:off x="13258800" y="9869725"/>
            <a:ext cx="369250" cy="1074430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3" name="TextBox 32">
            <a:extLst>
              <a:ext uri="{FF2B5EF4-FFF2-40B4-BE49-F238E27FC236}">
                <a16:creationId xmlns:a16="http://schemas.microsoft.com/office/drawing/2014/main" id="{A36A9684-8A5D-FA4C-8934-39EEF8AA7AAF}"/>
              </a:ext>
            </a:extLst>
          </p:cNvPr>
          <p:cNvSpPr txBox="1"/>
          <p:nvPr/>
        </p:nvSpPr>
        <p:spPr>
          <a:xfrm>
            <a:off x="9329738" y="10947860"/>
            <a:ext cx="1757362" cy="507960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All inserts</a:t>
            </a:r>
          </a:p>
        </p:txBody>
      </p:sp>
      <p:sp>
        <p:nvSpPr>
          <p:cNvPr id="34" name="TextBox 33">
            <a:extLst>
              <a:ext uri="{FF2B5EF4-FFF2-40B4-BE49-F238E27FC236}">
                <a16:creationId xmlns:a16="http://schemas.microsoft.com/office/drawing/2014/main" id="{0A94E8B1-219B-EA48-A183-DE1765FF26DB}"/>
              </a:ext>
            </a:extLst>
          </p:cNvPr>
          <p:cNvSpPr txBox="1"/>
          <p:nvPr/>
        </p:nvSpPr>
        <p:spPr>
          <a:xfrm>
            <a:off x="12508469" y="10947860"/>
            <a:ext cx="4265056" cy="92358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Unique inserts identified (duplicated inserts removed)</a:t>
            </a:r>
          </a:p>
        </p:txBody>
      </p:sp>
      <p:sp>
        <p:nvSpPr>
          <p:cNvPr id="37" name="TextBox 36">
            <a:extLst>
              <a:ext uri="{FF2B5EF4-FFF2-40B4-BE49-F238E27FC236}">
                <a16:creationId xmlns:a16="http://schemas.microsoft.com/office/drawing/2014/main" id="{8F2C0856-C1E4-4C45-B66D-8493737319CA}"/>
              </a:ext>
            </a:extLst>
          </p:cNvPr>
          <p:cNvSpPr txBox="1"/>
          <p:nvPr/>
        </p:nvSpPr>
        <p:spPr>
          <a:xfrm>
            <a:off x="13097484" y="14082570"/>
            <a:ext cx="3194607" cy="923586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Putatively ancestral inserts identified</a:t>
            </a:r>
          </a:p>
        </p:txBody>
      </p:sp>
      <p:sp>
        <p:nvSpPr>
          <p:cNvPr id="38" name="Down Arrow 37">
            <a:extLst>
              <a:ext uri="{FF2B5EF4-FFF2-40B4-BE49-F238E27FC236}">
                <a16:creationId xmlns:a16="http://schemas.microsoft.com/office/drawing/2014/main" id="{1EB783CD-2D15-174D-9711-DABB0169C942}"/>
              </a:ext>
            </a:extLst>
          </p:cNvPr>
          <p:cNvSpPr/>
          <p:nvPr/>
        </p:nvSpPr>
        <p:spPr>
          <a:xfrm>
            <a:off x="12060870" y="8550298"/>
            <a:ext cx="369250" cy="736930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9" name="TextBox 38">
            <a:extLst>
              <a:ext uri="{FF2B5EF4-FFF2-40B4-BE49-F238E27FC236}">
                <a16:creationId xmlns:a16="http://schemas.microsoft.com/office/drawing/2014/main" id="{207D494A-26E6-D34F-8167-8317CFAA2F25}"/>
              </a:ext>
            </a:extLst>
          </p:cNvPr>
          <p:cNvSpPr txBox="1"/>
          <p:nvPr/>
        </p:nvSpPr>
        <p:spPr>
          <a:xfrm>
            <a:off x="10203728" y="9359883"/>
            <a:ext cx="4083535" cy="507960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Manual curation of inserts</a:t>
            </a:r>
          </a:p>
        </p:txBody>
      </p:sp>
      <p:sp>
        <p:nvSpPr>
          <p:cNvPr id="20" name="Down Arrow 19">
            <a:extLst>
              <a:ext uri="{FF2B5EF4-FFF2-40B4-BE49-F238E27FC236}">
                <a16:creationId xmlns:a16="http://schemas.microsoft.com/office/drawing/2014/main" id="{927B8E96-45F1-2C4B-938E-63F4A027EAEF}"/>
              </a:ext>
            </a:extLst>
          </p:cNvPr>
          <p:cNvSpPr/>
          <p:nvPr/>
        </p:nvSpPr>
        <p:spPr>
          <a:xfrm>
            <a:off x="14507172" y="13288679"/>
            <a:ext cx="369250" cy="736930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5" name="Down Arrow 34">
            <a:extLst>
              <a:ext uri="{FF2B5EF4-FFF2-40B4-BE49-F238E27FC236}">
                <a16:creationId xmlns:a16="http://schemas.microsoft.com/office/drawing/2014/main" id="{B623D049-8A91-1E40-9173-EF6BB96C7A72}"/>
              </a:ext>
            </a:extLst>
          </p:cNvPr>
          <p:cNvSpPr/>
          <p:nvPr/>
        </p:nvSpPr>
        <p:spPr>
          <a:xfrm>
            <a:off x="14507172" y="11918307"/>
            <a:ext cx="369250" cy="736930"/>
          </a:xfrm>
          <a:prstGeom prst="downArrow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0" name="TextBox 39">
            <a:extLst>
              <a:ext uri="{FF2B5EF4-FFF2-40B4-BE49-F238E27FC236}">
                <a16:creationId xmlns:a16="http://schemas.microsoft.com/office/drawing/2014/main" id="{580DA297-A3BD-E247-9616-9DBE76D67D75}"/>
              </a:ext>
            </a:extLst>
          </p:cNvPr>
          <p:cNvSpPr txBox="1"/>
          <p:nvPr/>
        </p:nvSpPr>
        <p:spPr>
          <a:xfrm>
            <a:off x="12599229" y="12723758"/>
            <a:ext cx="4083535" cy="507960"/>
          </a:xfrm>
          <a:prstGeom prst="rect">
            <a:avLst/>
          </a:prstGeom>
          <a:noFill/>
          <a:ln w="28575">
            <a:solidFill>
              <a:schemeClr val="accent1"/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Manual curation of inserts</a:t>
            </a:r>
          </a:p>
        </p:txBody>
      </p:sp>
    </p:spTree>
    <p:extLst>
      <p:ext uri="{BB962C8B-B14F-4D97-AF65-F5344CB8AC3E}">
        <p14:creationId xmlns:p14="http://schemas.microsoft.com/office/powerpoint/2010/main" val="139820041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2117</TotalTime>
  <Words>521</Words>
  <Application>Microsoft Macintosh PowerPoint</Application>
  <PresentationFormat>Custom</PresentationFormat>
  <Paragraphs>103</Paragraphs>
  <Slides>2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6" baseType="lpstr">
      <vt:lpstr>Arial</vt:lpstr>
      <vt:lpstr>Calibri</vt:lpstr>
      <vt:lpstr>Calibri Light</vt:lpstr>
      <vt:lpstr>Office Theme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16.0016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Microsoft Office User</cp:lastModifiedBy>
  <cp:revision>23</cp:revision>
  <dcterms:created xsi:type="dcterms:W3CDTF">2025-03-26T20:16:19Z</dcterms:created>
  <dcterms:modified xsi:type="dcterms:W3CDTF">2025-10-19T19:38:49Z</dcterms:modified>
</cp:coreProperties>
</file>