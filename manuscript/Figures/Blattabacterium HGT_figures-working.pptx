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9" r:id="rId3"/>
    <p:sldId id="262" r:id="rId4"/>
    <p:sldId id="258" r:id="rId5"/>
    <p:sldId id="257" r:id="rId6"/>
    <p:sldId id="263" r:id="rId7"/>
    <p:sldId id="261" r:id="rId8"/>
    <p:sldId id="264" r:id="rId9"/>
    <p:sldId id="265" r:id="rId10"/>
    <p:sldId id="26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80"/>
    <p:restoredTop sz="92615"/>
  </p:normalViewPr>
  <p:slideViewPr>
    <p:cSldViewPr snapToGrid="0">
      <p:cViewPr>
        <p:scale>
          <a:sx n="140" d="100"/>
          <a:sy n="140" d="100"/>
        </p:scale>
        <p:origin x="2264" y="6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4FC65C6-6085-4244-82B2-63B076D03E9C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FCB7D11-0DA4-4649-ACEB-1F19D5C36BF9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8359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Cladogram of taxa </a:t>
            </a:r>
            <a:r>
              <a:rPr lang="en-US" dirty="0" err="1"/>
              <a:t>analysed</a:t>
            </a:r>
            <a:r>
              <a:rPr lang="en-US" dirty="0"/>
              <a:t> for </a:t>
            </a:r>
            <a:r>
              <a:rPr lang="en-US" dirty="0" err="1"/>
              <a:t>Blattabacterium</a:t>
            </a:r>
            <a:r>
              <a:rPr lang="en-US" dirty="0"/>
              <a:t> HGT events</a:t>
            </a:r>
          </a:p>
          <a:p>
            <a:endParaRPr lang="en-US" dirty="0"/>
          </a:p>
          <a:p>
            <a:r>
              <a:rPr lang="en-US" dirty="0"/>
              <a:t>Nodes show divergence times (Ma) from Beasley-Hall et al (2021: for nodes internal to top 12 taxa) and Evangelista et al (2019: for nodes internal to remaining 6 taxa). One exception is value between P. lata</a:t>
            </a:r>
          </a:p>
          <a:p>
            <a:endParaRPr lang="en-US" dirty="0"/>
          </a:p>
          <a:p>
            <a:r>
              <a:rPr lang="en-US" dirty="0"/>
              <a:t>and P. cribrata, which is from Adams et al 2024.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B7D11-0DA4-4649-ACEB-1F19D5C36BF9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3067043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6B5CCD-D693-F38E-9CF8-5D831007E2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2A172F1-1942-2C2F-DEC5-636B8813E9B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9E7AC47-B96C-DF39-BE46-3D1C3CEF4F0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Cladogram of taxa </a:t>
            </a:r>
            <a:r>
              <a:rPr lang="en-US" dirty="0" err="1"/>
              <a:t>analysed</a:t>
            </a:r>
            <a:r>
              <a:rPr lang="en-US" dirty="0"/>
              <a:t> for </a:t>
            </a:r>
            <a:r>
              <a:rPr lang="en-US" dirty="0" err="1"/>
              <a:t>Blattabacterium</a:t>
            </a:r>
            <a:r>
              <a:rPr lang="en-US" dirty="0"/>
              <a:t> HGT events</a:t>
            </a:r>
          </a:p>
          <a:p>
            <a:r>
              <a:rPr lang="en-US" dirty="0"/>
              <a:t>Nodes show divergence times (Ma) from Beasley-Hall et al (2021: for nodes internal to top 12 taxa) and Evangelista et al (2019: for nodes internal to remaining 6 taxa). One exception is value between P. lata and P. cribrata, which is from Adams et al 2024. 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E251CD-9ADC-FD54-9DE6-F9DA4AED88FA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B7D11-0DA4-4649-ACEB-1F19D5C36BF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23216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Made with “inserts_lengths_v2.R”</a:t>
            </a:r>
          </a:p>
          <a:p>
            <a:r>
              <a:rPr lang="en-US" dirty="0"/>
              <a:t>The plot starts at 50 bp, as this was the minimum. I have a maximum cutoff of 1000 bp (75 of the 41103 markers have been excluded).</a:t>
            </a:r>
          </a:p>
          <a:p>
            <a:r>
              <a:rPr lang="en-US" dirty="0"/>
              <a:t>Comment 1: I’m not sure why there are 2 peaks… I can of course fiddle around with the resolution of this graph and flatten out the 2 peaks (not to be dodgy, but just a more coarse summary of the lengths)</a:t>
            </a:r>
          </a:p>
          <a:p>
            <a:r>
              <a:rPr lang="en-US" dirty="0"/>
              <a:t>Comment 2: I’m hoping to add 2 additional curves to the plot (or as additional plots) – 1 for genic and 1 for intergenic.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B7D11-0DA4-4649-ACEB-1F19D5C36BF9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259260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 Cladogram of taxa </a:t>
            </a:r>
            <a:r>
              <a:rPr lang="en-US" dirty="0" err="1"/>
              <a:t>analysed</a:t>
            </a:r>
            <a:r>
              <a:rPr lang="en-US" dirty="0"/>
              <a:t> for </a:t>
            </a:r>
            <a:r>
              <a:rPr lang="en-US" dirty="0" err="1"/>
              <a:t>Blattabacterium</a:t>
            </a:r>
            <a:r>
              <a:rPr lang="en-US" dirty="0"/>
              <a:t> HGT events</a:t>
            </a:r>
          </a:p>
          <a:p>
            <a:r>
              <a:rPr lang="en-US" dirty="0"/>
              <a:t>Nodes show divergence times (Ma) from Beasley-Hall et al (2021: for nodes internal to top 12 taxa) and Evangelista et al (2019: for nodes internal to remaining 6 taxa). One exception is value between P. lata and P. cribrata, which is from Adams et al 2024. </a:t>
            </a:r>
          </a:p>
          <a:p>
            <a:r>
              <a:rPr lang="en-US" dirty="0"/>
              <a:t>Comment 1: Could add numbers of genic vs intergenic to (A)</a:t>
            </a:r>
          </a:p>
          <a:p>
            <a:endParaRPr lang="en-US" dirty="0"/>
          </a:p>
          <a:p>
            <a:r>
              <a:rPr lang="en-US" dirty="0"/>
              <a:t>B. The plot starts at 50 bp, as this was the minimum. I have a maximum cutoff of 1000 bp (75 of the 41103 markers have been excluded).</a:t>
            </a:r>
          </a:p>
          <a:p>
            <a:r>
              <a:rPr lang="en-US" dirty="0"/>
              <a:t>Comment 1: I’m not sure why there are 2 peaks… I can of course fiddle around with the resolution of this graph and flatten out the 2 peaks (not to be dodgy, but just a more coarse summary of the lengths)</a:t>
            </a:r>
          </a:p>
          <a:p>
            <a:r>
              <a:rPr lang="en-US" dirty="0"/>
              <a:t>Comment 2: I’m hoping to add 2 additional curves to the plot (or as additional plots) – 1 for genic and 1 for intergenic.</a:t>
            </a:r>
          </a:p>
          <a:p>
            <a:endParaRPr lang="en-US" dirty="0"/>
          </a:p>
          <a:p>
            <a:r>
              <a:rPr lang="en-US" dirty="0"/>
              <a:t>C. Placeholder for Leo figure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B7D11-0DA4-4649-ACEB-1F19D5C36BF9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49321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AU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Figure 4.3</a:t>
            </a:r>
            <a:r>
              <a:rPr lang="en-AU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Examples of two HGT insertions used for ‘aging’ analysis. The right panel shows homology of each insertion and its 5 kb flanking regions across species: green denotes HGT inserts, blue flanking regions, with red and blue bands indicating forward and inverted homology (darker shades = higher similarity). The left phylogeny is based on Chapter 3; species lacking the insertion are shown as a dashed line. Red arrows indicate the inferred timing of HGT insertions.</a:t>
            </a:r>
            <a:endParaRPr lang="en-GB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B7D11-0DA4-4649-ACEB-1F19D5C36BF9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783563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Figure 4.4. Example of a chimeric HGT insertion from P. tryoni tegminifera. The top sequence is divided into seven segments, while the circular map below represents the source genome of </a:t>
            </a:r>
            <a:r>
              <a:rPr lang="en-US" dirty="0" err="1"/>
              <a:t>Blattabacterium</a:t>
            </a:r>
            <a:r>
              <a:rPr lang="en-US" dirty="0"/>
              <a:t> </a:t>
            </a:r>
            <a:r>
              <a:rPr lang="en-US" dirty="0" err="1"/>
              <a:t>cuenoti</a:t>
            </a:r>
            <a:r>
              <a:rPr lang="en-US" dirty="0"/>
              <a:t> (CP142624.1). </a:t>
            </a:r>
            <a:r>
              <a:rPr lang="en-US"/>
              <a:t>Numbers below the insertion indicate the corresponding genomic positions, with yellow labels marking specific coordinates.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FCB7D11-0DA4-4649-ACEB-1F19D5C36BF9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306074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ABCC5EA-9DAF-AACF-1419-D291D7841F0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CD690EB-E812-B4F0-B1CE-A583D74FBCC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A0C1FCF-86FC-EF8D-0AED-8292E36D58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14A176-F829-9DB0-1F40-2CF211CB522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7E10B39-EED2-0D52-DEC5-885DA18150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537092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C94C15-87D6-5517-7322-4CAEB0B5DD3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A932308-FDA6-D4EB-EAA8-19EFCD82157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F91826C-7B89-5DEE-F845-91CD474686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8AD301-8AA6-4C75-F896-3E846BDF0D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0D0F58-43CF-A605-C912-456A54EA35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43505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16E9AA1-E19D-B7D4-A9A4-705363ADF9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21B5B83-3459-3069-8A0B-2DC0A6C784E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B6C11A-14DE-19C9-95EC-1A566AD492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A36D86E-3FEE-E4D8-F386-AEDCCBC0B36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2AAD0D9-3497-F134-E3FF-D101AF6F45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186699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394423-50A9-B9A4-3E32-8D3607F450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6FAA479-5A6C-FAF4-D983-3C069A803D9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4B3A145-79E5-4E3C-A332-A677BD5767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C156CF7-5A57-6614-9813-FF9881840C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6A84C2E-C279-85A2-C82D-B0BC502B2C7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AB0653-ED73-B419-CC3A-23B285B200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66899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0F1400D-166D-B5AA-9FF3-3A8CE554E4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0AC418B-14A9-BA41-645E-F99A02F499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22DB0B2-619E-3DB9-EEE3-0FCBCDABF89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72FFD0B-53B5-13CF-0FD6-DDB4BA289D79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800C3F-2A1D-A814-8CCA-6371E85A1C0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795A93-EEA0-E73E-87AB-A74BCB0F33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4AF27BBD-591A-0366-07AF-27EF72C6FB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1C6C555-AFB5-6E47-0CD5-BC74D714A6E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0608778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3BEA2B-40CA-A90A-CB7B-F94FA28379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9723E47-7F34-EDD9-7C3F-5B8099150F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2304B3A-74E2-3B93-CE16-99C7585A934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53F696-6E74-D5D0-FA3A-76A1A4ADC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43436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EEB77A33-D20C-BA98-E24C-8B1692DFFA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548135E-5E12-1699-8169-7C5D4DA49A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D3938F-0AD3-A238-2272-583E413418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393514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F743DE-F253-B27C-3FFD-7E2C0E1181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826A8C-EB72-A207-A81A-94F3732FD98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E8A68EB-88DD-0D87-E861-BBF40E326A3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8065729-D340-0C4A-1343-FB7A167BD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D0DD2EE-414A-26FA-3915-CA0E7DD9F5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1F21F5A-3E33-2EBC-3F2B-1DF7E8BDFB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06875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30A6469-AF0C-9074-6512-0C76C497D31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6F76899-896C-1C8C-2778-371DFBD28D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44279B2-77F2-8F27-788C-05534D27C9E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B5C8051-4015-A29D-A713-0FC3F5B30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5E2AD8-74A7-04D1-D844-0A538F307D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02AA30-2D86-08CD-2F85-BC80348B8D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371765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60D734-0B25-BDAD-29CD-89F2EEC324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7769AA-441D-62A6-3FFF-0CD509FE7E8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B5AA11F-4464-A3C1-00AA-769B190C544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E199A28-534F-A589-3EA3-485A79B5FA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BC547CE-174A-02B6-E01D-3CBF430137C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10715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B78D49-CA24-C4D0-316D-854CF4E5B11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99FE7A1-648A-573E-A0BE-5745DD05484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665EDDD-0066-2E3E-9C69-D6B4FA2D9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B98897-90D8-9D4D-95EE-51EF37A9743C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5F3DDE-1D62-0B8E-A46E-0BF312D44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4931A7-F7FF-8FC4-F38D-2D112B984C4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273310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5A390DF2-9748-CC0D-92B9-628A4AA393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5D22E95-AB9C-AE09-C66A-B5488E2BDFC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0EC2841-62F8-FB86-5B13-3E2561FC464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2B98897-90D8-9D4D-95EE-51EF37A9743C}" type="datetimeFigureOut">
              <a:rPr lang="en-US" smtClean="0"/>
              <a:t>10/28/25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4C7C055-237F-6071-E858-D3F12514D91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04C4F8-BEC6-644B-A400-0E608084B32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F6C30A1-0BE9-3241-A452-4C1F7161A2A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6131246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emf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836DD86-B9DF-36C9-A98F-CA5E1FB96A50}"/>
              </a:ext>
            </a:extLst>
          </p:cNvPr>
          <p:cNvSpPr txBox="1"/>
          <p:nvPr/>
        </p:nvSpPr>
        <p:spPr>
          <a:xfrm>
            <a:off x="5140510" y="615171"/>
            <a:ext cx="37103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Macropanesthia lithgowae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Z004 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Murgon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5EC0A9-B9BD-963F-C5A6-E62991557B95}"/>
              </a:ext>
            </a:extLst>
          </p:cNvPr>
          <p:cNvSpPr txBox="1"/>
          <p:nvPr/>
        </p:nvSpPr>
        <p:spPr>
          <a:xfrm>
            <a:off x="5140510" y="957898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tryoni tryoni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Z005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(Kroombit Tops)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B833C6-5059-3F2B-0656-649BB2D62B48}"/>
              </a:ext>
            </a:extLst>
          </p:cNvPr>
          <p:cNvSpPr txBox="1"/>
          <p:nvPr/>
        </p:nvSpPr>
        <p:spPr>
          <a:xfrm>
            <a:off x="5140509" y="1300625"/>
            <a:ext cx="42251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gigantea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Z020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(location TBD)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6740E5-743E-5429-BBA3-695337967929}"/>
              </a:ext>
            </a:extLst>
          </p:cNvPr>
          <p:cNvSpPr txBox="1"/>
          <p:nvPr/>
        </p:nvSpPr>
        <p:spPr>
          <a:xfrm>
            <a:off x="5140509" y="1643352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tryoni tegminifera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Z011 (Washpool)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F5AD9C-C18A-14DD-6E16-FC6090ABF16E}"/>
              </a:ext>
            </a:extLst>
          </p:cNvPr>
          <p:cNvSpPr txBox="1"/>
          <p:nvPr/>
        </p:nvSpPr>
        <p:spPr>
          <a:xfrm>
            <a:off x="5140509" y="1986079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Neogeoscapheus dahmsi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Z014 (location TBD)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7760B7-E7B6-A6CC-CB23-02C2A3B68B86}"/>
              </a:ext>
            </a:extLst>
          </p:cNvPr>
          <p:cNvSpPr txBox="1"/>
          <p:nvPr/>
        </p:nvSpPr>
        <p:spPr>
          <a:xfrm>
            <a:off x="5140509" y="2328806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tryoni tryoni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Z012 (Eungella)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564D44-043D-94C7-F6C3-1DEF21E8E660}"/>
              </a:ext>
            </a:extLst>
          </p:cNvPr>
          <p:cNvSpPr txBox="1"/>
          <p:nvPr/>
        </p:nvSpPr>
        <p:spPr>
          <a:xfrm>
            <a:off x="5140509" y="2671533"/>
            <a:ext cx="32413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Geoscapheus dilatatus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Gilgandra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9F0262-3654-66DD-1C1E-3D0830C06A73}"/>
              </a:ext>
            </a:extLst>
          </p:cNvPr>
          <p:cNvSpPr txBox="1"/>
          <p:nvPr/>
        </p:nvSpPr>
        <p:spPr>
          <a:xfrm>
            <a:off x="5140509" y="3014260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sloanei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Z001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(Mt Baldy)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F0AD8B-8964-B84F-96E9-2261FEEA69BE}"/>
              </a:ext>
            </a:extLst>
          </p:cNvPr>
          <p:cNvSpPr txBox="1"/>
          <p:nvPr/>
        </p:nvSpPr>
        <p:spPr>
          <a:xfrm>
            <a:off x="5140509" y="3356987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Neogeoscapheus hanni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(Mt Molloy)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CB6B5D-5983-112E-8D51-3581BE2E0683}"/>
              </a:ext>
            </a:extLst>
          </p:cNvPr>
          <p:cNvSpPr txBox="1"/>
          <p:nvPr/>
        </p:nvSpPr>
        <p:spPr>
          <a:xfrm>
            <a:off x="5128732" y="4042441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lata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M001</a:t>
            </a:r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(Lord Howe Island)</a:t>
            </a: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EC9C75-BCC4-4F7F-6F62-1CF25357A908}"/>
              </a:ext>
            </a:extLst>
          </p:cNvPr>
          <p:cNvSpPr txBox="1"/>
          <p:nvPr/>
        </p:nvSpPr>
        <p:spPr>
          <a:xfrm>
            <a:off x="5140509" y="3699714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cribrata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(North Manly)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CB6A99-6B82-8092-E383-80A2B09639C6}"/>
              </a:ext>
            </a:extLst>
          </p:cNvPr>
          <p:cNvSpPr txBox="1"/>
          <p:nvPr/>
        </p:nvSpPr>
        <p:spPr>
          <a:xfrm>
            <a:off x="5140509" y="4385168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Diploptera punctata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B647CD-7360-2693-9879-0191701FE355}"/>
              </a:ext>
            </a:extLst>
          </p:cNvPr>
          <p:cNvSpPr txBox="1"/>
          <p:nvPr/>
        </p:nvSpPr>
        <p:spPr>
          <a:xfrm>
            <a:off x="5140509" y="4727895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Blattella germanica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774CDA-2EB5-1A9F-0EE1-84B0F338E848}"/>
              </a:ext>
            </a:extLst>
          </p:cNvPr>
          <p:cNvSpPr txBox="1"/>
          <p:nvPr/>
        </p:nvSpPr>
        <p:spPr>
          <a:xfrm>
            <a:off x="5128732" y="6392527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Periplaneta americana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4EB622-B3AA-5B0D-366F-31EC8D2C1CB9}"/>
              </a:ext>
            </a:extLst>
          </p:cNvPr>
          <p:cNvSpPr txBox="1"/>
          <p:nvPr/>
        </p:nvSpPr>
        <p:spPr>
          <a:xfrm>
            <a:off x="5128732" y="6065621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Zootermopsis nevadensis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480A82-EF6D-319E-1593-C6D1CB86013C}"/>
              </a:ext>
            </a:extLst>
          </p:cNvPr>
          <p:cNvSpPr txBox="1"/>
          <p:nvPr/>
        </p:nvSpPr>
        <p:spPr>
          <a:xfrm>
            <a:off x="5127526" y="5070848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Reticulitermes lucifugus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94FF59-47EB-CB15-6976-165828DFD838}"/>
              </a:ext>
            </a:extLst>
          </p:cNvPr>
          <p:cNvSpPr txBox="1"/>
          <p:nvPr/>
        </p:nvSpPr>
        <p:spPr>
          <a:xfrm>
            <a:off x="5125974" y="5738715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Cryptotermes secundus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6547CA-71D1-6886-0C25-B7C568AE0661}"/>
              </a:ext>
            </a:extLst>
          </p:cNvPr>
          <p:cNvSpPr txBox="1"/>
          <p:nvPr/>
        </p:nvSpPr>
        <p:spPr>
          <a:xfrm>
            <a:off x="5121739" y="5388532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Coptotermes formosanus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EC0EF28-979B-A325-8EF5-2B8B7233AB03}"/>
              </a:ext>
            </a:extLst>
          </p:cNvPr>
          <p:cNvCxnSpPr/>
          <p:nvPr/>
        </p:nvCxnSpPr>
        <p:spPr>
          <a:xfrm flipH="1">
            <a:off x="4654476" y="780634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C2AFD39-E062-0327-60C0-F2E3CF01D924}"/>
              </a:ext>
            </a:extLst>
          </p:cNvPr>
          <p:cNvCxnSpPr/>
          <p:nvPr/>
        </p:nvCxnSpPr>
        <p:spPr>
          <a:xfrm flipH="1">
            <a:off x="4654678" y="112336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0BB347D-BC4E-BCE2-3003-14AB1293F5FB}"/>
              </a:ext>
            </a:extLst>
          </p:cNvPr>
          <p:cNvCxnSpPr>
            <a:cxnSpLocks/>
          </p:cNvCxnSpPr>
          <p:nvPr/>
        </p:nvCxnSpPr>
        <p:spPr>
          <a:xfrm>
            <a:off x="4666350" y="780634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1EE4A04-0AD1-3FFA-73FD-35E40215007A}"/>
              </a:ext>
            </a:extLst>
          </p:cNvPr>
          <p:cNvCxnSpPr/>
          <p:nvPr/>
        </p:nvCxnSpPr>
        <p:spPr>
          <a:xfrm flipH="1">
            <a:off x="4654476" y="145451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51A284F-D12D-72B4-03C2-5080BAF0D390}"/>
              </a:ext>
            </a:extLst>
          </p:cNvPr>
          <p:cNvCxnSpPr/>
          <p:nvPr/>
        </p:nvCxnSpPr>
        <p:spPr>
          <a:xfrm flipH="1">
            <a:off x="4654678" y="179724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F9DC3AF-162E-2E3F-9A7F-1411BA44DF34}"/>
              </a:ext>
            </a:extLst>
          </p:cNvPr>
          <p:cNvCxnSpPr>
            <a:cxnSpLocks/>
          </p:cNvCxnSpPr>
          <p:nvPr/>
        </p:nvCxnSpPr>
        <p:spPr>
          <a:xfrm>
            <a:off x="4666350" y="1454513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9F4B79F-5516-BEDC-F3E2-4B0970DC5272}"/>
              </a:ext>
            </a:extLst>
          </p:cNvPr>
          <p:cNvCxnSpPr/>
          <p:nvPr/>
        </p:nvCxnSpPr>
        <p:spPr>
          <a:xfrm flipH="1">
            <a:off x="4215543" y="947164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E464AB-0C35-26A0-8F2C-8E556D6BFD02}"/>
              </a:ext>
            </a:extLst>
          </p:cNvPr>
          <p:cNvCxnSpPr/>
          <p:nvPr/>
        </p:nvCxnSpPr>
        <p:spPr>
          <a:xfrm flipH="1">
            <a:off x="4223963" y="161236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0FF1D81-4360-3F84-3DAF-D419ECBC0138}"/>
              </a:ext>
            </a:extLst>
          </p:cNvPr>
          <p:cNvCxnSpPr>
            <a:cxnSpLocks/>
          </p:cNvCxnSpPr>
          <p:nvPr/>
        </p:nvCxnSpPr>
        <p:spPr>
          <a:xfrm>
            <a:off x="4227417" y="939248"/>
            <a:ext cx="0" cy="68267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4DD19CB-F4D7-0B3C-80FC-DC20B48FA646}"/>
              </a:ext>
            </a:extLst>
          </p:cNvPr>
          <p:cNvCxnSpPr/>
          <p:nvPr/>
        </p:nvCxnSpPr>
        <p:spPr>
          <a:xfrm flipH="1">
            <a:off x="4654475" y="2134494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8D676EA-4B4E-2412-A8EE-E31F19D83A4D}"/>
              </a:ext>
            </a:extLst>
          </p:cNvPr>
          <p:cNvCxnSpPr/>
          <p:nvPr/>
        </p:nvCxnSpPr>
        <p:spPr>
          <a:xfrm flipH="1">
            <a:off x="4654677" y="247722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2BD446E-FADC-A4E0-C092-817AAD48CEF1}"/>
              </a:ext>
            </a:extLst>
          </p:cNvPr>
          <p:cNvCxnSpPr>
            <a:cxnSpLocks/>
          </p:cNvCxnSpPr>
          <p:nvPr/>
        </p:nvCxnSpPr>
        <p:spPr>
          <a:xfrm>
            <a:off x="4666349" y="2134494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F9093DC-3D88-C855-C957-B287579F821F}"/>
              </a:ext>
            </a:extLst>
          </p:cNvPr>
          <p:cNvCxnSpPr>
            <a:cxnSpLocks/>
          </p:cNvCxnSpPr>
          <p:nvPr/>
        </p:nvCxnSpPr>
        <p:spPr>
          <a:xfrm flipH="1">
            <a:off x="3775232" y="2292341"/>
            <a:ext cx="89953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1609972-DE50-51F8-D08D-392401806B7C}"/>
              </a:ext>
            </a:extLst>
          </p:cNvPr>
          <p:cNvCxnSpPr/>
          <p:nvPr/>
        </p:nvCxnSpPr>
        <p:spPr>
          <a:xfrm flipH="1">
            <a:off x="3764736" y="1257628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6F46BB5-826D-E702-24A5-8F66D2F89E87}"/>
              </a:ext>
            </a:extLst>
          </p:cNvPr>
          <p:cNvCxnSpPr>
            <a:cxnSpLocks/>
          </p:cNvCxnSpPr>
          <p:nvPr/>
        </p:nvCxnSpPr>
        <p:spPr>
          <a:xfrm>
            <a:off x="3775232" y="1254203"/>
            <a:ext cx="0" cy="103813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771BCD0-F7CE-9EEB-6846-49F9866014A2}"/>
              </a:ext>
            </a:extLst>
          </p:cNvPr>
          <p:cNvCxnSpPr/>
          <p:nvPr/>
        </p:nvCxnSpPr>
        <p:spPr>
          <a:xfrm flipH="1">
            <a:off x="3313929" y="1773152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0634F2E-ABC4-1387-E3C1-3ADFBDB69D87}"/>
              </a:ext>
            </a:extLst>
          </p:cNvPr>
          <p:cNvCxnSpPr>
            <a:cxnSpLocks/>
          </p:cNvCxnSpPr>
          <p:nvPr/>
        </p:nvCxnSpPr>
        <p:spPr>
          <a:xfrm flipH="1">
            <a:off x="3331290" y="2848667"/>
            <a:ext cx="176292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41CB6D0-DF9D-C0C2-6593-C2536D00B090}"/>
              </a:ext>
            </a:extLst>
          </p:cNvPr>
          <p:cNvCxnSpPr>
            <a:cxnSpLocks/>
          </p:cNvCxnSpPr>
          <p:nvPr/>
        </p:nvCxnSpPr>
        <p:spPr>
          <a:xfrm>
            <a:off x="3325503" y="1761578"/>
            <a:ext cx="0" cy="109518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FAC41C-615E-9A97-2E08-134AE68ABF9E}"/>
              </a:ext>
            </a:extLst>
          </p:cNvPr>
          <p:cNvCxnSpPr/>
          <p:nvPr/>
        </p:nvCxnSpPr>
        <p:spPr>
          <a:xfrm flipH="1">
            <a:off x="4648988" y="317122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7D43172-B944-DF61-7AE0-EABF62F9ED59}"/>
              </a:ext>
            </a:extLst>
          </p:cNvPr>
          <p:cNvCxnSpPr/>
          <p:nvPr/>
        </p:nvCxnSpPr>
        <p:spPr>
          <a:xfrm flipH="1">
            <a:off x="4649190" y="351395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C36FF4A-164D-5627-D50A-16FD2C519317}"/>
              </a:ext>
            </a:extLst>
          </p:cNvPr>
          <p:cNvCxnSpPr>
            <a:cxnSpLocks/>
          </p:cNvCxnSpPr>
          <p:nvPr/>
        </p:nvCxnSpPr>
        <p:spPr>
          <a:xfrm>
            <a:off x="4660862" y="3171223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435C8FB-DC79-6634-2F94-B51B10DBA040}"/>
              </a:ext>
            </a:extLst>
          </p:cNvPr>
          <p:cNvCxnSpPr>
            <a:cxnSpLocks/>
          </p:cNvCxnSpPr>
          <p:nvPr/>
        </p:nvCxnSpPr>
        <p:spPr>
          <a:xfrm flipH="1">
            <a:off x="2874696" y="3329070"/>
            <a:ext cx="1794586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2B7B06D-09C7-F07B-8F08-4845A8F9F37A}"/>
              </a:ext>
            </a:extLst>
          </p:cNvPr>
          <p:cNvCxnSpPr/>
          <p:nvPr/>
        </p:nvCxnSpPr>
        <p:spPr>
          <a:xfrm flipH="1">
            <a:off x="2874696" y="2306405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BA1BA2D-A026-D535-ACE9-F88774FC17D5}"/>
              </a:ext>
            </a:extLst>
          </p:cNvPr>
          <p:cNvCxnSpPr>
            <a:cxnSpLocks/>
          </p:cNvCxnSpPr>
          <p:nvPr/>
        </p:nvCxnSpPr>
        <p:spPr>
          <a:xfrm>
            <a:off x="2880483" y="2295285"/>
            <a:ext cx="0" cy="104730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02F7CA6-C30A-2736-8139-446CCFE792C6}"/>
              </a:ext>
            </a:extLst>
          </p:cNvPr>
          <p:cNvCxnSpPr/>
          <p:nvPr/>
        </p:nvCxnSpPr>
        <p:spPr>
          <a:xfrm flipH="1">
            <a:off x="2423889" y="2818935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0B4BC79-6D06-931F-79C3-CC53482DF973}"/>
              </a:ext>
            </a:extLst>
          </p:cNvPr>
          <p:cNvCxnSpPr/>
          <p:nvPr/>
        </p:nvCxnSpPr>
        <p:spPr>
          <a:xfrm flipH="1">
            <a:off x="4643406" y="3853602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A4AC5993-92EA-B716-6AD6-28691C19AACE}"/>
              </a:ext>
            </a:extLst>
          </p:cNvPr>
          <p:cNvCxnSpPr/>
          <p:nvPr/>
        </p:nvCxnSpPr>
        <p:spPr>
          <a:xfrm flipH="1">
            <a:off x="4643608" y="4196329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C17F5E15-7D22-FC85-663F-5F8E38234C74}"/>
              </a:ext>
            </a:extLst>
          </p:cNvPr>
          <p:cNvCxnSpPr>
            <a:cxnSpLocks/>
          </p:cNvCxnSpPr>
          <p:nvPr/>
        </p:nvCxnSpPr>
        <p:spPr>
          <a:xfrm>
            <a:off x="4655280" y="3853602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404950D-1D25-E336-A20E-524FDF884E5D}"/>
              </a:ext>
            </a:extLst>
          </p:cNvPr>
          <p:cNvCxnSpPr>
            <a:cxnSpLocks/>
          </p:cNvCxnSpPr>
          <p:nvPr/>
        </p:nvCxnSpPr>
        <p:spPr>
          <a:xfrm flipH="1">
            <a:off x="2423889" y="4017236"/>
            <a:ext cx="223981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2063E2C-C3CB-730E-7B36-D7AB54ECEE57}"/>
              </a:ext>
            </a:extLst>
          </p:cNvPr>
          <p:cNvCxnSpPr>
            <a:cxnSpLocks/>
          </p:cNvCxnSpPr>
          <p:nvPr/>
        </p:nvCxnSpPr>
        <p:spPr>
          <a:xfrm>
            <a:off x="2423889" y="2806301"/>
            <a:ext cx="0" cy="121866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DD71891-6A15-7877-8A6C-09F1DB597682}"/>
              </a:ext>
            </a:extLst>
          </p:cNvPr>
          <p:cNvCxnSpPr>
            <a:cxnSpLocks/>
          </p:cNvCxnSpPr>
          <p:nvPr/>
        </p:nvCxnSpPr>
        <p:spPr>
          <a:xfrm flipH="1">
            <a:off x="1973082" y="4539056"/>
            <a:ext cx="312113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57020FE-85EF-F134-AF78-9CF3837A95E9}"/>
              </a:ext>
            </a:extLst>
          </p:cNvPr>
          <p:cNvCxnSpPr/>
          <p:nvPr/>
        </p:nvCxnSpPr>
        <p:spPr>
          <a:xfrm flipH="1">
            <a:off x="1973082" y="341563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F7048F2-19EC-B963-A9F3-EB8770954137}"/>
              </a:ext>
            </a:extLst>
          </p:cNvPr>
          <p:cNvCxnSpPr>
            <a:cxnSpLocks/>
          </p:cNvCxnSpPr>
          <p:nvPr/>
        </p:nvCxnSpPr>
        <p:spPr>
          <a:xfrm>
            <a:off x="1978039" y="3407904"/>
            <a:ext cx="0" cy="113115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AD06155-6E2D-D8F1-D1A8-EB74A306C7AD}"/>
              </a:ext>
            </a:extLst>
          </p:cNvPr>
          <p:cNvCxnSpPr/>
          <p:nvPr/>
        </p:nvCxnSpPr>
        <p:spPr>
          <a:xfrm flipH="1">
            <a:off x="1522275" y="397348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B16C56B-E46B-BC0E-8C75-D22EBDD4DBDB}"/>
              </a:ext>
            </a:extLst>
          </p:cNvPr>
          <p:cNvCxnSpPr>
            <a:cxnSpLocks/>
          </p:cNvCxnSpPr>
          <p:nvPr/>
        </p:nvCxnSpPr>
        <p:spPr>
          <a:xfrm>
            <a:off x="1527007" y="3965735"/>
            <a:ext cx="0" cy="91604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2F9639B-8589-0084-4BAB-BB29A8D66B12}"/>
              </a:ext>
            </a:extLst>
          </p:cNvPr>
          <p:cNvCxnSpPr>
            <a:cxnSpLocks/>
          </p:cNvCxnSpPr>
          <p:nvPr/>
        </p:nvCxnSpPr>
        <p:spPr>
          <a:xfrm flipH="1">
            <a:off x="1522275" y="4881885"/>
            <a:ext cx="3571938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474AF74-865C-DEE2-A374-01251A4416D8}"/>
              </a:ext>
            </a:extLst>
          </p:cNvPr>
          <p:cNvCxnSpPr/>
          <p:nvPr/>
        </p:nvCxnSpPr>
        <p:spPr>
          <a:xfrm flipH="1">
            <a:off x="1071468" y="4423759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FD81DDE-CD97-878C-B298-5A162696F8DB}"/>
              </a:ext>
            </a:extLst>
          </p:cNvPr>
          <p:cNvCxnSpPr/>
          <p:nvPr/>
        </p:nvCxnSpPr>
        <p:spPr>
          <a:xfrm flipH="1">
            <a:off x="4633663" y="522451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E57728D-04DE-0987-5245-C2A8D9F733A4}"/>
              </a:ext>
            </a:extLst>
          </p:cNvPr>
          <p:cNvCxnSpPr/>
          <p:nvPr/>
        </p:nvCxnSpPr>
        <p:spPr>
          <a:xfrm flipH="1">
            <a:off x="4633865" y="5567237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04B9634-BDB8-B137-B404-F1942C836A75}"/>
              </a:ext>
            </a:extLst>
          </p:cNvPr>
          <p:cNvCxnSpPr>
            <a:cxnSpLocks/>
          </p:cNvCxnSpPr>
          <p:nvPr/>
        </p:nvCxnSpPr>
        <p:spPr>
          <a:xfrm>
            <a:off x="4645537" y="5224510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71F5DCE3-8768-DFE2-6F19-54519C387E2F}"/>
              </a:ext>
            </a:extLst>
          </p:cNvPr>
          <p:cNvCxnSpPr>
            <a:cxnSpLocks/>
          </p:cNvCxnSpPr>
          <p:nvPr/>
        </p:nvCxnSpPr>
        <p:spPr>
          <a:xfrm flipH="1">
            <a:off x="4193637" y="5892603"/>
            <a:ext cx="89953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5CBC75E-3CD8-8E7A-118E-286EFEDA63FD}"/>
              </a:ext>
            </a:extLst>
          </p:cNvPr>
          <p:cNvCxnSpPr/>
          <p:nvPr/>
        </p:nvCxnSpPr>
        <p:spPr>
          <a:xfrm flipH="1">
            <a:off x="4193637" y="539587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1D278E5-6C0C-EB8C-1BF2-B7603E3547DA}"/>
              </a:ext>
            </a:extLst>
          </p:cNvPr>
          <p:cNvCxnSpPr>
            <a:cxnSpLocks/>
          </p:cNvCxnSpPr>
          <p:nvPr/>
        </p:nvCxnSpPr>
        <p:spPr>
          <a:xfrm>
            <a:off x="4206964" y="5390086"/>
            <a:ext cx="0" cy="50251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36C4EB4-C78B-22A1-4E53-72B620B7E145}"/>
              </a:ext>
            </a:extLst>
          </p:cNvPr>
          <p:cNvCxnSpPr/>
          <p:nvPr/>
        </p:nvCxnSpPr>
        <p:spPr>
          <a:xfrm flipH="1">
            <a:off x="3742830" y="565331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79538B3-F42F-BFCD-E1D4-4C515262C169}"/>
              </a:ext>
            </a:extLst>
          </p:cNvPr>
          <p:cNvCxnSpPr>
            <a:cxnSpLocks/>
          </p:cNvCxnSpPr>
          <p:nvPr/>
        </p:nvCxnSpPr>
        <p:spPr>
          <a:xfrm>
            <a:off x="3748617" y="5641344"/>
            <a:ext cx="0" cy="57816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30E79C8B-2315-6E07-8204-ACEF3EDA95B6}"/>
              </a:ext>
            </a:extLst>
          </p:cNvPr>
          <p:cNvCxnSpPr>
            <a:cxnSpLocks/>
          </p:cNvCxnSpPr>
          <p:nvPr/>
        </p:nvCxnSpPr>
        <p:spPr>
          <a:xfrm flipH="1">
            <a:off x="3742830" y="6213722"/>
            <a:ext cx="134060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53684046-E32F-8066-8337-52CF82A91F7F}"/>
              </a:ext>
            </a:extLst>
          </p:cNvPr>
          <p:cNvCxnSpPr/>
          <p:nvPr/>
        </p:nvCxnSpPr>
        <p:spPr>
          <a:xfrm flipH="1">
            <a:off x="3292023" y="593940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1635BDDC-03E0-94B7-6BA7-083DA9CA0E08}"/>
              </a:ext>
            </a:extLst>
          </p:cNvPr>
          <p:cNvCxnSpPr>
            <a:cxnSpLocks/>
          </p:cNvCxnSpPr>
          <p:nvPr/>
        </p:nvCxnSpPr>
        <p:spPr>
          <a:xfrm flipH="1">
            <a:off x="3292023" y="6560216"/>
            <a:ext cx="178562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746A96F-4B32-9DFA-196C-19CD864CA964}"/>
              </a:ext>
            </a:extLst>
          </p:cNvPr>
          <p:cNvCxnSpPr>
            <a:cxnSpLocks/>
          </p:cNvCxnSpPr>
          <p:nvPr/>
        </p:nvCxnSpPr>
        <p:spPr>
          <a:xfrm>
            <a:off x="3292023" y="5936213"/>
            <a:ext cx="0" cy="62979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24314760-2F49-D9B2-A82A-2F86248E0347}"/>
              </a:ext>
            </a:extLst>
          </p:cNvPr>
          <p:cNvCxnSpPr>
            <a:cxnSpLocks/>
          </p:cNvCxnSpPr>
          <p:nvPr/>
        </p:nvCxnSpPr>
        <p:spPr>
          <a:xfrm flipH="1">
            <a:off x="1071468" y="6245321"/>
            <a:ext cx="2220555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FE1773A-A3F9-7385-20E7-4D068293FFD7}"/>
              </a:ext>
            </a:extLst>
          </p:cNvPr>
          <p:cNvCxnSpPr>
            <a:cxnSpLocks/>
          </p:cNvCxnSpPr>
          <p:nvPr/>
        </p:nvCxnSpPr>
        <p:spPr>
          <a:xfrm>
            <a:off x="1082368" y="4417972"/>
            <a:ext cx="0" cy="182734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D51A0027-F4C3-1FC6-3B52-1D6C1D0143CB}"/>
              </a:ext>
            </a:extLst>
          </p:cNvPr>
          <p:cNvCxnSpPr/>
          <p:nvPr/>
        </p:nvCxnSpPr>
        <p:spPr>
          <a:xfrm flipH="1">
            <a:off x="620661" y="5331557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630C6443-0896-4C49-73E9-F75271C8BA4B}"/>
              </a:ext>
            </a:extLst>
          </p:cNvPr>
          <p:cNvSpPr txBox="1"/>
          <p:nvPr/>
        </p:nvSpPr>
        <p:spPr>
          <a:xfrm>
            <a:off x="9533551" y="226381"/>
            <a:ext cx="202164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Number of HGT inserts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8B4ACE0D-344D-95A1-95D1-F601362B0758}"/>
              </a:ext>
            </a:extLst>
          </p:cNvPr>
          <p:cNvSpPr txBox="1"/>
          <p:nvPr/>
        </p:nvSpPr>
        <p:spPr>
          <a:xfrm>
            <a:off x="202979" y="669612"/>
            <a:ext cx="2764481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Nodes show divergence times (Ma) from Beasley-Hall et al (2021: for nodes internal to top 12 taxa) and Evangelista et al (2019: for nodes internal to remaining 6 taxa). One exception is value between </a:t>
            </a: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P. lata</a:t>
            </a:r>
          </a:p>
          <a:p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and </a:t>
            </a:r>
            <a:r>
              <a:rPr lang="en-US" sz="1200" i="1" dirty="0">
                <a:latin typeface="Arial" panose="020B0604020202020204" pitchFamily="34" charset="0"/>
                <a:cs typeface="Arial" panose="020B0604020202020204" pitchFamily="34" charset="0"/>
              </a:rPr>
              <a:t>P. cribrata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which is from Adams et al 2024. 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112926F-DA14-AC98-06EF-6990303FCF8D}"/>
              </a:ext>
            </a:extLst>
          </p:cNvPr>
          <p:cNvSpPr txBox="1"/>
          <p:nvPr/>
        </p:nvSpPr>
        <p:spPr>
          <a:xfrm>
            <a:off x="518565" y="4962481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207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80D04FB6-51C1-8BCF-FAD1-2A973594404A}"/>
              </a:ext>
            </a:extLst>
          </p:cNvPr>
          <p:cNvSpPr txBox="1"/>
          <p:nvPr/>
        </p:nvSpPr>
        <p:spPr>
          <a:xfrm>
            <a:off x="2735087" y="5896332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161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60ABBCE-4D37-D9C0-DCAB-F4E4092D4E33}"/>
              </a:ext>
            </a:extLst>
          </p:cNvPr>
          <p:cNvSpPr txBox="1"/>
          <p:nvPr/>
        </p:nvSpPr>
        <p:spPr>
          <a:xfrm>
            <a:off x="3788875" y="5311574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98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A3EB86E-713D-689B-FDC9-AB53D1AC3B3D}"/>
              </a:ext>
            </a:extLst>
          </p:cNvPr>
          <p:cNvSpPr txBox="1"/>
          <p:nvPr/>
        </p:nvSpPr>
        <p:spPr>
          <a:xfrm>
            <a:off x="3225717" y="5617493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108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CF48875-1ECD-1930-C408-D1A9FA508EE8}"/>
              </a:ext>
            </a:extLst>
          </p:cNvPr>
          <p:cNvSpPr txBox="1"/>
          <p:nvPr/>
        </p:nvSpPr>
        <p:spPr>
          <a:xfrm>
            <a:off x="4249207" y="5048861"/>
            <a:ext cx="44114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8DBAF0C-DE1B-5940-1730-CECA87CE20F3}"/>
              </a:ext>
            </a:extLst>
          </p:cNvPr>
          <p:cNvSpPr txBox="1"/>
          <p:nvPr/>
        </p:nvSpPr>
        <p:spPr>
          <a:xfrm>
            <a:off x="924853" y="4058527"/>
            <a:ext cx="5693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>
                <a:latin typeface="Arial" panose="020B0604020202020204" pitchFamily="34" charset="0"/>
                <a:cs typeface="Arial" panose="020B0604020202020204" pitchFamily="34" charset="0"/>
              </a:rPr>
              <a:t>145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D4F1E75-FE1A-B5AE-4A29-EE9E22E56670}"/>
              </a:ext>
            </a:extLst>
          </p:cNvPr>
          <p:cNvSpPr txBox="1"/>
          <p:nvPr/>
        </p:nvSpPr>
        <p:spPr>
          <a:xfrm>
            <a:off x="1240558" y="3625546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63.05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2EB31E3-F3A2-193E-E951-57CD17B1D19A}"/>
              </a:ext>
            </a:extLst>
          </p:cNvPr>
          <p:cNvSpPr txBox="1"/>
          <p:nvPr/>
        </p:nvSpPr>
        <p:spPr>
          <a:xfrm>
            <a:off x="1704005" y="3071084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28.71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5E1F08CF-B2EC-5AAD-46A7-3DF09BB2E71E}"/>
              </a:ext>
            </a:extLst>
          </p:cNvPr>
          <p:cNvSpPr txBox="1"/>
          <p:nvPr/>
        </p:nvSpPr>
        <p:spPr>
          <a:xfrm>
            <a:off x="2167252" y="2468599"/>
            <a:ext cx="76174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22.84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67B46F5-F5BC-6F41-7DE8-51BF156964F2}"/>
              </a:ext>
            </a:extLst>
          </p:cNvPr>
          <p:cNvSpPr txBox="1"/>
          <p:nvPr/>
        </p:nvSpPr>
        <p:spPr>
          <a:xfrm>
            <a:off x="3897845" y="2979995"/>
            <a:ext cx="1015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17.35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5830280-30EE-CDCD-DC54-E266E4F845BA}"/>
              </a:ext>
            </a:extLst>
          </p:cNvPr>
          <p:cNvSpPr txBox="1"/>
          <p:nvPr/>
        </p:nvSpPr>
        <p:spPr>
          <a:xfrm>
            <a:off x="2627323" y="1967415"/>
            <a:ext cx="94601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20.91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B6760DB-3A75-08BC-0811-66EF473E2A03}"/>
              </a:ext>
            </a:extLst>
          </p:cNvPr>
          <p:cNvSpPr txBox="1"/>
          <p:nvPr/>
        </p:nvSpPr>
        <p:spPr>
          <a:xfrm>
            <a:off x="3046635" y="1416298"/>
            <a:ext cx="84811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14.12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07731A2-076A-D072-05B2-9021E0300168}"/>
              </a:ext>
            </a:extLst>
          </p:cNvPr>
          <p:cNvSpPr txBox="1"/>
          <p:nvPr/>
        </p:nvSpPr>
        <p:spPr>
          <a:xfrm>
            <a:off x="3903836" y="1948261"/>
            <a:ext cx="91448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13.17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6F1794A-4466-00E7-27F9-25EEE6AFF812}"/>
              </a:ext>
            </a:extLst>
          </p:cNvPr>
          <p:cNvSpPr txBox="1"/>
          <p:nvPr/>
        </p:nvSpPr>
        <p:spPr>
          <a:xfrm>
            <a:off x="4132940" y="1272527"/>
            <a:ext cx="79425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5.84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06C3FF6-BBE2-2617-F185-86A592661691}"/>
              </a:ext>
            </a:extLst>
          </p:cNvPr>
          <p:cNvSpPr txBox="1"/>
          <p:nvPr/>
        </p:nvSpPr>
        <p:spPr>
          <a:xfrm>
            <a:off x="4110248" y="614046"/>
            <a:ext cx="8995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6.67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6CBF744-6F90-77DF-92DB-750E7F4E6A0A}"/>
              </a:ext>
            </a:extLst>
          </p:cNvPr>
          <p:cNvSpPr txBox="1"/>
          <p:nvPr/>
        </p:nvSpPr>
        <p:spPr>
          <a:xfrm>
            <a:off x="3447118" y="916436"/>
            <a:ext cx="7770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12.73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E89EA4DE-2304-269F-C9C2-87D6D5FA8C83}"/>
              </a:ext>
            </a:extLst>
          </p:cNvPr>
          <p:cNvSpPr txBox="1"/>
          <p:nvPr/>
        </p:nvSpPr>
        <p:spPr>
          <a:xfrm>
            <a:off x="310773" y="105804"/>
            <a:ext cx="897553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Cladogram of taxa </a:t>
            </a:r>
            <a:r>
              <a:rPr lang="en-US" sz="2400" b="1" dirty="0" err="1">
                <a:latin typeface="Arial" panose="020B0604020202020204" pitchFamily="34" charset="0"/>
                <a:cs typeface="Arial" panose="020B0604020202020204" pitchFamily="34" charset="0"/>
              </a:rPr>
              <a:t>analysed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for </a:t>
            </a:r>
            <a:r>
              <a:rPr lang="en-US" sz="2400" b="1" i="1" dirty="0" err="1">
                <a:latin typeface="Arial" panose="020B0604020202020204" pitchFamily="34" charset="0"/>
                <a:cs typeface="Arial" panose="020B0604020202020204" pitchFamily="34" charset="0"/>
              </a:rPr>
              <a:t>Blattabacterium</a:t>
            </a:r>
            <a:r>
              <a:rPr lang="en-US" sz="2400" b="1" dirty="0">
                <a:latin typeface="Arial" panose="020B0604020202020204" pitchFamily="34" charset="0"/>
                <a:cs typeface="Arial" panose="020B0604020202020204" pitchFamily="34" charset="0"/>
              </a:rPr>
              <a:t> HGT events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764550-166B-E5A4-F2E5-A30016FD82E6}"/>
              </a:ext>
            </a:extLst>
          </p:cNvPr>
          <p:cNvSpPr txBox="1"/>
          <p:nvPr/>
        </p:nvSpPr>
        <p:spPr>
          <a:xfrm>
            <a:off x="10364264" y="614046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5037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55DFB3-F47C-F92A-D6E7-835912EB4AB5}"/>
              </a:ext>
            </a:extLst>
          </p:cNvPr>
          <p:cNvSpPr txBox="1"/>
          <p:nvPr/>
        </p:nvSpPr>
        <p:spPr>
          <a:xfrm>
            <a:off x="10364264" y="955047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4252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310815-8202-F883-DDD1-68D008A082C2}"/>
              </a:ext>
            </a:extLst>
          </p:cNvPr>
          <p:cNvSpPr txBox="1"/>
          <p:nvPr/>
        </p:nvSpPr>
        <p:spPr>
          <a:xfrm>
            <a:off x="10364264" y="1296048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3852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80BCB-E65A-ABC2-0CD5-1DB2C1558CDF}"/>
              </a:ext>
            </a:extLst>
          </p:cNvPr>
          <p:cNvSpPr txBox="1"/>
          <p:nvPr/>
        </p:nvSpPr>
        <p:spPr>
          <a:xfrm>
            <a:off x="10369521" y="1637049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3702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08A9A4-0E16-64AB-B929-DFF119DB3382}"/>
              </a:ext>
            </a:extLst>
          </p:cNvPr>
          <p:cNvSpPr txBox="1"/>
          <p:nvPr/>
        </p:nvSpPr>
        <p:spPr>
          <a:xfrm>
            <a:off x="10369521" y="1978050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4716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A1408E-19EF-E791-3B84-B5617B71BAFF}"/>
              </a:ext>
            </a:extLst>
          </p:cNvPr>
          <p:cNvSpPr txBox="1"/>
          <p:nvPr/>
        </p:nvSpPr>
        <p:spPr>
          <a:xfrm>
            <a:off x="10369521" y="2319051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4086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D5CA33-643F-ECC4-D25E-7F0EA2AEBBC2}"/>
              </a:ext>
            </a:extLst>
          </p:cNvPr>
          <p:cNvSpPr txBox="1"/>
          <p:nvPr/>
        </p:nvSpPr>
        <p:spPr>
          <a:xfrm>
            <a:off x="10380031" y="2660052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4396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21EB57-3141-35C9-C4C3-3B4BF946BE22}"/>
              </a:ext>
            </a:extLst>
          </p:cNvPr>
          <p:cNvSpPr txBox="1"/>
          <p:nvPr/>
        </p:nvSpPr>
        <p:spPr>
          <a:xfrm>
            <a:off x="10380031" y="3001053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2964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7027FF-DEB3-B4F8-66B9-C16B533C434C}"/>
              </a:ext>
            </a:extLst>
          </p:cNvPr>
          <p:cNvSpPr txBox="1"/>
          <p:nvPr/>
        </p:nvSpPr>
        <p:spPr>
          <a:xfrm>
            <a:off x="10380031" y="3342054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2797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B6F2E4-61BD-EB2F-B497-0C1C1DAD77C8}"/>
              </a:ext>
            </a:extLst>
          </p:cNvPr>
          <p:cNvSpPr txBox="1"/>
          <p:nvPr/>
        </p:nvSpPr>
        <p:spPr>
          <a:xfrm>
            <a:off x="10374777" y="3683055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1543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540F7A-759B-9668-82F3-137090497E69}"/>
              </a:ext>
            </a:extLst>
          </p:cNvPr>
          <p:cNvSpPr txBox="1"/>
          <p:nvPr/>
        </p:nvSpPr>
        <p:spPr>
          <a:xfrm>
            <a:off x="10374777" y="4024056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1601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A2A43B-A3C8-475A-7EC5-4035FF4E4DEB}"/>
              </a:ext>
            </a:extLst>
          </p:cNvPr>
          <p:cNvSpPr txBox="1"/>
          <p:nvPr/>
        </p:nvSpPr>
        <p:spPr>
          <a:xfrm>
            <a:off x="10374777" y="4365057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532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E7F21F6-25C5-17DE-33FC-A094B06F7BED}"/>
              </a:ext>
            </a:extLst>
          </p:cNvPr>
          <p:cNvSpPr txBox="1"/>
          <p:nvPr/>
        </p:nvSpPr>
        <p:spPr>
          <a:xfrm>
            <a:off x="10369523" y="4706058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527–609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317A4F7-715A-4E78-DDF8-75EAB4ED0117}"/>
              </a:ext>
            </a:extLst>
          </p:cNvPr>
          <p:cNvSpPr txBox="1"/>
          <p:nvPr/>
        </p:nvSpPr>
        <p:spPr>
          <a:xfrm>
            <a:off x="10369523" y="5047059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6497100-B62C-FECA-CE7A-3FA11331A621}"/>
              </a:ext>
            </a:extLst>
          </p:cNvPr>
          <p:cNvSpPr txBox="1"/>
          <p:nvPr/>
        </p:nvSpPr>
        <p:spPr>
          <a:xfrm>
            <a:off x="10369523" y="5388060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CA320E7-04CA-A040-D39E-E90F14204468}"/>
              </a:ext>
            </a:extLst>
          </p:cNvPr>
          <p:cNvSpPr txBox="1"/>
          <p:nvPr/>
        </p:nvSpPr>
        <p:spPr>
          <a:xfrm>
            <a:off x="10364269" y="5729061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74A3AA8-7FE3-7A0B-FEF1-AEC257E19918}"/>
              </a:ext>
            </a:extLst>
          </p:cNvPr>
          <p:cNvSpPr txBox="1"/>
          <p:nvPr/>
        </p:nvSpPr>
        <p:spPr>
          <a:xfrm>
            <a:off x="10364269" y="6070062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EFBBB06-33EB-6975-D787-7B77B9CD0AEC}"/>
              </a:ext>
            </a:extLst>
          </p:cNvPr>
          <p:cNvSpPr txBox="1"/>
          <p:nvPr/>
        </p:nvSpPr>
        <p:spPr>
          <a:xfrm>
            <a:off x="10364269" y="6411062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106-647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CD61EAF-89DA-8EF3-3EFE-22F6D26AA683}"/>
              </a:ext>
            </a:extLst>
          </p:cNvPr>
          <p:cNvSpPr txBox="1"/>
          <p:nvPr/>
        </p:nvSpPr>
        <p:spPr>
          <a:xfrm>
            <a:off x="7393762" y="5558547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Termites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A0D268C-885A-4446-8B3C-4318EABB3FE9}"/>
              </a:ext>
            </a:extLst>
          </p:cNvPr>
          <p:cNvSpPr txBox="1"/>
          <p:nvPr/>
        </p:nvSpPr>
        <p:spPr>
          <a:xfrm>
            <a:off x="4041437" y="3663513"/>
            <a:ext cx="101527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1.81</a:t>
            </a:r>
          </a:p>
        </p:txBody>
      </p:sp>
      <p:cxnSp>
        <p:nvCxnSpPr>
          <p:cNvPr id="65" name="Straight Connector 64">
            <a:extLst>
              <a:ext uri="{FF2B5EF4-FFF2-40B4-BE49-F238E27FC236}">
                <a16:creationId xmlns:a16="http://schemas.microsoft.com/office/drawing/2014/main" id="{0BF97B18-9077-6349-93EF-9C6C224D3524}"/>
              </a:ext>
            </a:extLst>
          </p:cNvPr>
          <p:cNvCxnSpPr/>
          <p:nvPr/>
        </p:nvCxnSpPr>
        <p:spPr>
          <a:xfrm>
            <a:off x="7383252" y="5171960"/>
            <a:ext cx="0" cy="1152000"/>
          </a:xfrm>
          <a:prstGeom prst="line">
            <a:avLst/>
          </a:prstGeom>
          <a:ln w="12700"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6" name="TextBox 65">
            <a:extLst>
              <a:ext uri="{FF2B5EF4-FFF2-40B4-BE49-F238E27FC236}">
                <a16:creationId xmlns:a16="http://schemas.microsoft.com/office/drawing/2014/main" id="{1C7ED951-012B-C345-90EB-9AEF09A480F2}"/>
              </a:ext>
            </a:extLst>
          </p:cNvPr>
          <p:cNvSpPr txBox="1"/>
          <p:nvPr/>
        </p:nvSpPr>
        <p:spPr>
          <a:xfrm>
            <a:off x="8178838" y="5156368"/>
            <a:ext cx="2314845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FF0000"/>
                </a:solidFill>
              </a:rPr>
              <a:t>Kyle and Maxim:</a:t>
            </a:r>
          </a:p>
          <a:p>
            <a:r>
              <a:rPr lang="en-US" sz="1200" dirty="0">
                <a:solidFill>
                  <a:srgbClr val="FF0000"/>
                </a:solidFill>
              </a:rPr>
              <a:t>Are these termite numbers </a:t>
            </a:r>
          </a:p>
          <a:p>
            <a:r>
              <a:rPr lang="en-US" sz="1200" dirty="0">
                <a:solidFill>
                  <a:srgbClr val="FF0000"/>
                </a:solidFill>
              </a:rPr>
              <a:t>right? When I did an audit in early 2025 I found none were </a:t>
            </a:r>
            <a:r>
              <a:rPr lang="en-US" sz="1200" dirty="0" err="1">
                <a:solidFill>
                  <a:srgbClr val="FF0000"/>
                </a:solidFill>
              </a:rPr>
              <a:t>Blattabacterium</a:t>
            </a:r>
            <a:r>
              <a:rPr lang="en-US" sz="1200" dirty="0">
                <a:solidFill>
                  <a:srgbClr val="FF0000"/>
                </a:solidFill>
              </a:rPr>
              <a:t>?</a:t>
            </a:r>
          </a:p>
        </p:txBody>
      </p:sp>
    </p:spTree>
    <p:extLst>
      <p:ext uri="{BB962C8B-B14F-4D97-AF65-F5344CB8AC3E}">
        <p14:creationId xmlns:p14="http://schemas.microsoft.com/office/powerpoint/2010/main" val="5711742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2836DD86-B9DF-36C9-A98F-CA5E1FB96A50}"/>
              </a:ext>
            </a:extLst>
          </p:cNvPr>
          <p:cNvSpPr txBox="1"/>
          <p:nvPr/>
        </p:nvSpPr>
        <p:spPr>
          <a:xfrm>
            <a:off x="5140510" y="615171"/>
            <a:ext cx="37103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Macropanesthia lithgowae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85EC0A9-B9BD-963F-C5A6-E62991557B95}"/>
              </a:ext>
            </a:extLst>
          </p:cNvPr>
          <p:cNvSpPr txBox="1"/>
          <p:nvPr/>
        </p:nvSpPr>
        <p:spPr>
          <a:xfrm>
            <a:off x="5140510" y="957898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tryoni tryoni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(Kroombit Tops)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FEB833C6-5059-3F2B-0656-649BB2D62B48}"/>
              </a:ext>
            </a:extLst>
          </p:cNvPr>
          <p:cNvSpPr txBox="1"/>
          <p:nvPr/>
        </p:nvSpPr>
        <p:spPr>
          <a:xfrm>
            <a:off x="5140509" y="1300625"/>
            <a:ext cx="42251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gigantea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96740E5-743E-5429-BBA3-695337967929}"/>
              </a:ext>
            </a:extLst>
          </p:cNvPr>
          <p:cNvSpPr txBox="1"/>
          <p:nvPr/>
        </p:nvSpPr>
        <p:spPr>
          <a:xfrm>
            <a:off x="5140509" y="1643352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tryoni tegminifera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0F5AD9C-C18A-14DD-6E16-FC6090ABF16E}"/>
              </a:ext>
            </a:extLst>
          </p:cNvPr>
          <p:cNvSpPr txBox="1"/>
          <p:nvPr/>
        </p:nvSpPr>
        <p:spPr>
          <a:xfrm>
            <a:off x="5140509" y="1986079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Neogeoscapheus dahmsi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817760B7-E7B6-A6CC-CB23-02C2A3B68B86}"/>
              </a:ext>
            </a:extLst>
          </p:cNvPr>
          <p:cNvSpPr txBox="1"/>
          <p:nvPr/>
        </p:nvSpPr>
        <p:spPr>
          <a:xfrm>
            <a:off x="5140509" y="2328806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tryoni tryoni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(Eungella)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BE564D44-043D-94C7-F6C3-1DEF21E8E660}"/>
              </a:ext>
            </a:extLst>
          </p:cNvPr>
          <p:cNvSpPr txBox="1"/>
          <p:nvPr/>
        </p:nvSpPr>
        <p:spPr>
          <a:xfrm>
            <a:off x="5140509" y="2671533"/>
            <a:ext cx="32413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Geoscapheus dilatatus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D39F0262-3654-66DD-1C1E-3D0830C06A73}"/>
              </a:ext>
            </a:extLst>
          </p:cNvPr>
          <p:cNvSpPr txBox="1"/>
          <p:nvPr/>
        </p:nvSpPr>
        <p:spPr>
          <a:xfrm>
            <a:off x="5140509" y="3014260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sloanei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15F0AD8B-8964-B84F-96E9-2261FEEA69BE}"/>
              </a:ext>
            </a:extLst>
          </p:cNvPr>
          <p:cNvSpPr txBox="1"/>
          <p:nvPr/>
        </p:nvSpPr>
        <p:spPr>
          <a:xfrm>
            <a:off x="5140509" y="3356987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Neogeoscapheus hanni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2CB6B5D-5983-112E-8D51-3581BE2E0683}"/>
              </a:ext>
            </a:extLst>
          </p:cNvPr>
          <p:cNvSpPr txBox="1"/>
          <p:nvPr/>
        </p:nvSpPr>
        <p:spPr>
          <a:xfrm>
            <a:off x="5128732" y="4042441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lata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CEC9C75-BCC4-4F7F-6F62-1CF25357A908}"/>
              </a:ext>
            </a:extLst>
          </p:cNvPr>
          <p:cNvSpPr txBox="1"/>
          <p:nvPr/>
        </p:nvSpPr>
        <p:spPr>
          <a:xfrm>
            <a:off x="5140509" y="3699714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cribrata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57CB6A99-6B82-8092-E383-80A2B09639C6}"/>
              </a:ext>
            </a:extLst>
          </p:cNvPr>
          <p:cNvSpPr txBox="1"/>
          <p:nvPr/>
        </p:nvSpPr>
        <p:spPr>
          <a:xfrm>
            <a:off x="5140509" y="4385168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Diploptera punctata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28B647CD-7360-2693-9879-0191701FE355}"/>
              </a:ext>
            </a:extLst>
          </p:cNvPr>
          <p:cNvSpPr txBox="1"/>
          <p:nvPr/>
        </p:nvSpPr>
        <p:spPr>
          <a:xfrm>
            <a:off x="5140509" y="4727895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Blattella germanica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F774CDA-2EB5-1A9F-0EE1-84B0F338E848}"/>
              </a:ext>
            </a:extLst>
          </p:cNvPr>
          <p:cNvSpPr txBox="1"/>
          <p:nvPr/>
        </p:nvSpPr>
        <p:spPr>
          <a:xfrm>
            <a:off x="5128732" y="6392527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Periplaneta americana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2A4EB622-B3AA-5B0D-366F-31EC8D2C1CB9}"/>
              </a:ext>
            </a:extLst>
          </p:cNvPr>
          <p:cNvSpPr txBox="1"/>
          <p:nvPr/>
        </p:nvSpPr>
        <p:spPr>
          <a:xfrm>
            <a:off x="5128732" y="6065621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Zootermopsis nevadensis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B4480A82-EF6D-319E-1593-C6D1CB86013C}"/>
              </a:ext>
            </a:extLst>
          </p:cNvPr>
          <p:cNvSpPr txBox="1"/>
          <p:nvPr/>
        </p:nvSpPr>
        <p:spPr>
          <a:xfrm>
            <a:off x="5127526" y="5070848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Reticulitermes lucifugus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94FF59-47EB-CB15-6976-165828DFD838}"/>
              </a:ext>
            </a:extLst>
          </p:cNvPr>
          <p:cNvSpPr txBox="1"/>
          <p:nvPr/>
        </p:nvSpPr>
        <p:spPr>
          <a:xfrm>
            <a:off x="5125974" y="5738715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Cryptotermes secundus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B26547CA-71D1-6886-0C25-B7C568AE0661}"/>
              </a:ext>
            </a:extLst>
          </p:cNvPr>
          <p:cNvSpPr txBox="1"/>
          <p:nvPr/>
        </p:nvSpPr>
        <p:spPr>
          <a:xfrm>
            <a:off x="5121739" y="5388532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Coptotermes formosanus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BEC0EF28-979B-A325-8EF5-2B8B7233AB03}"/>
              </a:ext>
            </a:extLst>
          </p:cNvPr>
          <p:cNvCxnSpPr/>
          <p:nvPr/>
        </p:nvCxnSpPr>
        <p:spPr>
          <a:xfrm flipH="1">
            <a:off x="4654476" y="780634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0C2AFD39-E062-0327-60C0-F2E3CF01D924}"/>
              </a:ext>
            </a:extLst>
          </p:cNvPr>
          <p:cNvCxnSpPr/>
          <p:nvPr/>
        </p:nvCxnSpPr>
        <p:spPr>
          <a:xfrm flipH="1">
            <a:off x="4654678" y="112336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D0BB347D-BC4E-BCE2-3003-14AB1293F5FB}"/>
              </a:ext>
            </a:extLst>
          </p:cNvPr>
          <p:cNvCxnSpPr>
            <a:cxnSpLocks/>
          </p:cNvCxnSpPr>
          <p:nvPr/>
        </p:nvCxnSpPr>
        <p:spPr>
          <a:xfrm>
            <a:off x="4666350" y="780634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41EE4A04-0AD1-3FFA-73FD-35E40215007A}"/>
              </a:ext>
            </a:extLst>
          </p:cNvPr>
          <p:cNvCxnSpPr/>
          <p:nvPr/>
        </p:nvCxnSpPr>
        <p:spPr>
          <a:xfrm flipH="1">
            <a:off x="4654476" y="145451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151A284F-D12D-72B4-03C2-5080BAF0D390}"/>
              </a:ext>
            </a:extLst>
          </p:cNvPr>
          <p:cNvCxnSpPr/>
          <p:nvPr/>
        </p:nvCxnSpPr>
        <p:spPr>
          <a:xfrm flipH="1">
            <a:off x="4654678" y="179724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1F9DC3AF-162E-2E3F-9A7F-1411BA44DF34}"/>
              </a:ext>
            </a:extLst>
          </p:cNvPr>
          <p:cNvCxnSpPr>
            <a:cxnSpLocks/>
          </p:cNvCxnSpPr>
          <p:nvPr/>
        </p:nvCxnSpPr>
        <p:spPr>
          <a:xfrm>
            <a:off x="4666350" y="1454513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09F4B79F-5516-BEDC-F3E2-4B0970DC5272}"/>
              </a:ext>
            </a:extLst>
          </p:cNvPr>
          <p:cNvCxnSpPr/>
          <p:nvPr/>
        </p:nvCxnSpPr>
        <p:spPr>
          <a:xfrm flipH="1">
            <a:off x="4215543" y="947164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08E464AB-0C35-26A0-8F2C-8E556D6BFD02}"/>
              </a:ext>
            </a:extLst>
          </p:cNvPr>
          <p:cNvCxnSpPr/>
          <p:nvPr/>
        </p:nvCxnSpPr>
        <p:spPr>
          <a:xfrm flipH="1">
            <a:off x="4223963" y="161236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B0FF1D81-4360-3F84-3DAF-D419ECBC0138}"/>
              </a:ext>
            </a:extLst>
          </p:cNvPr>
          <p:cNvCxnSpPr>
            <a:cxnSpLocks/>
          </p:cNvCxnSpPr>
          <p:nvPr/>
        </p:nvCxnSpPr>
        <p:spPr>
          <a:xfrm>
            <a:off x="4227417" y="939248"/>
            <a:ext cx="0" cy="68267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F4DD19CB-F4D7-0B3C-80FC-DC20B48FA646}"/>
              </a:ext>
            </a:extLst>
          </p:cNvPr>
          <p:cNvCxnSpPr/>
          <p:nvPr/>
        </p:nvCxnSpPr>
        <p:spPr>
          <a:xfrm flipH="1">
            <a:off x="4654475" y="2134494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48D676EA-4B4E-2412-A8EE-E31F19D83A4D}"/>
              </a:ext>
            </a:extLst>
          </p:cNvPr>
          <p:cNvCxnSpPr/>
          <p:nvPr/>
        </p:nvCxnSpPr>
        <p:spPr>
          <a:xfrm flipH="1">
            <a:off x="4654677" y="247722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F2BD446E-FADC-A4E0-C092-817AAD48CEF1}"/>
              </a:ext>
            </a:extLst>
          </p:cNvPr>
          <p:cNvCxnSpPr>
            <a:cxnSpLocks/>
          </p:cNvCxnSpPr>
          <p:nvPr/>
        </p:nvCxnSpPr>
        <p:spPr>
          <a:xfrm>
            <a:off x="4666349" y="2134494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CF9093DC-3D88-C855-C957-B287579F821F}"/>
              </a:ext>
            </a:extLst>
          </p:cNvPr>
          <p:cNvCxnSpPr>
            <a:cxnSpLocks/>
          </p:cNvCxnSpPr>
          <p:nvPr/>
        </p:nvCxnSpPr>
        <p:spPr>
          <a:xfrm flipH="1">
            <a:off x="3775232" y="2292341"/>
            <a:ext cx="89953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E1609972-DE50-51F8-D08D-392401806B7C}"/>
              </a:ext>
            </a:extLst>
          </p:cNvPr>
          <p:cNvCxnSpPr/>
          <p:nvPr/>
        </p:nvCxnSpPr>
        <p:spPr>
          <a:xfrm flipH="1">
            <a:off x="3764736" y="1257628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76F46BB5-826D-E702-24A5-8F66D2F89E87}"/>
              </a:ext>
            </a:extLst>
          </p:cNvPr>
          <p:cNvCxnSpPr>
            <a:cxnSpLocks/>
          </p:cNvCxnSpPr>
          <p:nvPr/>
        </p:nvCxnSpPr>
        <p:spPr>
          <a:xfrm>
            <a:off x="3775232" y="1254203"/>
            <a:ext cx="0" cy="103813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0771BCD0-F7CE-9EEB-6846-49F9866014A2}"/>
              </a:ext>
            </a:extLst>
          </p:cNvPr>
          <p:cNvCxnSpPr/>
          <p:nvPr/>
        </p:nvCxnSpPr>
        <p:spPr>
          <a:xfrm flipH="1">
            <a:off x="3313929" y="1773152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F0634F2E-ABC4-1387-E3C1-3ADFBDB69D87}"/>
              </a:ext>
            </a:extLst>
          </p:cNvPr>
          <p:cNvCxnSpPr>
            <a:cxnSpLocks/>
          </p:cNvCxnSpPr>
          <p:nvPr/>
        </p:nvCxnSpPr>
        <p:spPr>
          <a:xfrm flipH="1">
            <a:off x="3331290" y="2848667"/>
            <a:ext cx="176292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441CB6D0-DF9D-C0C2-6593-C2536D00B090}"/>
              </a:ext>
            </a:extLst>
          </p:cNvPr>
          <p:cNvCxnSpPr>
            <a:cxnSpLocks/>
          </p:cNvCxnSpPr>
          <p:nvPr/>
        </p:nvCxnSpPr>
        <p:spPr>
          <a:xfrm>
            <a:off x="3325503" y="1761578"/>
            <a:ext cx="0" cy="109518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58FAC41C-615E-9A97-2E08-134AE68ABF9E}"/>
              </a:ext>
            </a:extLst>
          </p:cNvPr>
          <p:cNvCxnSpPr/>
          <p:nvPr/>
        </p:nvCxnSpPr>
        <p:spPr>
          <a:xfrm flipH="1">
            <a:off x="4648988" y="317122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17D43172-B944-DF61-7AE0-EABF62F9ED59}"/>
              </a:ext>
            </a:extLst>
          </p:cNvPr>
          <p:cNvCxnSpPr/>
          <p:nvPr/>
        </p:nvCxnSpPr>
        <p:spPr>
          <a:xfrm flipH="1">
            <a:off x="4649190" y="351395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BC36FF4A-164D-5627-D50A-16FD2C519317}"/>
              </a:ext>
            </a:extLst>
          </p:cNvPr>
          <p:cNvCxnSpPr>
            <a:cxnSpLocks/>
          </p:cNvCxnSpPr>
          <p:nvPr/>
        </p:nvCxnSpPr>
        <p:spPr>
          <a:xfrm>
            <a:off x="4660862" y="3171223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E435C8FB-DC79-6634-2F94-B51B10DBA040}"/>
              </a:ext>
            </a:extLst>
          </p:cNvPr>
          <p:cNvCxnSpPr>
            <a:cxnSpLocks/>
          </p:cNvCxnSpPr>
          <p:nvPr/>
        </p:nvCxnSpPr>
        <p:spPr>
          <a:xfrm flipH="1">
            <a:off x="2874696" y="3329070"/>
            <a:ext cx="1794586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B2B7B06D-09C7-F07B-8F08-4845A8F9F37A}"/>
              </a:ext>
            </a:extLst>
          </p:cNvPr>
          <p:cNvCxnSpPr/>
          <p:nvPr/>
        </p:nvCxnSpPr>
        <p:spPr>
          <a:xfrm flipH="1">
            <a:off x="2874696" y="2306405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BBA1BA2D-A026-D535-ACE9-F88774FC17D5}"/>
              </a:ext>
            </a:extLst>
          </p:cNvPr>
          <p:cNvCxnSpPr>
            <a:cxnSpLocks/>
          </p:cNvCxnSpPr>
          <p:nvPr/>
        </p:nvCxnSpPr>
        <p:spPr>
          <a:xfrm>
            <a:off x="2880483" y="2295285"/>
            <a:ext cx="0" cy="104730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702F7CA6-C30A-2736-8139-446CCFE792C6}"/>
              </a:ext>
            </a:extLst>
          </p:cNvPr>
          <p:cNvCxnSpPr/>
          <p:nvPr/>
        </p:nvCxnSpPr>
        <p:spPr>
          <a:xfrm flipH="1">
            <a:off x="2423889" y="2818935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0B4BC79-6D06-931F-79C3-CC53482DF973}"/>
              </a:ext>
            </a:extLst>
          </p:cNvPr>
          <p:cNvCxnSpPr/>
          <p:nvPr/>
        </p:nvCxnSpPr>
        <p:spPr>
          <a:xfrm flipH="1">
            <a:off x="4643406" y="3853602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A4AC5993-92EA-B716-6AD6-28691C19AACE}"/>
              </a:ext>
            </a:extLst>
          </p:cNvPr>
          <p:cNvCxnSpPr/>
          <p:nvPr/>
        </p:nvCxnSpPr>
        <p:spPr>
          <a:xfrm flipH="1">
            <a:off x="4643608" y="4196329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C17F5E15-7D22-FC85-663F-5F8E38234C74}"/>
              </a:ext>
            </a:extLst>
          </p:cNvPr>
          <p:cNvCxnSpPr>
            <a:cxnSpLocks/>
          </p:cNvCxnSpPr>
          <p:nvPr/>
        </p:nvCxnSpPr>
        <p:spPr>
          <a:xfrm>
            <a:off x="4655280" y="3853602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6404950D-1D25-E336-A20E-524FDF884E5D}"/>
              </a:ext>
            </a:extLst>
          </p:cNvPr>
          <p:cNvCxnSpPr>
            <a:cxnSpLocks/>
          </p:cNvCxnSpPr>
          <p:nvPr/>
        </p:nvCxnSpPr>
        <p:spPr>
          <a:xfrm flipH="1">
            <a:off x="2423889" y="4017236"/>
            <a:ext cx="223981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F2063E2C-C3CB-730E-7B36-D7AB54ECEE57}"/>
              </a:ext>
            </a:extLst>
          </p:cNvPr>
          <p:cNvCxnSpPr>
            <a:cxnSpLocks/>
          </p:cNvCxnSpPr>
          <p:nvPr/>
        </p:nvCxnSpPr>
        <p:spPr>
          <a:xfrm>
            <a:off x="2423889" y="2806301"/>
            <a:ext cx="0" cy="121866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DDD71891-6A15-7877-8A6C-09F1DB597682}"/>
              </a:ext>
            </a:extLst>
          </p:cNvPr>
          <p:cNvCxnSpPr>
            <a:cxnSpLocks/>
          </p:cNvCxnSpPr>
          <p:nvPr/>
        </p:nvCxnSpPr>
        <p:spPr>
          <a:xfrm flipH="1">
            <a:off x="1973082" y="4539056"/>
            <a:ext cx="312113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357020FE-85EF-F134-AF78-9CF3837A95E9}"/>
              </a:ext>
            </a:extLst>
          </p:cNvPr>
          <p:cNvCxnSpPr/>
          <p:nvPr/>
        </p:nvCxnSpPr>
        <p:spPr>
          <a:xfrm flipH="1">
            <a:off x="1973082" y="341563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5F7048F2-19EC-B963-A9F3-EB8770954137}"/>
              </a:ext>
            </a:extLst>
          </p:cNvPr>
          <p:cNvCxnSpPr>
            <a:cxnSpLocks/>
          </p:cNvCxnSpPr>
          <p:nvPr/>
        </p:nvCxnSpPr>
        <p:spPr>
          <a:xfrm>
            <a:off x="1978039" y="3407904"/>
            <a:ext cx="0" cy="113115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3AD06155-6E2D-D8F1-D1A8-EB74A306C7AD}"/>
              </a:ext>
            </a:extLst>
          </p:cNvPr>
          <p:cNvCxnSpPr/>
          <p:nvPr/>
        </p:nvCxnSpPr>
        <p:spPr>
          <a:xfrm flipH="1">
            <a:off x="1522275" y="397348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AB16C56B-E46B-BC0E-8C75-D22EBDD4DBDB}"/>
              </a:ext>
            </a:extLst>
          </p:cNvPr>
          <p:cNvCxnSpPr>
            <a:cxnSpLocks/>
          </p:cNvCxnSpPr>
          <p:nvPr/>
        </p:nvCxnSpPr>
        <p:spPr>
          <a:xfrm>
            <a:off x="1527007" y="3965735"/>
            <a:ext cx="0" cy="91604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D2F9639B-8589-0084-4BAB-BB29A8D66B12}"/>
              </a:ext>
            </a:extLst>
          </p:cNvPr>
          <p:cNvCxnSpPr>
            <a:cxnSpLocks/>
          </p:cNvCxnSpPr>
          <p:nvPr/>
        </p:nvCxnSpPr>
        <p:spPr>
          <a:xfrm flipH="1">
            <a:off x="1522275" y="4881885"/>
            <a:ext cx="3571938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1474AF74-865C-DEE2-A374-01251A4416D8}"/>
              </a:ext>
            </a:extLst>
          </p:cNvPr>
          <p:cNvCxnSpPr/>
          <p:nvPr/>
        </p:nvCxnSpPr>
        <p:spPr>
          <a:xfrm flipH="1">
            <a:off x="1071468" y="4423759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CFD81DDE-CD97-878C-B298-5A162696F8DB}"/>
              </a:ext>
            </a:extLst>
          </p:cNvPr>
          <p:cNvCxnSpPr/>
          <p:nvPr/>
        </p:nvCxnSpPr>
        <p:spPr>
          <a:xfrm flipH="1">
            <a:off x="4633663" y="522451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DE57728D-04DE-0987-5245-C2A8D9F733A4}"/>
              </a:ext>
            </a:extLst>
          </p:cNvPr>
          <p:cNvCxnSpPr/>
          <p:nvPr/>
        </p:nvCxnSpPr>
        <p:spPr>
          <a:xfrm flipH="1">
            <a:off x="4633865" y="5567237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304B9634-BDB8-B137-B404-F1942C836A75}"/>
              </a:ext>
            </a:extLst>
          </p:cNvPr>
          <p:cNvCxnSpPr>
            <a:cxnSpLocks/>
          </p:cNvCxnSpPr>
          <p:nvPr/>
        </p:nvCxnSpPr>
        <p:spPr>
          <a:xfrm>
            <a:off x="4645537" y="5224510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71F5DCE3-8768-DFE2-6F19-54519C387E2F}"/>
              </a:ext>
            </a:extLst>
          </p:cNvPr>
          <p:cNvCxnSpPr>
            <a:cxnSpLocks/>
          </p:cNvCxnSpPr>
          <p:nvPr/>
        </p:nvCxnSpPr>
        <p:spPr>
          <a:xfrm flipH="1">
            <a:off x="4193637" y="5892603"/>
            <a:ext cx="89953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85CBC75E-3CD8-8E7A-118E-286EFEDA63FD}"/>
              </a:ext>
            </a:extLst>
          </p:cNvPr>
          <p:cNvCxnSpPr/>
          <p:nvPr/>
        </p:nvCxnSpPr>
        <p:spPr>
          <a:xfrm flipH="1">
            <a:off x="4193637" y="539587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01D278E5-6C0C-EB8C-1BF2-B7603E3547DA}"/>
              </a:ext>
            </a:extLst>
          </p:cNvPr>
          <p:cNvCxnSpPr>
            <a:cxnSpLocks/>
          </p:cNvCxnSpPr>
          <p:nvPr/>
        </p:nvCxnSpPr>
        <p:spPr>
          <a:xfrm>
            <a:off x="4206964" y="5390086"/>
            <a:ext cx="0" cy="50251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436C4EB4-C78B-22A1-4E53-72B620B7E145}"/>
              </a:ext>
            </a:extLst>
          </p:cNvPr>
          <p:cNvCxnSpPr/>
          <p:nvPr/>
        </p:nvCxnSpPr>
        <p:spPr>
          <a:xfrm flipH="1">
            <a:off x="3742830" y="565331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979538B3-F42F-BFCD-E1D4-4C515262C169}"/>
              </a:ext>
            </a:extLst>
          </p:cNvPr>
          <p:cNvCxnSpPr>
            <a:cxnSpLocks/>
          </p:cNvCxnSpPr>
          <p:nvPr/>
        </p:nvCxnSpPr>
        <p:spPr>
          <a:xfrm>
            <a:off x="3748617" y="5641344"/>
            <a:ext cx="0" cy="57816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30E79C8B-2315-6E07-8204-ACEF3EDA95B6}"/>
              </a:ext>
            </a:extLst>
          </p:cNvPr>
          <p:cNvCxnSpPr>
            <a:cxnSpLocks/>
          </p:cNvCxnSpPr>
          <p:nvPr/>
        </p:nvCxnSpPr>
        <p:spPr>
          <a:xfrm flipH="1">
            <a:off x="3742830" y="6213722"/>
            <a:ext cx="134060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53684046-E32F-8066-8337-52CF82A91F7F}"/>
              </a:ext>
            </a:extLst>
          </p:cNvPr>
          <p:cNvCxnSpPr/>
          <p:nvPr/>
        </p:nvCxnSpPr>
        <p:spPr>
          <a:xfrm flipH="1">
            <a:off x="3292023" y="593940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1635BDDC-03E0-94B7-6BA7-083DA9CA0E08}"/>
              </a:ext>
            </a:extLst>
          </p:cNvPr>
          <p:cNvCxnSpPr>
            <a:cxnSpLocks/>
          </p:cNvCxnSpPr>
          <p:nvPr/>
        </p:nvCxnSpPr>
        <p:spPr>
          <a:xfrm flipH="1">
            <a:off x="3292023" y="6560216"/>
            <a:ext cx="178562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9746A96F-4B32-9DFA-196C-19CD864CA964}"/>
              </a:ext>
            </a:extLst>
          </p:cNvPr>
          <p:cNvCxnSpPr>
            <a:cxnSpLocks/>
          </p:cNvCxnSpPr>
          <p:nvPr/>
        </p:nvCxnSpPr>
        <p:spPr>
          <a:xfrm>
            <a:off x="3292023" y="5936213"/>
            <a:ext cx="0" cy="62979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24314760-2F49-D9B2-A82A-2F86248E0347}"/>
              </a:ext>
            </a:extLst>
          </p:cNvPr>
          <p:cNvCxnSpPr>
            <a:cxnSpLocks/>
          </p:cNvCxnSpPr>
          <p:nvPr/>
        </p:nvCxnSpPr>
        <p:spPr>
          <a:xfrm flipH="1">
            <a:off x="1071468" y="6245321"/>
            <a:ext cx="2220555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1FE1773A-A3F9-7385-20E7-4D068293FFD7}"/>
              </a:ext>
            </a:extLst>
          </p:cNvPr>
          <p:cNvCxnSpPr>
            <a:cxnSpLocks/>
          </p:cNvCxnSpPr>
          <p:nvPr/>
        </p:nvCxnSpPr>
        <p:spPr>
          <a:xfrm>
            <a:off x="1082368" y="4417972"/>
            <a:ext cx="0" cy="182734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D51A0027-F4C3-1FC6-3B52-1D6C1D0143CB}"/>
              </a:ext>
            </a:extLst>
          </p:cNvPr>
          <p:cNvCxnSpPr/>
          <p:nvPr/>
        </p:nvCxnSpPr>
        <p:spPr>
          <a:xfrm flipH="1">
            <a:off x="620661" y="5331557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630C6443-0896-4C49-73E9-F75271C8BA4B}"/>
              </a:ext>
            </a:extLst>
          </p:cNvPr>
          <p:cNvSpPr txBox="1"/>
          <p:nvPr/>
        </p:nvSpPr>
        <p:spPr>
          <a:xfrm>
            <a:off x="8228398" y="-2732"/>
            <a:ext cx="24320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Number of HGT inserts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8112926F-DA14-AC98-06EF-6990303FCF8D}"/>
              </a:ext>
            </a:extLst>
          </p:cNvPr>
          <p:cNvSpPr txBox="1"/>
          <p:nvPr/>
        </p:nvSpPr>
        <p:spPr>
          <a:xfrm>
            <a:off x="680967" y="5069946"/>
            <a:ext cx="4203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207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80D04FB6-51C1-8BCF-FAD1-2A973594404A}"/>
              </a:ext>
            </a:extLst>
          </p:cNvPr>
          <p:cNvSpPr txBox="1"/>
          <p:nvPr/>
        </p:nvSpPr>
        <p:spPr>
          <a:xfrm>
            <a:off x="2910982" y="5992686"/>
            <a:ext cx="4203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161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560ABBCE-4D37-D9C0-DCAB-F4E4092D4E33}"/>
              </a:ext>
            </a:extLst>
          </p:cNvPr>
          <p:cNvSpPr txBox="1"/>
          <p:nvPr/>
        </p:nvSpPr>
        <p:spPr>
          <a:xfrm>
            <a:off x="3907447" y="5430515"/>
            <a:ext cx="341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98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BA3EB86E-713D-689B-FDC9-AB53D1AC3B3D}"/>
              </a:ext>
            </a:extLst>
          </p:cNvPr>
          <p:cNvSpPr txBox="1"/>
          <p:nvPr/>
        </p:nvSpPr>
        <p:spPr>
          <a:xfrm>
            <a:off x="3351681" y="5703188"/>
            <a:ext cx="4203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108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ACF48875-1ECD-1930-C408-D1A9FA508EE8}"/>
              </a:ext>
            </a:extLst>
          </p:cNvPr>
          <p:cNvSpPr txBox="1"/>
          <p:nvPr/>
        </p:nvSpPr>
        <p:spPr>
          <a:xfrm>
            <a:off x="4359046" y="5156227"/>
            <a:ext cx="341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F8DBAF0C-DE1B-5940-1730-CECA87CE20F3}"/>
              </a:ext>
            </a:extLst>
          </p:cNvPr>
          <p:cNvSpPr txBox="1"/>
          <p:nvPr/>
        </p:nvSpPr>
        <p:spPr>
          <a:xfrm>
            <a:off x="1145860" y="4190586"/>
            <a:ext cx="4203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145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5D4F1E75-FE1A-B5AE-4A29-EE9E22E56670}"/>
              </a:ext>
            </a:extLst>
          </p:cNvPr>
          <p:cNvSpPr txBox="1"/>
          <p:nvPr/>
        </p:nvSpPr>
        <p:spPr>
          <a:xfrm>
            <a:off x="1494240" y="3732461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63.05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42EB31E3-F3A2-193E-E951-57CD17B1D19A}"/>
              </a:ext>
            </a:extLst>
          </p:cNvPr>
          <p:cNvSpPr txBox="1"/>
          <p:nvPr/>
        </p:nvSpPr>
        <p:spPr>
          <a:xfrm>
            <a:off x="1913081" y="3166990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28.71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5E1F08CF-B2EC-5AAD-46A7-3DF09BB2E71E}"/>
              </a:ext>
            </a:extLst>
          </p:cNvPr>
          <p:cNvSpPr txBox="1"/>
          <p:nvPr/>
        </p:nvSpPr>
        <p:spPr>
          <a:xfrm>
            <a:off x="2388264" y="2587057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22.84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767B46F5-F5BC-6F41-7DE8-51BF156964F2}"/>
              </a:ext>
            </a:extLst>
          </p:cNvPr>
          <p:cNvSpPr txBox="1"/>
          <p:nvPr/>
        </p:nvSpPr>
        <p:spPr>
          <a:xfrm>
            <a:off x="4170938" y="3098083"/>
            <a:ext cx="10152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17.35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35830280-30EE-CDCD-DC54-E266E4F845BA}"/>
              </a:ext>
            </a:extLst>
          </p:cNvPr>
          <p:cNvSpPr txBox="1"/>
          <p:nvPr/>
        </p:nvSpPr>
        <p:spPr>
          <a:xfrm>
            <a:off x="2852498" y="2063278"/>
            <a:ext cx="9460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20.91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9B6760DB-3A75-08BC-0811-66EF473E2A03}"/>
              </a:ext>
            </a:extLst>
          </p:cNvPr>
          <p:cNvSpPr txBox="1"/>
          <p:nvPr/>
        </p:nvSpPr>
        <p:spPr>
          <a:xfrm>
            <a:off x="3292023" y="1548275"/>
            <a:ext cx="8481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14.12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007731A2-076A-D072-05B2-9021E0300168}"/>
              </a:ext>
            </a:extLst>
          </p:cNvPr>
          <p:cNvSpPr txBox="1"/>
          <p:nvPr/>
        </p:nvSpPr>
        <p:spPr>
          <a:xfrm>
            <a:off x="4176419" y="2044197"/>
            <a:ext cx="9144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13.17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D6F1794A-4466-00E7-27F9-25EEE6AFF812}"/>
              </a:ext>
            </a:extLst>
          </p:cNvPr>
          <p:cNvSpPr txBox="1"/>
          <p:nvPr/>
        </p:nvSpPr>
        <p:spPr>
          <a:xfrm>
            <a:off x="4249207" y="1389855"/>
            <a:ext cx="7942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5.84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506C3FF6-BBE2-2617-F185-86A592661691}"/>
              </a:ext>
            </a:extLst>
          </p:cNvPr>
          <p:cNvSpPr txBox="1"/>
          <p:nvPr/>
        </p:nvSpPr>
        <p:spPr>
          <a:xfrm>
            <a:off x="4240899" y="698765"/>
            <a:ext cx="8995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6.67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56CBF744-6F90-77DF-92DB-750E7F4E6A0A}"/>
              </a:ext>
            </a:extLst>
          </p:cNvPr>
          <p:cNvSpPr txBox="1"/>
          <p:nvPr/>
        </p:nvSpPr>
        <p:spPr>
          <a:xfrm>
            <a:off x="3742830" y="1010920"/>
            <a:ext cx="7770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12.73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8764550-166B-E5A4-F2E5-A30016FD82E6}"/>
              </a:ext>
            </a:extLst>
          </p:cNvPr>
          <p:cNvSpPr txBox="1"/>
          <p:nvPr/>
        </p:nvSpPr>
        <p:spPr>
          <a:xfrm>
            <a:off x="8691531" y="610260"/>
            <a:ext cx="7087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4955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355DFB3-F47C-F92A-D6E7-835912EB4AB5}"/>
              </a:ext>
            </a:extLst>
          </p:cNvPr>
          <p:cNvSpPr txBox="1"/>
          <p:nvPr/>
        </p:nvSpPr>
        <p:spPr>
          <a:xfrm>
            <a:off x="8691531" y="951261"/>
            <a:ext cx="6968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4193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8A310815-8202-F883-DDD1-68D008A082C2}"/>
              </a:ext>
            </a:extLst>
          </p:cNvPr>
          <p:cNvSpPr txBox="1"/>
          <p:nvPr/>
        </p:nvSpPr>
        <p:spPr>
          <a:xfrm>
            <a:off x="8691531" y="1292262"/>
            <a:ext cx="6850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3794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080BCB-E65A-ABC2-0CD5-1DB2C1558CDF}"/>
              </a:ext>
            </a:extLst>
          </p:cNvPr>
          <p:cNvSpPr txBox="1"/>
          <p:nvPr/>
        </p:nvSpPr>
        <p:spPr>
          <a:xfrm>
            <a:off x="8696788" y="1633263"/>
            <a:ext cx="6797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3673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008A9A4-0E16-64AB-B929-DFF119DB3382}"/>
              </a:ext>
            </a:extLst>
          </p:cNvPr>
          <p:cNvSpPr txBox="1"/>
          <p:nvPr/>
        </p:nvSpPr>
        <p:spPr>
          <a:xfrm>
            <a:off x="8696788" y="1974264"/>
            <a:ext cx="667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4619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9A1408E-19EF-E791-3B84-B5617B71BAFF}"/>
              </a:ext>
            </a:extLst>
          </p:cNvPr>
          <p:cNvSpPr txBox="1"/>
          <p:nvPr/>
        </p:nvSpPr>
        <p:spPr>
          <a:xfrm>
            <a:off x="8696788" y="2315265"/>
            <a:ext cx="6203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4031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02D5CA33-643F-ECC4-D25E-7F0EA2AEBBC2}"/>
              </a:ext>
            </a:extLst>
          </p:cNvPr>
          <p:cNvSpPr txBox="1"/>
          <p:nvPr/>
        </p:nvSpPr>
        <p:spPr>
          <a:xfrm>
            <a:off x="8707298" y="2656266"/>
            <a:ext cx="6217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4257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021EB57-3141-35C9-C4C3-3B4BF946BE22}"/>
              </a:ext>
            </a:extLst>
          </p:cNvPr>
          <p:cNvSpPr txBox="1"/>
          <p:nvPr/>
        </p:nvSpPr>
        <p:spPr>
          <a:xfrm>
            <a:off x="8707298" y="2997267"/>
            <a:ext cx="6692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2920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D67027FF-DEB3-B4F8-66B9-C16B533C434C}"/>
              </a:ext>
            </a:extLst>
          </p:cNvPr>
          <p:cNvSpPr txBox="1"/>
          <p:nvPr/>
        </p:nvSpPr>
        <p:spPr>
          <a:xfrm>
            <a:off x="8707297" y="3338268"/>
            <a:ext cx="6573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2751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7AB6F2E4-61BD-EB2F-B497-0C1C1DAD77C8}"/>
              </a:ext>
            </a:extLst>
          </p:cNvPr>
          <p:cNvSpPr txBox="1"/>
          <p:nvPr/>
        </p:nvSpPr>
        <p:spPr>
          <a:xfrm>
            <a:off x="8702044" y="3679269"/>
            <a:ext cx="6745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1532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78540F7A-759B-9668-82F3-137090497E69}"/>
              </a:ext>
            </a:extLst>
          </p:cNvPr>
          <p:cNvSpPr txBox="1"/>
          <p:nvPr/>
        </p:nvSpPr>
        <p:spPr>
          <a:xfrm>
            <a:off x="8702044" y="4020270"/>
            <a:ext cx="6745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1588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E0A2A43B-A3C8-475A-7EC5-4035FF4E4DEB}"/>
              </a:ext>
            </a:extLst>
          </p:cNvPr>
          <p:cNvSpPr txBox="1"/>
          <p:nvPr/>
        </p:nvSpPr>
        <p:spPr>
          <a:xfrm>
            <a:off x="8778245" y="4361271"/>
            <a:ext cx="6151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511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5E7F21F6-25C5-17DE-33FC-A094B06F7BED}"/>
              </a:ext>
            </a:extLst>
          </p:cNvPr>
          <p:cNvSpPr txBox="1"/>
          <p:nvPr/>
        </p:nvSpPr>
        <p:spPr>
          <a:xfrm>
            <a:off x="8598818" y="4702272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278-285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F317A4F7-715A-4E78-DDF8-75EAB4ED0117}"/>
              </a:ext>
            </a:extLst>
          </p:cNvPr>
          <p:cNvSpPr txBox="1"/>
          <p:nvPr/>
        </p:nvSpPr>
        <p:spPr>
          <a:xfrm>
            <a:off x="8860076" y="5043273"/>
            <a:ext cx="596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6497100-B62C-FECA-CE7A-3FA11331A621}"/>
              </a:ext>
            </a:extLst>
          </p:cNvPr>
          <p:cNvSpPr txBox="1"/>
          <p:nvPr/>
        </p:nvSpPr>
        <p:spPr>
          <a:xfrm>
            <a:off x="8860076" y="5384274"/>
            <a:ext cx="5728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DCA320E7-04CA-A040-D39E-E90F14204468}"/>
              </a:ext>
            </a:extLst>
          </p:cNvPr>
          <p:cNvSpPr txBox="1"/>
          <p:nvPr/>
        </p:nvSpPr>
        <p:spPr>
          <a:xfrm>
            <a:off x="8854822" y="5725275"/>
            <a:ext cx="5425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474A3AA8-7FE3-7A0B-FEF1-AEC257E19918}"/>
              </a:ext>
            </a:extLst>
          </p:cNvPr>
          <p:cNvSpPr txBox="1"/>
          <p:nvPr/>
        </p:nvSpPr>
        <p:spPr>
          <a:xfrm>
            <a:off x="8789509" y="6066276"/>
            <a:ext cx="5900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0-1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1EFBBB06-33EB-6975-D787-7B77B9CD0AEC}"/>
              </a:ext>
            </a:extLst>
          </p:cNvPr>
          <p:cNvSpPr txBox="1"/>
          <p:nvPr/>
        </p:nvSpPr>
        <p:spPr>
          <a:xfrm>
            <a:off x="8604448" y="6407276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101-658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3CD61EAF-89DA-8EF3-3EFE-22F6D26AA683}"/>
              </a:ext>
            </a:extLst>
          </p:cNvPr>
          <p:cNvSpPr txBox="1"/>
          <p:nvPr/>
        </p:nvSpPr>
        <p:spPr>
          <a:xfrm>
            <a:off x="7421234" y="5575262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Termites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CA0D268C-885A-4446-8B3C-4318EABB3FE9}"/>
              </a:ext>
            </a:extLst>
          </p:cNvPr>
          <p:cNvSpPr txBox="1"/>
          <p:nvPr/>
        </p:nvSpPr>
        <p:spPr>
          <a:xfrm>
            <a:off x="4243627" y="3770067"/>
            <a:ext cx="10152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1.81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B2AA615D-7AB6-394F-A7B7-639DCB2479A1}"/>
              </a:ext>
            </a:extLst>
          </p:cNvPr>
          <p:cNvSpPr txBox="1"/>
          <p:nvPr/>
        </p:nvSpPr>
        <p:spPr>
          <a:xfrm>
            <a:off x="209193" y="-347835"/>
            <a:ext cx="93666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Figure 1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679B2978-4A87-E13A-70C6-5CF84B24F0DE}"/>
              </a:ext>
            </a:extLst>
          </p:cNvPr>
          <p:cNvSpPr txBox="1"/>
          <p:nvPr/>
        </p:nvSpPr>
        <p:spPr>
          <a:xfrm>
            <a:off x="8689582" y="331840"/>
            <a:ext cx="16078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Total       Unique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BC0446A1-4C9F-9525-486D-62ABEDAA9494}"/>
              </a:ext>
            </a:extLst>
          </p:cNvPr>
          <p:cNvCxnSpPr>
            <a:cxnSpLocks/>
          </p:cNvCxnSpPr>
          <p:nvPr/>
        </p:nvCxnSpPr>
        <p:spPr>
          <a:xfrm>
            <a:off x="9433248" y="456402"/>
            <a:ext cx="0" cy="6243902"/>
          </a:xfrm>
          <a:prstGeom prst="line">
            <a:avLst/>
          </a:prstGeom>
          <a:ln w="12700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891E2091-3360-F3E6-970A-FDCB784E7A77}"/>
              </a:ext>
            </a:extLst>
          </p:cNvPr>
          <p:cNvSpPr txBox="1"/>
          <p:nvPr/>
        </p:nvSpPr>
        <p:spPr>
          <a:xfrm>
            <a:off x="9556516" y="598559"/>
            <a:ext cx="7087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4900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CE31F258-6372-C6EC-2F15-C261DE0FF40A}"/>
              </a:ext>
            </a:extLst>
          </p:cNvPr>
          <p:cNvSpPr txBox="1"/>
          <p:nvPr/>
        </p:nvSpPr>
        <p:spPr>
          <a:xfrm>
            <a:off x="9556516" y="939560"/>
            <a:ext cx="6968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4117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13DD459D-A9C9-F07C-FAF9-0B93E6D0A4E4}"/>
              </a:ext>
            </a:extLst>
          </p:cNvPr>
          <p:cNvSpPr txBox="1"/>
          <p:nvPr/>
        </p:nvSpPr>
        <p:spPr>
          <a:xfrm>
            <a:off x="9556516" y="1280561"/>
            <a:ext cx="6850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3766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926C908A-7574-C669-8A23-A93AF995A83D}"/>
              </a:ext>
            </a:extLst>
          </p:cNvPr>
          <p:cNvSpPr txBox="1"/>
          <p:nvPr/>
        </p:nvSpPr>
        <p:spPr>
          <a:xfrm>
            <a:off x="9561773" y="1621562"/>
            <a:ext cx="6797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3637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C73E358D-3FC0-0CFD-F342-E7256759D513}"/>
              </a:ext>
            </a:extLst>
          </p:cNvPr>
          <p:cNvSpPr txBox="1"/>
          <p:nvPr/>
        </p:nvSpPr>
        <p:spPr>
          <a:xfrm>
            <a:off x="9561773" y="1962563"/>
            <a:ext cx="667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4561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C5578FBB-5963-EC3E-4CF9-6E92EB441321}"/>
              </a:ext>
            </a:extLst>
          </p:cNvPr>
          <p:cNvSpPr txBox="1"/>
          <p:nvPr/>
        </p:nvSpPr>
        <p:spPr>
          <a:xfrm>
            <a:off x="9561773" y="2303564"/>
            <a:ext cx="6203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3926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BF51C63F-1EEC-003B-79C0-F7A7B84C39DB}"/>
              </a:ext>
            </a:extLst>
          </p:cNvPr>
          <p:cNvSpPr txBox="1"/>
          <p:nvPr/>
        </p:nvSpPr>
        <p:spPr>
          <a:xfrm>
            <a:off x="9572283" y="2644565"/>
            <a:ext cx="6217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4226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778484D5-ABDF-240E-DAAD-5EAACD89DF10}"/>
              </a:ext>
            </a:extLst>
          </p:cNvPr>
          <p:cNvSpPr txBox="1"/>
          <p:nvPr/>
        </p:nvSpPr>
        <p:spPr>
          <a:xfrm>
            <a:off x="9572283" y="2985566"/>
            <a:ext cx="6692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2845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BF0CA5AB-7099-E965-C899-2004E76050F5}"/>
              </a:ext>
            </a:extLst>
          </p:cNvPr>
          <p:cNvSpPr txBox="1"/>
          <p:nvPr/>
        </p:nvSpPr>
        <p:spPr>
          <a:xfrm>
            <a:off x="9572282" y="3326567"/>
            <a:ext cx="6573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2705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CA1536B8-E4EC-E253-D1EC-74A295E5F9CE}"/>
              </a:ext>
            </a:extLst>
          </p:cNvPr>
          <p:cNvSpPr txBox="1"/>
          <p:nvPr/>
        </p:nvSpPr>
        <p:spPr>
          <a:xfrm>
            <a:off x="9567029" y="3667568"/>
            <a:ext cx="6745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1499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6602CE50-EAB2-5491-8447-C83EBD11A2FB}"/>
              </a:ext>
            </a:extLst>
          </p:cNvPr>
          <p:cNvSpPr txBox="1"/>
          <p:nvPr/>
        </p:nvSpPr>
        <p:spPr>
          <a:xfrm>
            <a:off x="9567029" y="4008569"/>
            <a:ext cx="6745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1575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E7D102AA-872A-26EC-FA11-029089DAAD9E}"/>
              </a:ext>
            </a:extLst>
          </p:cNvPr>
          <p:cNvSpPr txBox="1"/>
          <p:nvPr/>
        </p:nvSpPr>
        <p:spPr>
          <a:xfrm>
            <a:off x="9632342" y="4349570"/>
            <a:ext cx="6151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506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7F563DE4-7687-28E8-B53E-377BCB5A65E4}"/>
              </a:ext>
            </a:extLst>
          </p:cNvPr>
          <p:cNvSpPr txBox="1"/>
          <p:nvPr/>
        </p:nvSpPr>
        <p:spPr>
          <a:xfrm>
            <a:off x="9452915" y="4690571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277-280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F476B617-0D7D-486E-0FF1-3CA69FC4AADC}"/>
              </a:ext>
            </a:extLst>
          </p:cNvPr>
          <p:cNvSpPr txBox="1"/>
          <p:nvPr/>
        </p:nvSpPr>
        <p:spPr>
          <a:xfrm>
            <a:off x="9703289" y="5031572"/>
            <a:ext cx="596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44C1AE19-C43E-E915-34A9-3FAE316A8AD3}"/>
              </a:ext>
            </a:extLst>
          </p:cNvPr>
          <p:cNvSpPr txBox="1"/>
          <p:nvPr/>
        </p:nvSpPr>
        <p:spPr>
          <a:xfrm>
            <a:off x="9703289" y="5372573"/>
            <a:ext cx="5728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6A256967-B1FF-974D-E8E9-17A2CF86134A}"/>
              </a:ext>
            </a:extLst>
          </p:cNvPr>
          <p:cNvSpPr txBox="1"/>
          <p:nvPr/>
        </p:nvSpPr>
        <p:spPr>
          <a:xfrm>
            <a:off x="9698035" y="5713574"/>
            <a:ext cx="5425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C6EA70B-DFC0-A880-691A-44CCD7983927}"/>
              </a:ext>
            </a:extLst>
          </p:cNvPr>
          <p:cNvSpPr txBox="1"/>
          <p:nvPr/>
        </p:nvSpPr>
        <p:spPr>
          <a:xfrm>
            <a:off x="9643608" y="6054575"/>
            <a:ext cx="5900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0-1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9903417F-55C4-2278-1033-B6C7FDACFFA9}"/>
              </a:ext>
            </a:extLst>
          </p:cNvPr>
          <p:cNvSpPr txBox="1"/>
          <p:nvPr/>
        </p:nvSpPr>
        <p:spPr>
          <a:xfrm>
            <a:off x="9480318" y="6406327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93-644</a:t>
            </a:r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A47BAC27-4633-CCDD-D8ED-7A056CA7F0CC}"/>
              </a:ext>
            </a:extLst>
          </p:cNvPr>
          <p:cNvCxnSpPr/>
          <p:nvPr/>
        </p:nvCxnSpPr>
        <p:spPr>
          <a:xfrm>
            <a:off x="7402464" y="777321"/>
            <a:ext cx="1277343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B016532C-629E-5AD1-CBE3-1CA9425AE050}"/>
              </a:ext>
            </a:extLst>
          </p:cNvPr>
          <p:cNvCxnSpPr/>
          <p:nvPr/>
        </p:nvCxnSpPr>
        <p:spPr>
          <a:xfrm>
            <a:off x="8341041" y="1121964"/>
            <a:ext cx="36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586EB141-1A3E-CE41-F73F-7D4084A01F71}"/>
              </a:ext>
            </a:extLst>
          </p:cNvPr>
          <p:cNvCxnSpPr/>
          <p:nvPr/>
        </p:nvCxnSpPr>
        <p:spPr>
          <a:xfrm>
            <a:off x="6830431" y="1456582"/>
            <a:ext cx="187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AFD0A89D-76AB-577D-D503-E09CA4BC7245}"/>
              </a:ext>
            </a:extLst>
          </p:cNvPr>
          <p:cNvCxnSpPr/>
          <p:nvPr/>
        </p:nvCxnSpPr>
        <p:spPr>
          <a:xfrm>
            <a:off x="7495229" y="1799307"/>
            <a:ext cx="12348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BFF4A8BE-27EA-5F5E-2407-C4FAE950FD39}"/>
              </a:ext>
            </a:extLst>
          </p:cNvPr>
          <p:cNvCxnSpPr/>
          <p:nvPr/>
        </p:nvCxnSpPr>
        <p:spPr>
          <a:xfrm>
            <a:off x="7306387" y="2134494"/>
            <a:ext cx="1404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07717904-8B2E-6E2B-4788-18FA794E6D34}"/>
              </a:ext>
            </a:extLst>
          </p:cNvPr>
          <p:cNvCxnSpPr/>
          <p:nvPr/>
        </p:nvCxnSpPr>
        <p:spPr>
          <a:xfrm>
            <a:off x="7906043" y="2485100"/>
            <a:ext cx="8028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D73B2FEE-6517-FC27-5497-5DF42F4B4BB5}"/>
              </a:ext>
            </a:extLst>
          </p:cNvPr>
          <p:cNvCxnSpPr/>
          <p:nvPr/>
        </p:nvCxnSpPr>
        <p:spPr>
          <a:xfrm>
            <a:off x="7120861" y="2830226"/>
            <a:ext cx="162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5083A4DD-77CF-2F51-536C-1B54774824DD}"/>
              </a:ext>
            </a:extLst>
          </p:cNvPr>
          <p:cNvCxnSpPr/>
          <p:nvPr/>
        </p:nvCxnSpPr>
        <p:spPr>
          <a:xfrm>
            <a:off x="6690165" y="3168148"/>
            <a:ext cx="205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3E0CFA2C-E1F4-A1F7-8F3E-A2CE405AB172}"/>
              </a:ext>
            </a:extLst>
          </p:cNvPr>
          <p:cNvCxnSpPr/>
          <p:nvPr/>
        </p:nvCxnSpPr>
        <p:spPr>
          <a:xfrm>
            <a:off x="7157307" y="3502767"/>
            <a:ext cx="1565999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8FF5975B-BE45-DC27-BDD8-D729D298F300}"/>
              </a:ext>
            </a:extLst>
          </p:cNvPr>
          <p:cNvCxnSpPr/>
          <p:nvPr/>
        </p:nvCxnSpPr>
        <p:spPr>
          <a:xfrm>
            <a:off x="6726626" y="3854480"/>
            <a:ext cx="2015999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DD51CDCF-BED2-5AE8-B297-080E2F76C9EF}"/>
              </a:ext>
            </a:extLst>
          </p:cNvPr>
          <p:cNvCxnSpPr/>
          <p:nvPr/>
        </p:nvCxnSpPr>
        <p:spPr>
          <a:xfrm>
            <a:off x="6413247" y="4190586"/>
            <a:ext cx="234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BF85C512-1FED-A555-A8F2-3A71F6CDA42F}"/>
              </a:ext>
            </a:extLst>
          </p:cNvPr>
          <p:cNvCxnSpPr/>
          <p:nvPr/>
        </p:nvCxnSpPr>
        <p:spPr>
          <a:xfrm>
            <a:off x="6824926" y="4529117"/>
            <a:ext cx="198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F4A51CA4-CD01-EF00-5A39-9DC6E6A03213}"/>
              </a:ext>
            </a:extLst>
          </p:cNvPr>
          <p:cNvCxnSpPr/>
          <p:nvPr/>
        </p:nvCxnSpPr>
        <p:spPr>
          <a:xfrm>
            <a:off x="6818300" y="4871844"/>
            <a:ext cx="180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C217FF9A-6E7E-DAE1-7DDD-B06111C39B4F}"/>
              </a:ext>
            </a:extLst>
          </p:cNvPr>
          <p:cNvCxnSpPr/>
          <p:nvPr/>
        </p:nvCxnSpPr>
        <p:spPr>
          <a:xfrm>
            <a:off x="7421234" y="5207218"/>
            <a:ext cx="144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A51874E9-A5D6-0102-3E09-68C038FCA432}"/>
              </a:ext>
            </a:extLst>
          </p:cNvPr>
          <p:cNvCxnSpPr/>
          <p:nvPr/>
        </p:nvCxnSpPr>
        <p:spPr>
          <a:xfrm>
            <a:off x="7421234" y="5541534"/>
            <a:ext cx="144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769F13F4-E857-45EE-DCF4-BBC199A1A343}"/>
              </a:ext>
            </a:extLst>
          </p:cNvPr>
          <p:cNvCxnSpPr/>
          <p:nvPr/>
        </p:nvCxnSpPr>
        <p:spPr>
          <a:xfrm>
            <a:off x="7421234" y="5898041"/>
            <a:ext cx="144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1A56A286-C003-61DD-05DA-356D548B5266}"/>
              </a:ext>
            </a:extLst>
          </p:cNvPr>
          <p:cNvCxnSpPr/>
          <p:nvPr/>
        </p:nvCxnSpPr>
        <p:spPr>
          <a:xfrm>
            <a:off x="7421234" y="6213722"/>
            <a:ext cx="1386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BF6B8045-D823-28C4-EC53-2E531E9E297A}"/>
              </a:ext>
            </a:extLst>
          </p:cNvPr>
          <p:cNvCxnSpPr/>
          <p:nvPr/>
        </p:nvCxnSpPr>
        <p:spPr>
          <a:xfrm>
            <a:off x="7055637" y="6565199"/>
            <a:ext cx="1584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037483FA-3B88-B7AD-D1C4-48A157BA61BF}"/>
              </a:ext>
            </a:extLst>
          </p:cNvPr>
          <p:cNvSpPr/>
          <p:nvPr/>
        </p:nvSpPr>
        <p:spPr>
          <a:xfrm>
            <a:off x="7278028" y="5162103"/>
            <a:ext cx="159026" cy="1147712"/>
          </a:xfrm>
          <a:prstGeom prst="rightBrac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7257006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2D0B2C-8997-3B77-D0B7-90194BFA25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extBox 6">
            <a:extLst>
              <a:ext uri="{FF2B5EF4-FFF2-40B4-BE49-F238E27FC236}">
                <a16:creationId xmlns:a16="http://schemas.microsoft.com/office/drawing/2014/main" id="{C13A08DC-4E7C-ACEA-DA40-79967C6D60F8}"/>
              </a:ext>
            </a:extLst>
          </p:cNvPr>
          <p:cNvSpPr txBox="1"/>
          <p:nvPr/>
        </p:nvSpPr>
        <p:spPr>
          <a:xfrm>
            <a:off x="5140510" y="615171"/>
            <a:ext cx="3710354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Macropanesthia lithgowae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E61C15C-82B5-2E78-31DF-44822DA663D1}"/>
              </a:ext>
            </a:extLst>
          </p:cNvPr>
          <p:cNvSpPr txBox="1"/>
          <p:nvPr/>
        </p:nvSpPr>
        <p:spPr>
          <a:xfrm>
            <a:off x="5140510" y="957898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tryoni tryoni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(Kroombit Tops)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528889B-98CA-AFA7-A53B-3203E07C09B7}"/>
              </a:ext>
            </a:extLst>
          </p:cNvPr>
          <p:cNvSpPr txBox="1"/>
          <p:nvPr/>
        </p:nvSpPr>
        <p:spPr>
          <a:xfrm>
            <a:off x="5140509" y="1300625"/>
            <a:ext cx="42251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gigantea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4F3BDC3-F633-D58E-B70D-EF577AE84AEF}"/>
              </a:ext>
            </a:extLst>
          </p:cNvPr>
          <p:cNvSpPr txBox="1"/>
          <p:nvPr/>
        </p:nvSpPr>
        <p:spPr>
          <a:xfrm>
            <a:off x="5140509" y="1643352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tryoni tegminifera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1CB949F2-1381-3A14-3019-79CDCF5C5F07}"/>
              </a:ext>
            </a:extLst>
          </p:cNvPr>
          <p:cNvSpPr txBox="1"/>
          <p:nvPr/>
        </p:nvSpPr>
        <p:spPr>
          <a:xfrm>
            <a:off x="5140509" y="1986079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Neogeoscapheus dahmsi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70FED22D-A9DF-17E8-8B9B-7560C48FCBBE}"/>
              </a:ext>
            </a:extLst>
          </p:cNvPr>
          <p:cNvSpPr txBox="1"/>
          <p:nvPr/>
        </p:nvSpPr>
        <p:spPr>
          <a:xfrm>
            <a:off x="5140509" y="2328806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tryoni tryoni </a:t>
            </a:r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(Eungella)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7C47FE-0E36-A0F1-6550-3596011E069C}"/>
              </a:ext>
            </a:extLst>
          </p:cNvPr>
          <p:cNvSpPr txBox="1"/>
          <p:nvPr/>
        </p:nvSpPr>
        <p:spPr>
          <a:xfrm>
            <a:off x="5140509" y="2671533"/>
            <a:ext cx="32413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Geoscapheus dilatatus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A5625E3F-004A-D57C-21E7-88E8BD591F23}"/>
              </a:ext>
            </a:extLst>
          </p:cNvPr>
          <p:cNvSpPr txBox="1"/>
          <p:nvPr/>
        </p:nvSpPr>
        <p:spPr>
          <a:xfrm>
            <a:off x="5140509" y="3014260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sloanei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BDEDAF99-4224-2760-059D-9DFBD97ED5FB}"/>
              </a:ext>
            </a:extLst>
          </p:cNvPr>
          <p:cNvSpPr txBox="1"/>
          <p:nvPr/>
        </p:nvSpPr>
        <p:spPr>
          <a:xfrm>
            <a:off x="5140509" y="3356987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Neogeoscapheus hanni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E369BB4-1A07-64BE-D6B0-116521B77B35}"/>
              </a:ext>
            </a:extLst>
          </p:cNvPr>
          <p:cNvSpPr txBox="1"/>
          <p:nvPr/>
        </p:nvSpPr>
        <p:spPr>
          <a:xfrm>
            <a:off x="5128732" y="4042441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lata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FF748A0E-1E47-0A80-FF4D-4FBDED167168}"/>
              </a:ext>
            </a:extLst>
          </p:cNvPr>
          <p:cNvSpPr txBox="1"/>
          <p:nvPr/>
        </p:nvSpPr>
        <p:spPr>
          <a:xfrm>
            <a:off x="5140509" y="3699714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Panesthia cribrata</a:t>
            </a:r>
            <a:endParaRPr lang="en-US" sz="14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737AF6C3-7298-0FBB-4AA5-8C2BEE3FB73B}"/>
              </a:ext>
            </a:extLst>
          </p:cNvPr>
          <p:cNvSpPr txBox="1"/>
          <p:nvPr/>
        </p:nvSpPr>
        <p:spPr>
          <a:xfrm>
            <a:off x="5140509" y="4385168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Diploptera punctata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E5F6BC6F-E221-7CFF-97DF-9684A33A8A28}"/>
              </a:ext>
            </a:extLst>
          </p:cNvPr>
          <p:cNvSpPr txBox="1"/>
          <p:nvPr/>
        </p:nvSpPr>
        <p:spPr>
          <a:xfrm>
            <a:off x="5140509" y="4727895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Blattella germanica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E90BD170-C903-28D4-D5B3-1B16AB98C4B6}"/>
              </a:ext>
            </a:extLst>
          </p:cNvPr>
          <p:cNvSpPr txBox="1"/>
          <p:nvPr/>
        </p:nvSpPr>
        <p:spPr>
          <a:xfrm>
            <a:off x="5128732" y="6392527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Periplaneta americana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8984C961-DE3F-B544-255C-1297A3FFA4D6}"/>
              </a:ext>
            </a:extLst>
          </p:cNvPr>
          <p:cNvSpPr txBox="1"/>
          <p:nvPr/>
        </p:nvSpPr>
        <p:spPr>
          <a:xfrm>
            <a:off x="5128732" y="6065621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Zootermopsis nevadensis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03ECD054-15C5-5A85-83C3-06246CAC851B}"/>
              </a:ext>
            </a:extLst>
          </p:cNvPr>
          <p:cNvSpPr txBox="1"/>
          <p:nvPr/>
        </p:nvSpPr>
        <p:spPr>
          <a:xfrm>
            <a:off x="5127526" y="5070848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Reticulitermes lucifugus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88EF7292-6BF8-C5DE-0A47-396728D0E008}"/>
              </a:ext>
            </a:extLst>
          </p:cNvPr>
          <p:cNvSpPr txBox="1"/>
          <p:nvPr/>
        </p:nvSpPr>
        <p:spPr>
          <a:xfrm>
            <a:off x="5125974" y="5738715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Cryptotermes secundus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3B106A1F-EB75-5B97-C19B-82161FA148C1}"/>
              </a:ext>
            </a:extLst>
          </p:cNvPr>
          <p:cNvSpPr txBox="1"/>
          <p:nvPr/>
        </p:nvSpPr>
        <p:spPr>
          <a:xfrm>
            <a:off x="5121739" y="5388532"/>
            <a:ext cx="456145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i="1" dirty="0">
                <a:latin typeface="Arial" panose="020B0604020202020204" pitchFamily="34" charset="0"/>
                <a:cs typeface="Arial" panose="020B0604020202020204" pitchFamily="34" charset="0"/>
              </a:rPr>
              <a:t>Coptotermes formosanus</a:t>
            </a:r>
          </a:p>
        </p:txBody>
      </p: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5B4488F3-4B61-0DC8-B3BD-4AE9DFBF5431}"/>
              </a:ext>
            </a:extLst>
          </p:cNvPr>
          <p:cNvCxnSpPr/>
          <p:nvPr/>
        </p:nvCxnSpPr>
        <p:spPr>
          <a:xfrm flipH="1">
            <a:off x="4654476" y="780634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C10F5F3B-0A98-0BB0-81E9-CCF66F290560}"/>
              </a:ext>
            </a:extLst>
          </p:cNvPr>
          <p:cNvCxnSpPr/>
          <p:nvPr/>
        </p:nvCxnSpPr>
        <p:spPr>
          <a:xfrm flipH="1">
            <a:off x="4654678" y="112336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traight Connector 31">
            <a:extLst>
              <a:ext uri="{FF2B5EF4-FFF2-40B4-BE49-F238E27FC236}">
                <a16:creationId xmlns:a16="http://schemas.microsoft.com/office/drawing/2014/main" id="{46158331-4A06-7029-8493-7B3F837D6B26}"/>
              </a:ext>
            </a:extLst>
          </p:cNvPr>
          <p:cNvCxnSpPr>
            <a:cxnSpLocks/>
          </p:cNvCxnSpPr>
          <p:nvPr/>
        </p:nvCxnSpPr>
        <p:spPr>
          <a:xfrm>
            <a:off x="4666350" y="780634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Connector 34">
            <a:extLst>
              <a:ext uri="{FF2B5EF4-FFF2-40B4-BE49-F238E27FC236}">
                <a16:creationId xmlns:a16="http://schemas.microsoft.com/office/drawing/2014/main" id="{A51AC26C-3CFD-237B-C98E-4DB794E17DBE}"/>
              </a:ext>
            </a:extLst>
          </p:cNvPr>
          <p:cNvCxnSpPr/>
          <p:nvPr/>
        </p:nvCxnSpPr>
        <p:spPr>
          <a:xfrm flipH="1">
            <a:off x="4654476" y="145451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6" name="Straight Connector 35">
            <a:extLst>
              <a:ext uri="{FF2B5EF4-FFF2-40B4-BE49-F238E27FC236}">
                <a16:creationId xmlns:a16="http://schemas.microsoft.com/office/drawing/2014/main" id="{FC3A23B2-A54A-56F3-EE1F-CF0DC562B1ED}"/>
              </a:ext>
            </a:extLst>
          </p:cNvPr>
          <p:cNvCxnSpPr/>
          <p:nvPr/>
        </p:nvCxnSpPr>
        <p:spPr>
          <a:xfrm flipH="1">
            <a:off x="4654678" y="179724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3F92DEDE-D7ED-CF9B-BF99-9B3975C0FFC6}"/>
              </a:ext>
            </a:extLst>
          </p:cNvPr>
          <p:cNvCxnSpPr>
            <a:cxnSpLocks/>
          </p:cNvCxnSpPr>
          <p:nvPr/>
        </p:nvCxnSpPr>
        <p:spPr>
          <a:xfrm>
            <a:off x="4666350" y="1454513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B4F0CB45-CFBC-14B1-499B-C26B1632B145}"/>
              </a:ext>
            </a:extLst>
          </p:cNvPr>
          <p:cNvCxnSpPr/>
          <p:nvPr/>
        </p:nvCxnSpPr>
        <p:spPr>
          <a:xfrm flipH="1">
            <a:off x="4215543" y="947164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Straight Connector 38">
            <a:extLst>
              <a:ext uri="{FF2B5EF4-FFF2-40B4-BE49-F238E27FC236}">
                <a16:creationId xmlns:a16="http://schemas.microsoft.com/office/drawing/2014/main" id="{C15DB561-27DD-F427-43E8-4EBBAA63F639}"/>
              </a:ext>
            </a:extLst>
          </p:cNvPr>
          <p:cNvCxnSpPr/>
          <p:nvPr/>
        </p:nvCxnSpPr>
        <p:spPr>
          <a:xfrm flipH="1">
            <a:off x="4223963" y="161236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506B9502-BAAC-085A-3BD1-B2D1C806E4ED}"/>
              </a:ext>
            </a:extLst>
          </p:cNvPr>
          <p:cNvCxnSpPr>
            <a:cxnSpLocks/>
          </p:cNvCxnSpPr>
          <p:nvPr/>
        </p:nvCxnSpPr>
        <p:spPr>
          <a:xfrm>
            <a:off x="4227417" y="939248"/>
            <a:ext cx="0" cy="68267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Connector 42">
            <a:extLst>
              <a:ext uri="{FF2B5EF4-FFF2-40B4-BE49-F238E27FC236}">
                <a16:creationId xmlns:a16="http://schemas.microsoft.com/office/drawing/2014/main" id="{CA23621A-3D71-65D9-621B-59BB0E79193C}"/>
              </a:ext>
            </a:extLst>
          </p:cNvPr>
          <p:cNvCxnSpPr/>
          <p:nvPr/>
        </p:nvCxnSpPr>
        <p:spPr>
          <a:xfrm flipH="1">
            <a:off x="4654475" y="2134494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Straight Connector 43">
            <a:extLst>
              <a:ext uri="{FF2B5EF4-FFF2-40B4-BE49-F238E27FC236}">
                <a16:creationId xmlns:a16="http://schemas.microsoft.com/office/drawing/2014/main" id="{C4438DA0-BFB5-8BA8-CED5-BF85C04153BD}"/>
              </a:ext>
            </a:extLst>
          </p:cNvPr>
          <p:cNvCxnSpPr/>
          <p:nvPr/>
        </p:nvCxnSpPr>
        <p:spPr>
          <a:xfrm flipH="1">
            <a:off x="4654677" y="247722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Straight Connector 44">
            <a:extLst>
              <a:ext uri="{FF2B5EF4-FFF2-40B4-BE49-F238E27FC236}">
                <a16:creationId xmlns:a16="http://schemas.microsoft.com/office/drawing/2014/main" id="{BD84C9BE-8B9D-030F-BB51-09462B3033F9}"/>
              </a:ext>
            </a:extLst>
          </p:cNvPr>
          <p:cNvCxnSpPr>
            <a:cxnSpLocks/>
          </p:cNvCxnSpPr>
          <p:nvPr/>
        </p:nvCxnSpPr>
        <p:spPr>
          <a:xfrm>
            <a:off x="4666349" y="2134494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Straight Connector 45">
            <a:extLst>
              <a:ext uri="{FF2B5EF4-FFF2-40B4-BE49-F238E27FC236}">
                <a16:creationId xmlns:a16="http://schemas.microsoft.com/office/drawing/2014/main" id="{AAC654AD-C5AC-97A3-C714-A34A5AB6EDA6}"/>
              </a:ext>
            </a:extLst>
          </p:cNvPr>
          <p:cNvCxnSpPr>
            <a:cxnSpLocks/>
          </p:cNvCxnSpPr>
          <p:nvPr/>
        </p:nvCxnSpPr>
        <p:spPr>
          <a:xfrm flipH="1">
            <a:off x="3775232" y="2292341"/>
            <a:ext cx="89953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Straight Connector 46">
            <a:extLst>
              <a:ext uri="{FF2B5EF4-FFF2-40B4-BE49-F238E27FC236}">
                <a16:creationId xmlns:a16="http://schemas.microsoft.com/office/drawing/2014/main" id="{B175F652-FAF3-025C-A4D5-7A9E7EB14086}"/>
              </a:ext>
            </a:extLst>
          </p:cNvPr>
          <p:cNvCxnSpPr/>
          <p:nvPr/>
        </p:nvCxnSpPr>
        <p:spPr>
          <a:xfrm flipH="1">
            <a:off x="3764736" y="1257628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Connector 47">
            <a:extLst>
              <a:ext uri="{FF2B5EF4-FFF2-40B4-BE49-F238E27FC236}">
                <a16:creationId xmlns:a16="http://schemas.microsoft.com/office/drawing/2014/main" id="{B49528B7-64EB-6C38-EA7F-865C8E913892}"/>
              </a:ext>
            </a:extLst>
          </p:cNvPr>
          <p:cNvCxnSpPr>
            <a:cxnSpLocks/>
          </p:cNvCxnSpPr>
          <p:nvPr/>
        </p:nvCxnSpPr>
        <p:spPr>
          <a:xfrm>
            <a:off x="3775232" y="1254203"/>
            <a:ext cx="0" cy="103813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Straight Connector 50">
            <a:extLst>
              <a:ext uri="{FF2B5EF4-FFF2-40B4-BE49-F238E27FC236}">
                <a16:creationId xmlns:a16="http://schemas.microsoft.com/office/drawing/2014/main" id="{24DA60D0-0E41-682F-7200-63B37DE41331}"/>
              </a:ext>
            </a:extLst>
          </p:cNvPr>
          <p:cNvCxnSpPr/>
          <p:nvPr/>
        </p:nvCxnSpPr>
        <p:spPr>
          <a:xfrm flipH="1">
            <a:off x="3313929" y="1773152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Connector 51">
            <a:extLst>
              <a:ext uri="{FF2B5EF4-FFF2-40B4-BE49-F238E27FC236}">
                <a16:creationId xmlns:a16="http://schemas.microsoft.com/office/drawing/2014/main" id="{03C978D8-034C-4EEE-D83F-66E281B77DDE}"/>
              </a:ext>
            </a:extLst>
          </p:cNvPr>
          <p:cNvCxnSpPr>
            <a:cxnSpLocks/>
          </p:cNvCxnSpPr>
          <p:nvPr/>
        </p:nvCxnSpPr>
        <p:spPr>
          <a:xfrm flipH="1">
            <a:off x="3331290" y="2848667"/>
            <a:ext cx="1762923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Connector 52">
            <a:extLst>
              <a:ext uri="{FF2B5EF4-FFF2-40B4-BE49-F238E27FC236}">
                <a16:creationId xmlns:a16="http://schemas.microsoft.com/office/drawing/2014/main" id="{BFD884E1-058D-2A8B-2229-0A05D6AC49F0}"/>
              </a:ext>
            </a:extLst>
          </p:cNvPr>
          <p:cNvCxnSpPr>
            <a:cxnSpLocks/>
          </p:cNvCxnSpPr>
          <p:nvPr/>
        </p:nvCxnSpPr>
        <p:spPr>
          <a:xfrm>
            <a:off x="3325503" y="1761578"/>
            <a:ext cx="0" cy="109518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Connector 55">
            <a:extLst>
              <a:ext uri="{FF2B5EF4-FFF2-40B4-BE49-F238E27FC236}">
                <a16:creationId xmlns:a16="http://schemas.microsoft.com/office/drawing/2014/main" id="{925B1F79-3192-FA19-9955-3C8CF02BD641}"/>
              </a:ext>
            </a:extLst>
          </p:cNvPr>
          <p:cNvCxnSpPr/>
          <p:nvPr/>
        </p:nvCxnSpPr>
        <p:spPr>
          <a:xfrm flipH="1">
            <a:off x="4648988" y="317122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Connector 56">
            <a:extLst>
              <a:ext uri="{FF2B5EF4-FFF2-40B4-BE49-F238E27FC236}">
                <a16:creationId xmlns:a16="http://schemas.microsoft.com/office/drawing/2014/main" id="{B2130E16-C93C-E23E-AE85-8ABE80B43C2A}"/>
              </a:ext>
            </a:extLst>
          </p:cNvPr>
          <p:cNvCxnSpPr/>
          <p:nvPr/>
        </p:nvCxnSpPr>
        <p:spPr>
          <a:xfrm flipH="1">
            <a:off x="4649190" y="351395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Connector 57">
            <a:extLst>
              <a:ext uri="{FF2B5EF4-FFF2-40B4-BE49-F238E27FC236}">
                <a16:creationId xmlns:a16="http://schemas.microsoft.com/office/drawing/2014/main" id="{805A4A48-A68A-203D-8F6F-CCD9D673FE5B}"/>
              </a:ext>
            </a:extLst>
          </p:cNvPr>
          <p:cNvCxnSpPr>
            <a:cxnSpLocks/>
          </p:cNvCxnSpPr>
          <p:nvPr/>
        </p:nvCxnSpPr>
        <p:spPr>
          <a:xfrm>
            <a:off x="4660862" y="3171223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9" name="Straight Connector 58">
            <a:extLst>
              <a:ext uri="{FF2B5EF4-FFF2-40B4-BE49-F238E27FC236}">
                <a16:creationId xmlns:a16="http://schemas.microsoft.com/office/drawing/2014/main" id="{B81BBBC6-B308-A423-B396-3B1986F3726A}"/>
              </a:ext>
            </a:extLst>
          </p:cNvPr>
          <p:cNvCxnSpPr>
            <a:cxnSpLocks/>
          </p:cNvCxnSpPr>
          <p:nvPr/>
        </p:nvCxnSpPr>
        <p:spPr>
          <a:xfrm flipH="1">
            <a:off x="2874696" y="3329070"/>
            <a:ext cx="1794586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Straight Connector 60">
            <a:extLst>
              <a:ext uri="{FF2B5EF4-FFF2-40B4-BE49-F238E27FC236}">
                <a16:creationId xmlns:a16="http://schemas.microsoft.com/office/drawing/2014/main" id="{CA5309B1-3A31-A6CC-4F73-41AF20F7703C}"/>
              </a:ext>
            </a:extLst>
          </p:cNvPr>
          <p:cNvCxnSpPr/>
          <p:nvPr/>
        </p:nvCxnSpPr>
        <p:spPr>
          <a:xfrm flipH="1">
            <a:off x="2874696" y="2306405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Straight Connector 61">
            <a:extLst>
              <a:ext uri="{FF2B5EF4-FFF2-40B4-BE49-F238E27FC236}">
                <a16:creationId xmlns:a16="http://schemas.microsoft.com/office/drawing/2014/main" id="{C73BFA7E-E807-32DF-6366-02B244FF19EE}"/>
              </a:ext>
            </a:extLst>
          </p:cNvPr>
          <p:cNvCxnSpPr>
            <a:cxnSpLocks/>
          </p:cNvCxnSpPr>
          <p:nvPr/>
        </p:nvCxnSpPr>
        <p:spPr>
          <a:xfrm>
            <a:off x="2880483" y="2295285"/>
            <a:ext cx="0" cy="1047301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7" name="Straight Connector 66">
            <a:extLst>
              <a:ext uri="{FF2B5EF4-FFF2-40B4-BE49-F238E27FC236}">
                <a16:creationId xmlns:a16="http://schemas.microsoft.com/office/drawing/2014/main" id="{E63815ED-7DE3-F882-6BF9-019D0D3CB1FB}"/>
              </a:ext>
            </a:extLst>
          </p:cNvPr>
          <p:cNvCxnSpPr/>
          <p:nvPr/>
        </p:nvCxnSpPr>
        <p:spPr>
          <a:xfrm flipH="1">
            <a:off x="2423889" y="2818935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8" name="Straight Connector 67">
            <a:extLst>
              <a:ext uri="{FF2B5EF4-FFF2-40B4-BE49-F238E27FC236}">
                <a16:creationId xmlns:a16="http://schemas.microsoft.com/office/drawing/2014/main" id="{F3FA3B94-6669-767F-E862-1B9BA339304C}"/>
              </a:ext>
            </a:extLst>
          </p:cNvPr>
          <p:cNvCxnSpPr/>
          <p:nvPr/>
        </p:nvCxnSpPr>
        <p:spPr>
          <a:xfrm flipH="1">
            <a:off x="4643406" y="3853602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9" name="Straight Connector 68">
            <a:extLst>
              <a:ext uri="{FF2B5EF4-FFF2-40B4-BE49-F238E27FC236}">
                <a16:creationId xmlns:a16="http://schemas.microsoft.com/office/drawing/2014/main" id="{99D760D4-E829-BBB1-849C-291465CB01A3}"/>
              </a:ext>
            </a:extLst>
          </p:cNvPr>
          <p:cNvCxnSpPr/>
          <p:nvPr/>
        </p:nvCxnSpPr>
        <p:spPr>
          <a:xfrm flipH="1">
            <a:off x="4643608" y="4196329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0" name="Straight Connector 69">
            <a:extLst>
              <a:ext uri="{FF2B5EF4-FFF2-40B4-BE49-F238E27FC236}">
                <a16:creationId xmlns:a16="http://schemas.microsoft.com/office/drawing/2014/main" id="{8F1B0A73-D14B-4786-9545-919CF8ECCE24}"/>
              </a:ext>
            </a:extLst>
          </p:cNvPr>
          <p:cNvCxnSpPr>
            <a:cxnSpLocks/>
          </p:cNvCxnSpPr>
          <p:nvPr/>
        </p:nvCxnSpPr>
        <p:spPr>
          <a:xfrm>
            <a:off x="4655280" y="3853602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1" name="Straight Connector 70">
            <a:extLst>
              <a:ext uri="{FF2B5EF4-FFF2-40B4-BE49-F238E27FC236}">
                <a16:creationId xmlns:a16="http://schemas.microsoft.com/office/drawing/2014/main" id="{02EAB146-2743-BD67-0601-35B1C289273E}"/>
              </a:ext>
            </a:extLst>
          </p:cNvPr>
          <p:cNvCxnSpPr>
            <a:cxnSpLocks/>
          </p:cNvCxnSpPr>
          <p:nvPr/>
        </p:nvCxnSpPr>
        <p:spPr>
          <a:xfrm flipH="1">
            <a:off x="2423889" y="4017236"/>
            <a:ext cx="223981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2" name="Straight Connector 71">
            <a:extLst>
              <a:ext uri="{FF2B5EF4-FFF2-40B4-BE49-F238E27FC236}">
                <a16:creationId xmlns:a16="http://schemas.microsoft.com/office/drawing/2014/main" id="{86D27D36-A52B-A441-72CD-0B093F547EC4}"/>
              </a:ext>
            </a:extLst>
          </p:cNvPr>
          <p:cNvCxnSpPr>
            <a:cxnSpLocks/>
          </p:cNvCxnSpPr>
          <p:nvPr/>
        </p:nvCxnSpPr>
        <p:spPr>
          <a:xfrm>
            <a:off x="2423889" y="2806301"/>
            <a:ext cx="0" cy="1218664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5" name="Straight Connector 74">
            <a:extLst>
              <a:ext uri="{FF2B5EF4-FFF2-40B4-BE49-F238E27FC236}">
                <a16:creationId xmlns:a16="http://schemas.microsoft.com/office/drawing/2014/main" id="{5AD00B48-0462-3621-C1D6-C14D94D7F0BB}"/>
              </a:ext>
            </a:extLst>
          </p:cNvPr>
          <p:cNvCxnSpPr>
            <a:cxnSpLocks/>
          </p:cNvCxnSpPr>
          <p:nvPr/>
        </p:nvCxnSpPr>
        <p:spPr>
          <a:xfrm flipH="1">
            <a:off x="1973082" y="4539056"/>
            <a:ext cx="312113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6" name="Straight Connector 75">
            <a:extLst>
              <a:ext uri="{FF2B5EF4-FFF2-40B4-BE49-F238E27FC236}">
                <a16:creationId xmlns:a16="http://schemas.microsoft.com/office/drawing/2014/main" id="{D921FA90-82FF-DB66-E822-32FE09F641F6}"/>
              </a:ext>
            </a:extLst>
          </p:cNvPr>
          <p:cNvCxnSpPr/>
          <p:nvPr/>
        </p:nvCxnSpPr>
        <p:spPr>
          <a:xfrm flipH="1">
            <a:off x="1973082" y="341563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7" name="Straight Connector 76">
            <a:extLst>
              <a:ext uri="{FF2B5EF4-FFF2-40B4-BE49-F238E27FC236}">
                <a16:creationId xmlns:a16="http://schemas.microsoft.com/office/drawing/2014/main" id="{F55D08AC-51B9-D6AF-1AC9-3F5B4DFE5BEC}"/>
              </a:ext>
            </a:extLst>
          </p:cNvPr>
          <p:cNvCxnSpPr>
            <a:cxnSpLocks/>
          </p:cNvCxnSpPr>
          <p:nvPr/>
        </p:nvCxnSpPr>
        <p:spPr>
          <a:xfrm>
            <a:off x="1978039" y="3407904"/>
            <a:ext cx="0" cy="1131152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09BCFD4A-DF6D-2806-6E34-B8CB4B8A4322}"/>
              </a:ext>
            </a:extLst>
          </p:cNvPr>
          <p:cNvCxnSpPr/>
          <p:nvPr/>
        </p:nvCxnSpPr>
        <p:spPr>
          <a:xfrm flipH="1">
            <a:off x="1522275" y="397348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1" name="Straight Connector 80">
            <a:extLst>
              <a:ext uri="{FF2B5EF4-FFF2-40B4-BE49-F238E27FC236}">
                <a16:creationId xmlns:a16="http://schemas.microsoft.com/office/drawing/2014/main" id="{6F91D525-CB91-96E0-245B-EEA55D95222E}"/>
              </a:ext>
            </a:extLst>
          </p:cNvPr>
          <p:cNvCxnSpPr>
            <a:cxnSpLocks/>
          </p:cNvCxnSpPr>
          <p:nvPr/>
        </p:nvCxnSpPr>
        <p:spPr>
          <a:xfrm>
            <a:off x="1527007" y="3965735"/>
            <a:ext cx="0" cy="916048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2" name="Straight Connector 81">
            <a:extLst>
              <a:ext uri="{FF2B5EF4-FFF2-40B4-BE49-F238E27FC236}">
                <a16:creationId xmlns:a16="http://schemas.microsoft.com/office/drawing/2014/main" id="{20920C8F-41F8-F428-DCF4-3A2CE07312D6}"/>
              </a:ext>
            </a:extLst>
          </p:cNvPr>
          <p:cNvCxnSpPr>
            <a:cxnSpLocks/>
          </p:cNvCxnSpPr>
          <p:nvPr/>
        </p:nvCxnSpPr>
        <p:spPr>
          <a:xfrm flipH="1">
            <a:off x="1522275" y="4881885"/>
            <a:ext cx="3571938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5" name="Straight Connector 84">
            <a:extLst>
              <a:ext uri="{FF2B5EF4-FFF2-40B4-BE49-F238E27FC236}">
                <a16:creationId xmlns:a16="http://schemas.microsoft.com/office/drawing/2014/main" id="{A18C39BF-4D33-B1D2-4DF1-DCA4D8F01A76}"/>
              </a:ext>
            </a:extLst>
          </p:cNvPr>
          <p:cNvCxnSpPr/>
          <p:nvPr/>
        </p:nvCxnSpPr>
        <p:spPr>
          <a:xfrm flipH="1">
            <a:off x="1071468" y="4423759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7" name="Straight Connector 86">
            <a:extLst>
              <a:ext uri="{FF2B5EF4-FFF2-40B4-BE49-F238E27FC236}">
                <a16:creationId xmlns:a16="http://schemas.microsoft.com/office/drawing/2014/main" id="{159CC616-39DD-F14B-2EDA-291E86106F62}"/>
              </a:ext>
            </a:extLst>
          </p:cNvPr>
          <p:cNvCxnSpPr/>
          <p:nvPr/>
        </p:nvCxnSpPr>
        <p:spPr>
          <a:xfrm flipH="1">
            <a:off x="4633663" y="5224510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FC464B5E-BC35-1D1C-1055-BD75520AAD9E}"/>
              </a:ext>
            </a:extLst>
          </p:cNvPr>
          <p:cNvCxnSpPr/>
          <p:nvPr/>
        </p:nvCxnSpPr>
        <p:spPr>
          <a:xfrm flipH="1">
            <a:off x="4633865" y="5567237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221DD6ED-B922-F381-DCF5-46163CEFDB7F}"/>
              </a:ext>
            </a:extLst>
          </p:cNvPr>
          <p:cNvCxnSpPr>
            <a:cxnSpLocks/>
          </p:cNvCxnSpPr>
          <p:nvPr/>
        </p:nvCxnSpPr>
        <p:spPr>
          <a:xfrm>
            <a:off x="4645537" y="5224510"/>
            <a:ext cx="0" cy="34272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0" name="Straight Connector 89">
            <a:extLst>
              <a:ext uri="{FF2B5EF4-FFF2-40B4-BE49-F238E27FC236}">
                <a16:creationId xmlns:a16="http://schemas.microsoft.com/office/drawing/2014/main" id="{0103F4B0-32F0-8B9B-C51A-A56CA7DE0BBA}"/>
              </a:ext>
            </a:extLst>
          </p:cNvPr>
          <p:cNvCxnSpPr>
            <a:cxnSpLocks/>
          </p:cNvCxnSpPr>
          <p:nvPr/>
        </p:nvCxnSpPr>
        <p:spPr>
          <a:xfrm flipH="1">
            <a:off x="4193637" y="5892603"/>
            <a:ext cx="89953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1" name="Straight Connector 90">
            <a:extLst>
              <a:ext uri="{FF2B5EF4-FFF2-40B4-BE49-F238E27FC236}">
                <a16:creationId xmlns:a16="http://schemas.microsoft.com/office/drawing/2014/main" id="{42901C0E-5E02-8AD8-AD33-AF0CCC254E5D}"/>
              </a:ext>
            </a:extLst>
          </p:cNvPr>
          <p:cNvCxnSpPr/>
          <p:nvPr/>
        </p:nvCxnSpPr>
        <p:spPr>
          <a:xfrm flipH="1">
            <a:off x="4193637" y="5395873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2" name="Straight Connector 91">
            <a:extLst>
              <a:ext uri="{FF2B5EF4-FFF2-40B4-BE49-F238E27FC236}">
                <a16:creationId xmlns:a16="http://schemas.microsoft.com/office/drawing/2014/main" id="{E025A093-DF4F-11D6-5A6D-6B3B5D249C00}"/>
              </a:ext>
            </a:extLst>
          </p:cNvPr>
          <p:cNvCxnSpPr>
            <a:cxnSpLocks/>
          </p:cNvCxnSpPr>
          <p:nvPr/>
        </p:nvCxnSpPr>
        <p:spPr>
          <a:xfrm>
            <a:off x="4206964" y="5390086"/>
            <a:ext cx="0" cy="502517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4" name="Straight Connector 93">
            <a:extLst>
              <a:ext uri="{FF2B5EF4-FFF2-40B4-BE49-F238E27FC236}">
                <a16:creationId xmlns:a16="http://schemas.microsoft.com/office/drawing/2014/main" id="{BB6644B7-0A8A-B943-B93A-ED664547C334}"/>
              </a:ext>
            </a:extLst>
          </p:cNvPr>
          <p:cNvCxnSpPr/>
          <p:nvPr/>
        </p:nvCxnSpPr>
        <p:spPr>
          <a:xfrm flipH="1">
            <a:off x="3742830" y="565331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5" name="Straight Connector 94">
            <a:extLst>
              <a:ext uri="{FF2B5EF4-FFF2-40B4-BE49-F238E27FC236}">
                <a16:creationId xmlns:a16="http://schemas.microsoft.com/office/drawing/2014/main" id="{6CC24827-C025-2F67-0A3E-9AE71150A28A}"/>
              </a:ext>
            </a:extLst>
          </p:cNvPr>
          <p:cNvCxnSpPr>
            <a:cxnSpLocks/>
          </p:cNvCxnSpPr>
          <p:nvPr/>
        </p:nvCxnSpPr>
        <p:spPr>
          <a:xfrm>
            <a:off x="3748617" y="5641344"/>
            <a:ext cx="0" cy="578165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6" name="Straight Connector 95">
            <a:extLst>
              <a:ext uri="{FF2B5EF4-FFF2-40B4-BE49-F238E27FC236}">
                <a16:creationId xmlns:a16="http://schemas.microsoft.com/office/drawing/2014/main" id="{1744BCF0-5F50-28C2-06C9-ECBBCB6BCA70}"/>
              </a:ext>
            </a:extLst>
          </p:cNvPr>
          <p:cNvCxnSpPr>
            <a:cxnSpLocks/>
          </p:cNvCxnSpPr>
          <p:nvPr/>
        </p:nvCxnSpPr>
        <p:spPr>
          <a:xfrm flipH="1">
            <a:off x="3742830" y="6213722"/>
            <a:ext cx="134060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9" name="Straight Connector 98">
            <a:extLst>
              <a:ext uri="{FF2B5EF4-FFF2-40B4-BE49-F238E27FC236}">
                <a16:creationId xmlns:a16="http://schemas.microsoft.com/office/drawing/2014/main" id="{7D3CC6F8-8581-17C6-4FE9-70433E021743}"/>
              </a:ext>
            </a:extLst>
          </p:cNvPr>
          <p:cNvCxnSpPr/>
          <p:nvPr/>
        </p:nvCxnSpPr>
        <p:spPr>
          <a:xfrm flipH="1">
            <a:off x="3292023" y="5939401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Straight Connector 99">
            <a:extLst>
              <a:ext uri="{FF2B5EF4-FFF2-40B4-BE49-F238E27FC236}">
                <a16:creationId xmlns:a16="http://schemas.microsoft.com/office/drawing/2014/main" id="{60B05CB1-F4DD-6B3E-96FA-8FCE6378742E}"/>
              </a:ext>
            </a:extLst>
          </p:cNvPr>
          <p:cNvCxnSpPr>
            <a:cxnSpLocks/>
          </p:cNvCxnSpPr>
          <p:nvPr/>
        </p:nvCxnSpPr>
        <p:spPr>
          <a:xfrm flipH="1">
            <a:off x="3292023" y="6560216"/>
            <a:ext cx="1785621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Straight Connector 101">
            <a:extLst>
              <a:ext uri="{FF2B5EF4-FFF2-40B4-BE49-F238E27FC236}">
                <a16:creationId xmlns:a16="http://schemas.microsoft.com/office/drawing/2014/main" id="{7020005B-6060-6A76-A3AA-1F4F78142F7E}"/>
              </a:ext>
            </a:extLst>
          </p:cNvPr>
          <p:cNvCxnSpPr>
            <a:cxnSpLocks/>
          </p:cNvCxnSpPr>
          <p:nvPr/>
        </p:nvCxnSpPr>
        <p:spPr>
          <a:xfrm>
            <a:off x="3292023" y="5936213"/>
            <a:ext cx="0" cy="62979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Straight Connector 106">
            <a:extLst>
              <a:ext uri="{FF2B5EF4-FFF2-40B4-BE49-F238E27FC236}">
                <a16:creationId xmlns:a16="http://schemas.microsoft.com/office/drawing/2014/main" id="{BDA5D379-F589-1FF5-44C6-4CC9473F6672}"/>
              </a:ext>
            </a:extLst>
          </p:cNvPr>
          <p:cNvCxnSpPr>
            <a:cxnSpLocks/>
          </p:cNvCxnSpPr>
          <p:nvPr/>
        </p:nvCxnSpPr>
        <p:spPr>
          <a:xfrm flipH="1">
            <a:off x="1071468" y="6245321"/>
            <a:ext cx="2220555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8" name="Straight Connector 107">
            <a:extLst>
              <a:ext uri="{FF2B5EF4-FFF2-40B4-BE49-F238E27FC236}">
                <a16:creationId xmlns:a16="http://schemas.microsoft.com/office/drawing/2014/main" id="{A14098E2-7441-DEF4-959E-999523F0A1C2}"/>
              </a:ext>
            </a:extLst>
          </p:cNvPr>
          <p:cNvCxnSpPr>
            <a:cxnSpLocks/>
          </p:cNvCxnSpPr>
          <p:nvPr/>
        </p:nvCxnSpPr>
        <p:spPr>
          <a:xfrm>
            <a:off x="1082368" y="4417972"/>
            <a:ext cx="0" cy="1827349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Straight Connector 110">
            <a:extLst>
              <a:ext uri="{FF2B5EF4-FFF2-40B4-BE49-F238E27FC236}">
                <a16:creationId xmlns:a16="http://schemas.microsoft.com/office/drawing/2014/main" id="{620F5B74-0512-BA2E-0B4A-022F23AED86C}"/>
              </a:ext>
            </a:extLst>
          </p:cNvPr>
          <p:cNvCxnSpPr/>
          <p:nvPr/>
        </p:nvCxnSpPr>
        <p:spPr>
          <a:xfrm flipH="1">
            <a:off x="620661" y="5331557"/>
            <a:ext cx="450807" cy="0"/>
          </a:xfrm>
          <a:prstGeom prst="line">
            <a:avLst/>
          </a:prstGeom>
          <a:ln w="22225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12" name="TextBox 111">
            <a:extLst>
              <a:ext uri="{FF2B5EF4-FFF2-40B4-BE49-F238E27FC236}">
                <a16:creationId xmlns:a16="http://schemas.microsoft.com/office/drawing/2014/main" id="{5DA3C87C-30CA-30A5-AD1B-42671EE8F956}"/>
              </a:ext>
            </a:extLst>
          </p:cNvPr>
          <p:cNvSpPr txBox="1"/>
          <p:nvPr/>
        </p:nvSpPr>
        <p:spPr>
          <a:xfrm>
            <a:off x="8228398" y="-2732"/>
            <a:ext cx="2432076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600" b="1" dirty="0">
                <a:latin typeface="Arial" panose="020B0604020202020204" pitchFamily="34" charset="0"/>
                <a:cs typeface="Arial" panose="020B0604020202020204" pitchFamily="34" charset="0"/>
              </a:rPr>
              <a:t>Number of HGT inserts</a:t>
            </a:r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06A41598-4DE9-BCC5-7996-C1EA35B5115A}"/>
              </a:ext>
            </a:extLst>
          </p:cNvPr>
          <p:cNvSpPr txBox="1"/>
          <p:nvPr/>
        </p:nvSpPr>
        <p:spPr>
          <a:xfrm>
            <a:off x="680967" y="5069946"/>
            <a:ext cx="4203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207</a:t>
            </a:r>
          </a:p>
        </p:txBody>
      </p:sp>
      <p:sp>
        <p:nvSpPr>
          <p:cNvPr id="115" name="TextBox 114">
            <a:extLst>
              <a:ext uri="{FF2B5EF4-FFF2-40B4-BE49-F238E27FC236}">
                <a16:creationId xmlns:a16="http://schemas.microsoft.com/office/drawing/2014/main" id="{2C377B3B-1486-C6E1-2762-CF7B96AADD8C}"/>
              </a:ext>
            </a:extLst>
          </p:cNvPr>
          <p:cNvSpPr txBox="1"/>
          <p:nvPr/>
        </p:nvSpPr>
        <p:spPr>
          <a:xfrm>
            <a:off x="2910982" y="5992686"/>
            <a:ext cx="4203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161</a:t>
            </a:r>
          </a:p>
        </p:txBody>
      </p:sp>
      <p:sp>
        <p:nvSpPr>
          <p:cNvPr id="116" name="TextBox 115">
            <a:extLst>
              <a:ext uri="{FF2B5EF4-FFF2-40B4-BE49-F238E27FC236}">
                <a16:creationId xmlns:a16="http://schemas.microsoft.com/office/drawing/2014/main" id="{ADCEB178-20CD-979F-C8B3-B6DAAC2A7F70}"/>
              </a:ext>
            </a:extLst>
          </p:cNvPr>
          <p:cNvSpPr txBox="1"/>
          <p:nvPr/>
        </p:nvSpPr>
        <p:spPr>
          <a:xfrm>
            <a:off x="3907447" y="5430515"/>
            <a:ext cx="341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98</a:t>
            </a:r>
          </a:p>
        </p:txBody>
      </p:sp>
      <p:sp>
        <p:nvSpPr>
          <p:cNvPr id="117" name="TextBox 116">
            <a:extLst>
              <a:ext uri="{FF2B5EF4-FFF2-40B4-BE49-F238E27FC236}">
                <a16:creationId xmlns:a16="http://schemas.microsoft.com/office/drawing/2014/main" id="{DCD7299A-83E7-9EC1-039F-F8D87C3A735B}"/>
              </a:ext>
            </a:extLst>
          </p:cNvPr>
          <p:cNvSpPr txBox="1"/>
          <p:nvPr/>
        </p:nvSpPr>
        <p:spPr>
          <a:xfrm>
            <a:off x="3351681" y="5703188"/>
            <a:ext cx="4203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108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77DAD88A-3945-3B4C-CE76-CFA2E8F27CCB}"/>
              </a:ext>
            </a:extLst>
          </p:cNvPr>
          <p:cNvSpPr txBox="1"/>
          <p:nvPr/>
        </p:nvSpPr>
        <p:spPr>
          <a:xfrm>
            <a:off x="4359046" y="5156227"/>
            <a:ext cx="341760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45</a:t>
            </a:r>
          </a:p>
        </p:txBody>
      </p:sp>
      <p:sp>
        <p:nvSpPr>
          <p:cNvPr id="119" name="TextBox 118">
            <a:extLst>
              <a:ext uri="{FF2B5EF4-FFF2-40B4-BE49-F238E27FC236}">
                <a16:creationId xmlns:a16="http://schemas.microsoft.com/office/drawing/2014/main" id="{9986365D-9BB7-99CE-7C36-D4E5CB5CDDBA}"/>
              </a:ext>
            </a:extLst>
          </p:cNvPr>
          <p:cNvSpPr txBox="1"/>
          <p:nvPr/>
        </p:nvSpPr>
        <p:spPr>
          <a:xfrm>
            <a:off x="1145860" y="4190586"/>
            <a:ext cx="420308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145</a:t>
            </a:r>
          </a:p>
        </p:txBody>
      </p:sp>
      <p:sp>
        <p:nvSpPr>
          <p:cNvPr id="120" name="TextBox 119">
            <a:extLst>
              <a:ext uri="{FF2B5EF4-FFF2-40B4-BE49-F238E27FC236}">
                <a16:creationId xmlns:a16="http://schemas.microsoft.com/office/drawing/2014/main" id="{91C8A452-6953-C976-D23F-7FEE68B2874E}"/>
              </a:ext>
            </a:extLst>
          </p:cNvPr>
          <p:cNvSpPr txBox="1"/>
          <p:nvPr/>
        </p:nvSpPr>
        <p:spPr>
          <a:xfrm>
            <a:off x="1494240" y="3732461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63.05</a:t>
            </a:r>
          </a:p>
        </p:txBody>
      </p:sp>
      <p:sp>
        <p:nvSpPr>
          <p:cNvPr id="121" name="TextBox 120">
            <a:extLst>
              <a:ext uri="{FF2B5EF4-FFF2-40B4-BE49-F238E27FC236}">
                <a16:creationId xmlns:a16="http://schemas.microsoft.com/office/drawing/2014/main" id="{5551D6EB-5E4F-3BB3-7945-BADF6D168600}"/>
              </a:ext>
            </a:extLst>
          </p:cNvPr>
          <p:cNvSpPr txBox="1"/>
          <p:nvPr/>
        </p:nvSpPr>
        <p:spPr>
          <a:xfrm>
            <a:off x="1913081" y="3166990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28.71</a:t>
            </a:r>
          </a:p>
        </p:txBody>
      </p:sp>
      <p:sp>
        <p:nvSpPr>
          <p:cNvPr id="122" name="TextBox 121">
            <a:extLst>
              <a:ext uri="{FF2B5EF4-FFF2-40B4-BE49-F238E27FC236}">
                <a16:creationId xmlns:a16="http://schemas.microsoft.com/office/drawing/2014/main" id="{69CA28E2-F05F-C168-B711-140B7207D47B}"/>
              </a:ext>
            </a:extLst>
          </p:cNvPr>
          <p:cNvSpPr txBox="1"/>
          <p:nvPr/>
        </p:nvSpPr>
        <p:spPr>
          <a:xfrm>
            <a:off x="2388264" y="2587057"/>
            <a:ext cx="537327" cy="2616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22.84</a:t>
            </a:r>
          </a:p>
        </p:txBody>
      </p:sp>
      <p:sp>
        <p:nvSpPr>
          <p:cNvPr id="123" name="TextBox 122">
            <a:extLst>
              <a:ext uri="{FF2B5EF4-FFF2-40B4-BE49-F238E27FC236}">
                <a16:creationId xmlns:a16="http://schemas.microsoft.com/office/drawing/2014/main" id="{67FE8861-D637-4CAC-231C-715F721C0214}"/>
              </a:ext>
            </a:extLst>
          </p:cNvPr>
          <p:cNvSpPr txBox="1"/>
          <p:nvPr/>
        </p:nvSpPr>
        <p:spPr>
          <a:xfrm>
            <a:off x="4170938" y="3098083"/>
            <a:ext cx="10152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17.35</a:t>
            </a:r>
          </a:p>
        </p:txBody>
      </p:sp>
      <p:sp>
        <p:nvSpPr>
          <p:cNvPr id="125" name="TextBox 124">
            <a:extLst>
              <a:ext uri="{FF2B5EF4-FFF2-40B4-BE49-F238E27FC236}">
                <a16:creationId xmlns:a16="http://schemas.microsoft.com/office/drawing/2014/main" id="{8E914DC1-26A1-9A8E-3083-5FCA879463F8}"/>
              </a:ext>
            </a:extLst>
          </p:cNvPr>
          <p:cNvSpPr txBox="1"/>
          <p:nvPr/>
        </p:nvSpPr>
        <p:spPr>
          <a:xfrm>
            <a:off x="2852498" y="2063278"/>
            <a:ext cx="946010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20.91</a:t>
            </a:r>
          </a:p>
        </p:txBody>
      </p:sp>
      <p:sp>
        <p:nvSpPr>
          <p:cNvPr id="126" name="TextBox 125">
            <a:extLst>
              <a:ext uri="{FF2B5EF4-FFF2-40B4-BE49-F238E27FC236}">
                <a16:creationId xmlns:a16="http://schemas.microsoft.com/office/drawing/2014/main" id="{7E855081-11AA-6EBF-E182-E48283702CFD}"/>
              </a:ext>
            </a:extLst>
          </p:cNvPr>
          <p:cNvSpPr txBox="1"/>
          <p:nvPr/>
        </p:nvSpPr>
        <p:spPr>
          <a:xfrm>
            <a:off x="3292023" y="1548275"/>
            <a:ext cx="848111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14.12</a:t>
            </a:r>
          </a:p>
        </p:txBody>
      </p:sp>
      <p:sp>
        <p:nvSpPr>
          <p:cNvPr id="127" name="TextBox 126">
            <a:extLst>
              <a:ext uri="{FF2B5EF4-FFF2-40B4-BE49-F238E27FC236}">
                <a16:creationId xmlns:a16="http://schemas.microsoft.com/office/drawing/2014/main" id="{B9E94D1F-F901-9C42-78CE-2ACADC75CA90}"/>
              </a:ext>
            </a:extLst>
          </p:cNvPr>
          <p:cNvSpPr txBox="1"/>
          <p:nvPr/>
        </p:nvSpPr>
        <p:spPr>
          <a:xfrm>
            <a:off x="4176419" y="2044197"/>
            <a:ext cx="914487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13.17</a:t>
            </a:r>
          </a:p>
        </p:txBody>
      </p:sp>
      <p:sp>
        <p:nvSpPr>
          <p:cNvPr id="128" name="TextBox 127">
            <a:extLst>
              <a:ext uri="{FF2B5EF4-FFF2-40B4-BE49-F238E27FC236}">
                <a16:creationId xmlns:a16="http://schemas.microsoft.com/office/drawing/2014/main" id="{FBBFC1CE-CBE9-0603-03FF-CD078D33FD0F}"/>
              </a:ext>
            </a:extLst>
          </p:cNvPr>
          <p:cNvSpPr txBox="1"/>
          <p:nvPr/>
        </p:nvSpPr>
        <p:spPr>
          <a:xfrm>
            <a:off x="4249207" y="1389855"/>
            <a:ext cx="794253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5.84</a:t>
            </a:r>
          </a:p>
        </p:txBody>
      </p:sp>
      <p:sp>
        <p:nvSpPr>
          <p:cNvPr id="129" name="TextBox 128">
            <a:extLst>
              <a:ext uri="{FF2B5EF4-FFF2-40B4-BE49-F238E27FC236}">
                <a16:creationId xmlns:a16="http://schemas.microsoft.com/office/drawing/2014/main" id="{EFC1B69B-D697-891C-9039-59CA356E3EB0}"/>
              </a:ext>
            </a:extLst>
          </p:cNvPr>
          <p:cNvSpPr txBox="1"/>
          <p:nvPr/>
        </p:nvSpPr>
        <p:spPr>
          <a:xfrm>
            <a:off x="4240899" y="698765"/>
            <a:ext cx="899536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6.67</a:t>
            </a:r>
          </a:p>
        </p:txBody>
      </p:sp>
      <p:sp>
        <p:nvSpPr>
          <p:cNvPr id="130" name="TextBox 129">
            <a:extLst>
              <a:ext uri="{FF2B5EF4-FFF2-40B4-BE49-F238E27FC236}">
                <a16:creationId xmlns:a16="http://schemas.microsoft.com/office/drawing/2014/main" id="{870F93D2-7387-C417-90DA-B3A88F0F8C84}"/>
              </a:ext>
            </a:extLst>
          </p:cNvPr>
          <p:cNvSpPr txBox="1"/>
          <p:nvPr/>
        </p:nvSpPr>
        <p:spPr>
          <a:xfrm>
            <a:off x="3742830" y="1010920"/>
            <a:ext cx="777088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12.73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F9D314B-082E-E091-22F0-B57DCFA77304}"/>
              </a:ext>
            </a:extLst>
          </p:cNvPr>
          <p:cNvSpPr txBox="1"/>
          <p:nvPr/>
        </p:nvSpPr>
        <p:spPr>
          <a:xfrm>
            <a:off x="8691531" y="610260"/>
            <a:ext cx="7087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5841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4FA31C-64D4-FD5D-26BF-F783E8893DDF}"/>
              </a:ext>
            </a:extLst>
          </p:cNvPr>
          <p:cNvSpPr txBox="1"/>
          <p:nvPr/>
        </p:nvSpPr>
        <p:spPr>
          <a:xfrm>
            <a:off x="8691531" y="951261"/>
            <a:ext cx="6968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4865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10AAD48-4FDB-59DB-CFDF-B93F3DEFECBE}"/>
              </a:ext>
            </a:extLst>
          </p:cNvPr>
          <p:cNvSpPr txBox="1"/>
          <p:nvPr/>
        </p:nvSpPr>
        <p:spPr>
          <a:xfrm>
            <a:off x="8691531" y="1292262"/>
            <a:ext cx="6850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4378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8AD3BC0-9B57-917C-9AA4-CA2FEA1B9257}"/>
              </a:ext>
            </a:extLst>
          </p:cNvPr>
          <p:cNvSpPr txBox="1"/>
          <p:nvPr/>
        </p:nvSpPr>
        <p:spPr>
          <a:xfrm>
            <a:off x="8696788" y="1633263"/>
            <a:ext cx="6797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4248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FBEC49-6A8A-D8BF-CA1B-13B700AF343C}"/>
              </a:ext>
            </a:extLst>
          </p:cNvPr>
          <p:cNvSpPr txBox="1"/>
          <p:nvPr/>
        </p:nvSpPr>
        <p:spPr>
          <a:xfrm>
            <a:off x="8696788" y="1974264"/>
            <a:ext cx="667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5389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99B3691-7932-62D0-CBB7-76C84D294C87}"/>
              </a:ext>
            </a:extLst>
          </p:cNvPr>
          <p:cNvSpPr txBox="1"/>
          <p:nvPr/>
        </p:nvSpPr>
        <p:spPr>
          <a:xfrm>
            <a:off x="8696788" y="2315265"/>
            <a:ext cx="6203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4621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1C2B23F-9B2A-AE53-C554-D2750BAB6420}"/>
              </a:ext>
            </a:extLst>
          </p:cNvPr>
          <p:cNvSpPr txBox="1"/>
          <p:nvPr/>
        </p:nvSpPr>
        <p:spPr>
          <a:xfrm>
            <a:off x="8707298" y="2656266"/>
            <a:ext cx="6217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4822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332AC24-47B7-86A7-9200-9E39EFA1FD41}"/>
              </a:ext>
            </a:extLst>
          </p:cNvPr>
          <p:cNvSpPr txBox="1"/>
          <p:nvPr/>
        </p:nvSpPr>
        <p:spPr>
          <a:xfrm>
            <a:off x="8707298" y="2997267"/>
            <a:ext cx="6692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3414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C3A19AB5-7B1F-D0F9-65A0-9740489833AB}"/>
              </a:ext>
            </a:extLst>
          </p:cNvPr>
          <p:cNvSpPr txBox="1"/>
          <p:nvPr/>
        </p:nvSpPr>
        <p:spPr>
          <a:xfrm>
            <a:off x="8707297" y="3338268"/>
            <a:ext cx="6573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3120</a:t>
            </a: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00256631-0F7E-CEB5-02AA-A97746A50BA3}"/>
              </a:ext>
            </a:extLst>
          </p:cNvPr>
          <p:cNvSpPr txBox="1"/>
          <p:nvPr/>
        </p:nvSpPr>
        <p:spPr>
          <a:xfrm>
            <a:off x="8702044" y="3679269"/>
            <a:ext cx="6745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1814</a:t>
            </a:r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88840D15-C89C-EFB0-6FDE-6B7115BF15EA}"/>
              </a:ext>
            </a:extLst>
          </p:cNvPr>
          <p:cNvSpPr txBox="1"/>
          <p:nvPr/>
        </p:nvSpPr>
        <p:spPr>
          <a:xfrm>
            <a:off x="8702044" y="4020270"/>
            <a:ext cx="6745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1849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B48A0F5A-0B18-864D-C7DC-BE3604B93132}"/>
              </a:ext>
            </a:extLst>
          </p:cNvPr>
          <p:cNvSpPr txBox="1"/>
          <p:nvPr/>
        </p:nvSpPr>
        <p:spPr>
          <a:xfrm>
            <a:off x="8778245" y="4361271"/>
            <a:ext cx="6151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875</a:t>
            </a:r>
          </a:p>
        </p:txBody>
      </p:sp>
      <p:sp>
        <p:nvSpPr>
          <p:cNvPr id="41" name="TextBox 40">
            <a:extLst>
              <a:ext uri="{FF2B5EF4-FFF2-40B4-BE49-F238E27FC236}">
                <a16:creationId xmlns:a16="http://schemas.microsoft.com/office/drawing/2014/main" id="{2F74B669-8B9F-6FBB-6859-3D62C1FBFA6C}"/>
              </a:ext>
            </a:extLst>
          </p:cNvPr>
          <p:cNvSpPr txBox="1"/>
          <p:nvPr/>
        </p:nvSpPr>
        <p:spPr>
          <a:xfrm>
            <a:off x="8598818" y="4702272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246-840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352B9156-F2A7-3575-A129-2733BF524FD3}"/>
              </a:ext>
            </a:extLst>
          </p:cNvPr>
          <p:cNvSpPr txBox="1"/>
          <p:nvPr/>
        </p:nvSpPr>
        <p:spPr>
          <a:xfrm>
            <a:off x="8832644" y="5043273"/>
            <a:ext cx="596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46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390C6842-CC76-0021-FA48-F53BBD464EB1}"/>
              </a:ext>
            </a:extLst>
          </p:cNvPr>
          <p:cNvSpPr txBox="1"/>
          <p:nvPr/>
        </p:nvSpPr>
        <p:spPr>
          <a:xfrm>
            <a:off x="8860076" y="5384274"/>
            <a:ext cx="5728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50" name="TextBox 49">
            <a:extLst>
              <a:ext uri="{FF2B5EF4-FFF2-40B4-BE49-F238E27FC236}">
                <a16:creationId xmlns:a16="http://schemas.microsoft.com/office/drawing/2014/main" id="{27AD9F64-CC2A-8E94-A36B-6CD37B4A5096}"/>
              </a:ext>
            </a:extLst>
          </p:cNvPr>
          <p:cNvSpPr txBox="1"/>
          <p:nvPr/>
        </p:nvSpPr>
        <p:spPr>
          <a:xfrm>
            <a:off x="8854822" y="5725275"/>
            <a:ext cx="5425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9</a:t>
            </a:r>
          </a:p>
        </p:txBody>
      </p:sp>
      <p:sp>
        <p:nvSpPr>
          <p:cNvPr id="54" name="TextBox 53">
            <a:extLst>
              <a:ext uri="{FF2B5EF4-FFF2-40B4-BE49-F238E27FC236}">
                <a16:creationId xmlns:a16="http://schemas.microsoft.com/office/drawing/2014/main" id="{7A1928D2-C704-7A73-0C0F-5E25AC63193A}"/>
              </a:ext>
            </a:extLst>
          </p:cNvPr>
          <p:cNvSpPr txBox="1"/>
          <p:nvPr/>
        </p:nvSpPr>
        <p:spPr>
          <a:xfrm>
            <a:off x="8771221" y="6047988"/>
            <a:ext cx="5900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2-50</a:t>
            </a:r>
          </a:p>
        </p:txBody>
      </p:sp>
      <p:sp>
        <p:nvSpPr>
          <p:cNvPr id="55" name="TextBox 54">
            <a:extLst>
              <a:ext uri="{FF2B5EF4-FFF2-40B4-BE49-F238E27FC236}">
                <a16:creationId xmlns:a16="http://schemas.microsoft.com/office/drawing/2014/main" id="{378A4214-8176-16E7-62DC-F35ABFC597D4}"/>
              </a:ext>
            </a:extLst>
          </p:cNvPr>
          <p:cNvSpPr txBox="1"/>
          <p:nvPr/>
        </p:nvSpPr>
        <p:spPr>
          <a:xfrm>
            <a:off x="8604448" y="6407276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543-555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1D7F4047-72F2-5314-2087-46A1ECF407B6}"/>
              </a:ext>
            </a:extLst>
          </p:cNvPr>
          <p:cNvSpPr txBox="1"/>
          <p:nvPr/>
        </p:nvSpPr>
        <p:spPr>
          <a:xfrm>
            <a:off x="7421234" y="5575262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Termites</a:t>
            </a:r>
          </a:p>
        </p:txBody>
      </p:sp>
      <p:sp>
        <p:nvSpPr>
          <p:cNvPr id="132" name="TextBox 131">
            <a:extLst>
              <a:ext uri="{FF2B5EF4-FFF2-40B4-BE49-F238E27FC236}">
                <a16:creationId xmlns:a16="http://schemas.microsoft.com/office/drawing/2014/main" id="{E8085B42-C68B-2921-0792-17594AE253E8}"/>
              </a:ext>
            </a:extLst>
          </p:cNvPr>
          <p:cNvSpPr txBox="1"/>
          <p:nvPr/>
        </p:nvSpPr>
        <p:spPr>
          <a:xfrm>
            <a:off x="4243627" y="3770067"/>
            <a:ext cx="1015279" cy="2616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100" dirty="0">
                <a:latin typeface="Arial" panose="020B0604020202020204" pitchFamily="34" charset="0"/>
                <a:cs typeface="Arial" panose="020B0604020202020204" pitchFamily="34" charset="0"/>
              </a:rPr>
              <a:t>1.81</a:t>
            </a:r>
          </a:p>
        </p:txBody>
      </p:sp>
      <p:sp>
        <p:nvSpPr>
          <p:cNvPr id="64" name="TextBox 63">
            <a:extLst>
              <a:ext uri="{FF2B5EF4-FFF2-40B4-BE49-F238E27FC236}">
                <a16:creationId xmlns:a16="http://schemas.microsoft.com/office/drawing/2014/main" id="{32B094EC-6E5F-2A80-7843-BE26F1F22371}"/>
              </a:ext>
            </a:extLst>
          </p:cNvPr>
          <p:cNvSpPr txBox="1"/>
          <p:nvPr/>
        </p:nvSpPr>
        <p:spPr>
          <a:xfrm>
            <a:off x="209193" y="-347835"/>
            <a:ext cx="323825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Figure SX – alternative filtering</a:t>
            </a:r>
          </a:p>
        </p:txBody>
      </p:sp>
      <p:sp>
        <p:nvSpPr>
          <p:cNvPr id="66" name="TextBox 65">
            <a:extLst>
              <a:ext uri="{FF2B5EF4-FFF2-40B4-BE49-F238E27FC236}">
                <a16:creationId xmlns:a16="http://schemas.microsoft.com/office/drawing/2014/main" id="{48752220-E5B7-D1B1-C4D7-DCDD63773EE0}"/>
              </a:ext>
            </a:extLst>
          </p:cNvPr>
          <p:cNvSpPr txBox="1"/>
          <p:nvPr/>
        </p:nvSpPr>
        <p:spPr>
          <a:xfrm>
            <a:off x="8689582" y="331840"/>
            <a:ext cx="1607876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400" b="1" i="1" dirty="0">
                <a:latin typeface="Arial" panose="020B0604020202020204" pitchFamily="34" charset="0"/>
                <a:cs typeface="Arial" panose="020B0604020202020204" pitchFamily="34" charset="0"/>
              </a:rPr>
              <a:t>Total       Unique</a:t>
            </a:r>
          </a:p>
        </p:txBody>
      </p:sp>
      <p:cxnSp>
        <p:nvCxnSpPr>
          <p:cNvPr id="74" name="Straight Connector 73">
            <a:extLst>
              <a:ext uri="{FF2B5EF4-FFF2-40B4-BE49-F238E27FC236}">
                <a16:creationId xmlns:a16="http://schemas.microsoft.com/office/drawing/2014/main" id="{EAD38E62-AB82-743F-69AA-FA0C466DD926}"/>
              </a:ext>
            </a:extLst>
          </p:cNvPr>
          <p:cNvCxnSpPr>
            <a:cxnSpLocks/>
          </p:cNvCxnSpPr>
          <p:nvPr/>
        </p:nvCxnSpPr>
        <p:spPr>
          <a:xfrm>
            <a:off x="9433248" y="456402"/>
            <a:ext cx="0" cy="6243902"/>
          </a:xfrm>
          <a:prstGeom prst="line">
            <a:avLst/>
          </a:prstGeom>
          <a:ln w="12700">
            <a:solidFill>
              <a:schemeClr val="accent1"/>
            </a:solidFill>
            <a:prstDash val="sysDot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TextBox 78">
            <a:extLst>
              <a:ext uri="{FF2B5EF4-FFF2-40B4-BE49-F238E27FC236}">
                <a16:creationId xmlns:a16="http://schemas.microsoft.com/office/drawing/2014/main" id="{63F6CC6B-8902-F730-AED1-F0CB0B4EF094}"/>
              </a:ext>
            </a:extLst>
          </p:cNvPr>
          <p:cNvSpPr txBox="1"/>
          <p:nvPr/>
        </p:nvSpPr>
        <p:spPr>
          <a:xfrm>
            <a:off x="9556516" y="598559"/>
            <a:ext cx="70877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5669</a:t>
            </a:r>
          </a:p>
        </p:txBody>
      </p:sp>
      <p:sp>
        <p:nvSpPr>
          <p:cNvPr id="83" name="TextBox 82">
            <a:extLst>
              <a:ext uri="{FF2B5EF4-FFF2-40B4-BE49-F238E27FC236}">
                <a16:creationId xmlns:a16="http://schemas.microsoft.com/office/drawing/2014/main" id="{9354EA0E-FF4C-2020-0CC7-3ACD366AAB53}"/>
              </a:ext>
            </a:extLst>
          </p:cNvPr>
          <p:cNvSpPr txBox="1"/>
          <p:nvPr/>
        </p:nvSpPr>
        <p:spPr>
          <a:xfrm>
            <a:off x="9556516" y="939560"/>
            <a:ext cx="69689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4680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EB479EBB-8BE9-D121-68D7-2B99EB90C589}"/>
              </a:ext>
            </a:extLst>
          </p:cNvPr>
          <p:cNvSpPr txBox="1"/>
          <p:nvPr/>
        </p:nvSpPr>
        <p:spPr>
          <a:xfrm>
            <a:off x="9556516" y="1280561"/>
            <a:ext cx="68502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4261</a:t>
            </a:r>
          </a:p>
        </p:txBody>
      </p:sp>
      <p:sp>
        <p:nvSpPr>
          <p:cNvPr id="86" name="TextBox 85">
            <a:extLst>
              <a:ext uri="{FF2B5EF4-FFF2-40B4-BE49-F238E27FC236}">
                <a16:creationId xmlns:a16="http://schemas.microsoft.com/office/drawing/2014/main" id="{5B02A2B9-2952-ABDB-BE75-A693B2C8008C}"/>
              </a:ext>
            </a:extLst>
          </p:cNvPr>
          <p:cNvSpPr txBox="1"/>
          <p:nvPr/>
        </p:nvSpPr>
        <p:spPr>
          <a:xfrm>
            <a:off x="9561773" y="1621562"/>
            <a:ext cx="679762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4132</a:t>
            </a:r>
          </a:p>
        </p:txBody>
      </p:sp>
      <p:sp>
        <p:nvSpPr>
          <p:cNvPr id="93" name="TextBox 92">
            <a:extLst>
              <a:ext uri="{FF2B5EF4-FFF2-40B4-BE49-F238E27FC236}">
                <a16:creationId xmlns:a16="http://schemas.microsoft.com/office/drawing/2014/main" id="{51E4E6C4-DB13-8F4E-5258-8E2121056A2E}"/>
              </a:ext>
            </a:extLst>
          </p:cNvPr>
          <p:cNvSpPr txBox="1"/>
          <p:nvPr/>
        </p:nvSpPr>
        <p:spPr>
          <a:xfrm>
            <a:off x="9561773" y="1962563"/>
            <a:ext cx="66788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5260</a:t>
            </a:r>
          </a:p>
        </p:txBody>
      </p:sp>
      <p:sp>
        <p:nvSpPr>
          <p:cNvPr id="97" name="TextBox 96">
            <a:extLst>
              <a:ext uri="{FF2B5EF4-FFF2-40B4-BE49-F238E27FC236}">
                <a16:creationId xmlns:a16="http://schemas.microsoft.com/office/drawing/2014/main" id="{46D46E44-766A-74FB-F425-944B1E10E1C4}"/>
              </a:ext>
            </a:extLst>
          </p:cNvPr>
          <p:cNvSpPr txBox="1"/>
          <p:nvPr/>
        </p:nvSpPr>
        <p:spPr>
          <a:xfrm>
            <a:off x="9561773" y="2303564"/>
            <a:ext cx="6203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4492</a:t>
            </a:r>
          </a:p>
        </p:txBody>
      </p:sp>
      <p:sp>
        <p:nvSpPr>
          <p:cNvPr id="98" name="TextBox 97">
            <a:extLst>
              <a:ext uri="{FF2B5EF4-FFF2-40B4-BE49-F238E27FC236}">
                <a16:creationId xmlns:a16="http://schemas.microsoft.com/office/drawing/2014/main" id="{D59F3520-8148-0E72-FFF9-C39DB1CC4083}"/>
              </a:ext>
            </a:extLst>
          </p:cNvPr>
          <p:cNvSpPr txBox="1"/>
          <p:nvPr/>
        </p:nvSpPr>
        <p:spPr>
          <a:xfrm>
            <a:off x="9572283" y="2644565"/>
            <a:ext cx="62175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4690</a:t>
            </a:r>
          </a:p>
        </p:txBody>
      </p:sp>
      <p:sp>
        <p:nvSpPr>
          <p:cNvPr id="101" name="TextBox 100">
            <a:extLst>
              <a:ext uri="{FF2B5EF4-FFF2-40B4-BE49-F238E27FC236}">
                <a16:creationId xmlns:a16="http://schemas.microsoft.com/office/drawing/2014/main" id="{2127453A-1048-2C9D-1BE3-ABC273B9B834}"/>
              </a:ext>
            </a:extLst>
          </p:cNvPr>
          <p:cNvSpPr txBox="1"/>
          <p:nvPr/>
        </p:nvSpPr>
        <p:spPr>
          <a:xfrm>
            <a:off x="9572283" y="2985566"/>
            <a:ext cx="66925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3283</a:t>
            </a:r>
          </a:p>
        </p:txBody>
      </p:sp>
      <p:sp>
        <p:nvSpPr>
          <p:cNvPr id="103" name="TextBox 102">
            <a:extLst>
              <a:ext uri="{FF2B5EF4-FFF2-40B4-BE49-F238E27FC236}">
                <a16:creationId xmlns:a16="http://schemas.microsoft.com/office/drawing/2014/main" id="{6D5A5448-E979-2647-A646-68F256A8A4B9}"/>
              </a:ext>
            </a:extLst>
          </p:cNvPr>
          <p:cNvSpPr txBox="1"/>
          <p:nvPr/>
        </p:nvSpPr>
        <p:spPr>
          <a:xfrm>
            <a:off x="9572282" y="3326567"/>
            <a:ext cx="657377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3056</a:t>
            </a:r>
          </a:p>
        </p:txBody>
      </p:sp>
      <p:sp>
        <p:nvSpPr>
          <p:cNvPr id="104" name="TextBox 103">
            <a:extLst>
              <a:ext uri="{FF2B5EF4-FFF2-40B4-BE49-F238E27FC236}">
                <a16:creationId xmlns:a16="http://schemas.microsoft.com/office/drawing/2014/main" id="{15BDFC37-AA27-221B-5AD8-B9A763FC2EC0}"/>
              </a:ext>
            </a:extLst>
          </p:cNvPr>
          <p:cNvSpPr txBox="1"/>
          <p:nvPr/>
        </p:nvSpPr>
        <p:spPr>
          <a:xfrm>
            <a:off x="9567029" y="3667568"/>
            <a:ext cx="6745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1741</a:t>
            </a:r>
          </a:p>
        </p:txBody>
      </p:sp>
      <p:sp>
        <p:nvSpPr>
          <p:cNvPr id="105" name="TextBox 104">
            <a:extLst>
              <a:ext uri="{FF2B5EF4-FFF2-40B4-BE49-F238E27FC236}">
                <a16:creationId xmlns:a16="http://schemas.microsoft.com/office/drawing/2014/main" id="{B1A791DD-10A6-42C1-3325-DB5D6F96B7FA}"/>
              </a:ext>
            </a:extLst>
          </p:cNvPr>
          <p:cNvSpPr txBox="1"/>
          <p:nvPr/>
        </p:nvSpPr>
        <p:spPr>
          <a:xfrm>
            <a:off x="9567029" y="4008569"/>
            <a:ext cx="67450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1802</a:t>
            </a: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BD49BA32-9C1A-AAAB-8E77-ECF7A72C24C4}"/>
              </a:ext>
            </a:extLst>
          </p:cNvPr>
          <p:cNvSpPr txBox="1"/>
          <p:nvPr/>
        </p:nvSpPr>
        <p:spPr>
          <a:xfrm>
            <a:off x="9632342" y="4349570"/>
            <a:ext cx="6151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839</a:t>
            </a:r>
          </a:p>
        </p:txBody>
      </p:sp>
      <p:sp>
        <p:nvSpPr>
          <p:cNvPr id="109" name="TextBox 108">
            <a:extLst>
              <a:ext uri="{FF2B5EF4-FFF2-40B4-BE49-F238E27FC236}">
                <a16:creationId xmlns:a16="http://schemas.microsoft.com/office/drawing/2014/main" id="{5DFD3C96-CD21-4275-85E4-9536AC963EE4}"/>
              </a:ext>
            </a:extLst>
          </p:cNvPr>
          <p:cNvSpPr txBox="1"/>
          <p:nvPr/>
        </p:nvSpPr>
        <p:spPr>
          <a:xfrm>
            <a:off x="9452915" y="4690571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226-793</a:t>
            </a:r>
          </a:p>
        </p:txBody>
      </p:sp>
      <p:sp>
        <p:nvSpPr>
          <p:cNvPr id="110" name="TextBox 109">
            <a:extLst>
              <a:ext uri="{FF2B5EF4-FFF2-40B4-BE49-F238E27FC236}">
                <a16:creationId xmlns:a16="http://schemas.microsoft.com/office/drawing/2014/main" id="{D86C142C-FC6E-3E00-92A1-0F57CBAFDC7F}"/>
              </a:ext>
            </a:extLst>
          </p:cNvPr>
          <p:cNvSpPr txBox="1"/>
          <p:nvPr/>
        </p:nvSpPr>
        <p:spPr>
          <a:xfrm>
            <a:off x="9666713" y="5031572"/>
            <a:ext cx="596638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46</a:t>
            </a:r>
          </a:p>
        </p:txBody>
      </p:sp>
      <p:sp>
        <p:nvSpPr>
          <p:cNvPr id="113" name="TextBox 112">
            <a:extLst>
              <a:ext uri="{FF2B5EF4-FFF2-40B4-BE49-F238E27FC236}">
                <a16:creationId xmlns:a16="http://schemas.microsoft.com/office/drawing/2014/main" id="{DC3BE455-4E38-C548-FDDD-DF9FA0110EFE}"/>
              </a:ext>
            </a:extLst>
          </p:cNvPr>
          <p:cNvSpPr txBox="1"/>
          <p:nvPr/>
        </p:nvSpPr>
        <p:spPr>
          <a:xfrm>
            <a:off x="9703289" y="5372573"/>
            <a:ext cx="57288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131" name="TextBox 130">
            <a:extLst>
              <a:ext uri="{FF2B5EF4-FFF2-40B4-BE49-F238E27FC236}">
                <a16:creationId xmlns:a16="http://schemas.microsoft.com/office/drawing/2014/main" id="{F50BF239-D270-2F78-FD13-437074E7DFF0}"/>
              </a:ext>
            </a:extLst>
          </p:cNvPr>
          <p:cNvSpPr txBox="1"/>
          <p:nvPr/>
        </p:nvSpPr>
        <p:spPr>
          <a:xfrm>
            <a:off x="9698035" y="5713574"/>
            <a:ext cx="542516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9</a:t>
            </a:r>
          </a:p>
        </p:txBody>
      </p:sp>
      <p:sp>
        <p:nvSpPr>
          <p:cNvPr id="133" name="TextBox 132">
            <a:extLst>
              <a:ext uri="{FF2B5EF4-FFF2-40B4-BE49-F238E27FC236}">
                <a16:creationId xmlns:a16="http://schemas.microsoft.com/office/drawing/2014/main" id="{0D2337F8-751D-5352-7818-69D3DE3CBD4B}"/>
              </a:ext>
            </a:extLst>
          </p:cNvPr>
          <p:cNvSpPr txBox="1"/>
          <p:nvPr/>
        </p:nvSpPr>
        <p:spPr>
          <a:xfrm>
            <a:off x="9579600" y="6054575"/>
            <a:ext cx="59001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2-42</a:t>
            </a:r>
          </a:p>
        </p:txBody>
      </p:sp>
      <p:sp>
        <p:nvSpPr>
          <p:cNvPr id="134" name="TextBox 133">
            <a:extLst>
              <a:ext uri="{FF2B5EF4-FFF2-40B4-BE49-F238E27FC236}">
                <a16:creationId xmlns:a16="http://schemas.microsoft.com/office/drawing/2014/main" id="{B586C24B-58D8-D888-DFB6-4EFFA3C2BAFA}"/>
              </a:ext>
            </a:extLst>
          </p:cNvPr>
          <p:cNvSpPr txBox="1"/>
          <p:nvPr/>
        </p:nvSpPr>
        <p:spPr>
          <a:xfrm>
            <a:off x="9443742" y="6406327"/>
            <a:ext cx="914490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400" dirty="0">
                <a:latin typeface="Arial" panose="020B0604020202020204" pitchFamily="34" charset="0"/>
                <a:cs typeface="Arial" panose="020B0604020202020204" pitchFamily="34" charset="0"/>
              </a:rPr>
              <a:t>517-526</a:t>
            </a:r>
          </a:p>
        </p:txBody>
      </p:sp>
      <p:cxnSp>
        <p:nvCxnSpPr>
          <p:cNvPr id="136" name="Straight Connector 135">
            <a:extLst>
              <a:ext uri="{FF2B5EF4-FFF2-40B4-BE49-F238E27FC236}">
                <a16:creationId xmlns:a16="http://schemas.microsoft.com/office/drawing/2014/main" id="{41D2A6CE-69AC-6E7E-B4C0-CC9178146B2C}"/>
              </a:ext>
            </a:extLst>
          </p:cNvPr>
          <p:cNvCxnSpPr/>
          <p:nvPr/>
        </p:nvCxnSpPr>
        <p:spPr>
          <a:xfrm>
            <a:off x="7402464" y="777321"/>
            <a:ext cx="1277343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1" name="Straight Connector 170">
            <a:extLst>
              <a:ext uri="{FF2B5EF4-FFF2-40B4-BE49-F238E27FC236}">
                <a16:creationId xmlns:a16="http://schemas.microsoft.com/office/drawing/2014/main" id="{D39672EB-7C5E-D46D-02CF-E28A61A29C02}"/>
              </a:ext>
            </a:extLst>
          </p:cNvPr>
          <p:cNvCxnSpPr/>
          <p:nvPr/>
        </p:nvCxnSpPr>
        <p:spPr>
          <a:xfrm>
            <a:off x="8341041" y="1121964"/>
            <a:ext cx="36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Straight Connector 171">
            <a:extLst>
              <a:ext uri="{FF2B5EF4-FFF2-40B4-BE49-F238E27FC236}">
                <a16:creationId xmlns:a16="http://schemas.microsoft.com/office/drawing/2014/main" id="{438C5702-2A29-164B-1170-81EE055EB7AF}"/>
              </a:ext>
            </a:extLst>
          </p:cNvPr>
          <p:cNvCxnSpPr/>
          <p:nvPr/>
        </p:nvCxnSpPr>
        <p:spPr>
          <a:xfrm>
            <a:off x="6830431" y="1456582"/>
            <a:ext cx="187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3" name="Straight Connector 172">
            <a:extLst>
              <a:ext uri="{FF2B5EF4-FFF2-40B4-BE49-F238E27FC236}">
                <a16:creationId xmlns:a16="http://schemas.microsoft.com/office/drawing/2014/main" id="{F2C85FF8-0D79-566F-F65C-00ADA3B7D802}"/>
              </a:ext>
            </a:extLst>
          </p:cNvPr>
          <p:cNvCxnSpPr/>
          <p:nvPr/>
        </p:nvCxnSpPr>
        <p:spPr>
          <a:xfrm>
            <a:off x="7495229" y="1799307"/>
            <a:ext cx="12348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4" name="Straight Connector 173">
            <a:extLst>
              <a:ext uri="{FF2B5EF4-FFF2-40B4-BE49-F238E27FC236}">
                <a16:creationId xmlns:a16="http://schemas.microsoft.com/office/drawing/2014/main" id="{A8037CBF-841E-14E4-68C6-7358D5CDFC4B}"/>
              </a:ext>
            </a:extLst>
          </p:cNvPr>
          <p:cNvCxnSpPr/>
          <p:nvPr/>
        </p:nvCxnSpPr>
        <p:spPr>
          <a:xfrm>
            <a:off x="7306387" y="2134494"/>
            <a:ext cx="1404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Straight Connector 174">
            <a:extLst>
              <a:ext uri="{FF2B5EF4-FFF2-40B4-BE49-F238E27FC236}">
                <a16:creationId xmlns:a16="http://schemas.microsoft.com/office/drawing/2014/main" id="{24846FC5-CE1A-4A0D-317F-16FD743D8973}"/>
              </a:ext>
            </a:extLst>
          </p:cNvPr>
          <p:cNvCxnSpPr/>
          <p:nvPr/>
        </p:nvCxnSpPr>
        <p:spPr>
          <a:xfrm>
            <a:off x="7906043" y="2485100"/>
            <a:ext cx="8028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Straight Connector 175">
            <a:extLst>
              <a:ext uri="{FF2B5EF4-FFF2-40B4-BE49-F238E27FC236}">
                <a16:creationId xmlns:a16="http://schemas.microsoft.com/office/drawing/2014/main" id="{66255218-86D4-3880-853F-A2774C560D38}"/>
              </a:ext>
            </a:extLst>
          </p:cNvPr>
          <p:cNvCxnSpPr/>
          <p:nvPr/>
        </p:nvCxnSpPr>
        <p:spPr>
          <a:xfrm>
            <a:off x="7120861" y="2830226"/>
            <a:ext cx="162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7" name="Straight Connector 176">
            <a:extLst>
              <a:ext uri="{FF2B5EF4-FFF2-40B4-BE49-F238E27FC236}">
                <a16:creationId xmlns:a16="http://schemas.microsoft.com/office/drawing/2014/main" id="{C3EE3D83-651A-9C02-8789-884426F8E2ED}"/>
              </a:ext>
            </a:extLst>
          </p:cNvPr>
          <p:cNvCxnSpPr/>
          <p:nvPr/>
        </p:nvCxnSpPr>
        <p:spPr>
          <a:xfrm>
            <a:off x="6690165" y="3168148"/>
            <a:ext cx="2052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Straight Connector 177">
            <a:extLst>
              <a:ext uri="{FF2B5EF4-FFF2-40B4-BE49-F238E27FC236}">
                <a16:creationId xmlns:a16="http://schemas.microsoft.com/office/drawing/2014/main" id="{88FBF547-69CB-A2E1-4C0C-BF12CF48E149}"/>
              </a:ext>
            </a:extLst>
          </p:cNvPr>
          <p:cNvCxnSpPr/>
          <p:nvPr/>
        </p:nvCxnSpPr>
        <p:spPr>
          <a:xfrm>
            <a:off x="7157307" y="3502767"/>
            <a:ext cx="1565999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9" name="Straight Connector 178">
            <a:extLst>
              <a:ext uri="{FF2B5EF4-FFF2-40B4-BE49-F238E27FC236}">
                <a16:creationId xmlns:a16="http://schemas.microsoft.com/office/drawing/2014/main" id="{A89871B0-CD05-E2FD-57E2-FEED9731E2EB}"/>
              </a:ext>
            </a:extLst>
          </p:cNvPr>
          <p:cNvCxnSpPr/>
          <p:nvPr/>
        </p:nvCxnSpPr>
        <p:spPr>
          <a:xfrm>
            <a:off x="6726626" y="3854480"/>
            <a:ext cx="2015999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Straight Connector 179">
            <a:extLst>
              <a:ext uri="{FF2B5EF4-FFF2-40B4-BE49-F238E27FC236}">
                <a16:creationId xmlns:a16="http://schemas.microsoft.com/office/drawing/2014/main" id="{65896CA5-7319-E238-CE5F-B2B5C53CA444}"/>
              </a:ext>
            </a:extLst>
          </p:cNvPr>
          <p:cNvCxnSpPr/>
          <p:nvPr/>
        </p:nvCxnSpPr>
        <p:spPr>
          <a:xfrm>
            <a:off x="6413247" y="4190586"/>
            <a:ext cx="234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1" name="Straight Connector 180">
            <a:extLst>
              <a:ext uri="{FF2B5EF4-FFF2-40B4-BE49-F238E27FC236}">
                <a16:creationId xmlns:a16="http://schemas.microsoft.com/office/drawing/2014/main" id="{69B0B4B0-6362-909C-5D26-9C5BF68B6E63}"/>
              </a:ext>
            </a:extLst>
          </p:cNvPr>
          <p:cNvCxnSpPr/>
          <p:nvPr/>
        </p:nvCxnSpPr>
        <p:spPr>
          <a:xfrm>
            <a:off x="6824926" y="4529117"/>
            <a:ext cx="198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2" name="Straight Connector 181">
            <a:extLst>
              <a:ext uri="{FF2B5EF4-FFF2-40B4-BE49-F238E27FC236}">
                <a16:creationId xmlns:a16="http://schemas.microsoft.com/office/drawing/2014/main" id="{6B64CEAC-BBC7-A180-0FFC-D205C7AE2A31}"/>
              </a:ext>
            </a:extLst>
          </p:cNvPr>
          <p:cNvCxnSpPr/>
          <p:nvPr/>
        </p:nvCxnSpPr>
        <p:spPr>
          <a:xfrm>
            <a:off x="6818300" y="4871844"/>
            <a:ext cx="180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3" name="Straight Connector 182">
            <a:extLst>
              <a:ext uri="{FF2B5EF4-FFF2-40B4-BE49-F238E27FC236}">
                <a16:creationId xmlns:a16="http://schemas.microsoft.com/office/drawing/2014/main" id="{5931100B-2395-9959-6E2E-9C75866BA756}"/>
              </a:ext>
            </a:extLst>
          </p:cNvPr>
          <p:cNvCxnSpPr/>
          <p:nvPr/>
        </p:nvCxnSpPr>
        <p:spPr>
          <a:xfrm>
            <a:off x="7421234" y="5207218"/>
            <a:ext cx="144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75141F65-D444-72BA-3677-0704204471CF}"/>
              </a:ext>
            </a:extLst>
          </p:cNvPr>
          <p:cNvCxnSpPr/>
          <p:nvPr/>
        </p:nvCxnSpPr>
        <p:spPr>
          <a:xfrm>
            <a:off x="7421234" y="5541534"/>
            <a:ext cx="144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5" name="Straight Connector 184">
            <a:extLst>
              <a:ext uri="{FF2B5EF4-FFF2-40B4-BE49-F238E27FC236}">
                <a16:creationId xmlns:a16="http://schemas.microsoft.com/office/drawing/2014/main" id="{69F85024-EDD5-6541-376F-622E10E98A44}"/>
              </a:ext>
            </a:extLst>
          </p:cNvPr>
          <p:cNvCxnSpPr/>
          <p:nvPr/>
        </p:nvCxnSpPr>
        <p:spPr>
          <a:xfrm>
            <a:off x="7421234" y="5898041"/>
            <a:ext cx="1440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6" name="Straight Connector 185">
            <a:extLst>
              <a:ext uri="{FF2B5EF4-FFF2-40B4-BE49-F238E27FC236}">
                <a16:creationId xmlns:a16="http://schemas.microsoft.com/office/drawing/2014/main" id="{EBE7ABA6-1C68-B763-B524-3813A0865691}"/>
              </a:ext>
            </a:extLst>
          </p:cNvPr>
          <p:cNvCxnSpPr/>
          <p:nvPr/>
        </p:nvCxnSpPr>
        <p:spPr>
          <a:xfrm>
            <a:off x="7421234" y="6213722"/>
            <a:ext cx="1386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7" name="Straight Connector 186">
            <a:extLst>
              <a:ext uri="{FF2B5EF4-FFF2-40B4-BE49-F238E27FC236}">
                <a16:creationId xmlns:a16="http://schemas.microsoft.com/office/drawing/2014/main" id="{7E30C245-BA49-D191-ADFC-5C71C34546D0}"/>
              </a:ext>
            </a:extLst>
          </p:cNvPr>
          <p:cNvCxnSpPr/>
          <p:nvPr/>
        </p:nvCxnSpPr>
        <p:spPr>
          <a:xfrm>
            <a:off x="7055637" y="6565199"/>
            <a:ext cx="1584000" cy="0"/>
          </a:xfrm>
          <a:prstGeom prst="line">
            <a:avLst/>
          </a:prstGeom>
          <a:ln w="12700">
            <a:solidFill>
              <a:schemeClr val="bg1">
                <a:lumMod val="65000"/>
              </a:schemeClr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8" name="Right Brace 187">
            <a:extLst>
              <a:ext uri="{FF2B5EF4-FFF2-40B4-BE49-F238E27FC236}">
                <a16:creationId xmlns:a16="http://schemas.microsoft.com/office/drawing/2014/main" id="{C21E867A-EA52-ED7E-B7AA-63B529105BF2}"/>
              </a:ext>
            </a:extLst>
          </p:cNvPr>
          <p:cNvSpPr/>
          <p:nvPr/>
        </p:nvSpPr>
        <p:spPr>
          <a:xfrm>
            <a:off x="7278028" y="5162103"/>
            <a:ext cx="159026" cy="1147712"/>
          </a:xfrm>
          <a:prstGeom prst="rightBrace">
            <a:avLst/>
          </a:prstGeom>
          <a:ln w="952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821536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6C6153D3-1799-784C-846D-B000A5DA5B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27717" y="402587"/>
            <a:ext cx="9938587" cy="63327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51154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65B1D71C-67AA-784B-92E9-20FDD554F8B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00722"/>
            <a:ext cx="6256422" cy="3830184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3E6404C9-B53D-364A-B2E6-797D97491A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369" y="208371"/>
            <a:ext cx="5060437" cy="3822535"/>
          </a:xfrm>
          <a:prstGeom prst="rect">
            <a:avLst/>
          </a:prstGeom>
        </p:spPr>
      </p:pic>
      <p:sp>
        <p:nvSpPr>
          <p:cNvPr id="10" name="TextBox 9">
            <a:extLst>
              <a:ext uri="{FF2B5EF4-FFF2-40B4-BE49-F238E27FC236}">
                <a16:creationId xmlns:a16="http://schemas.microsoft.com/office/drawing/2014/main" id="{149E6A7B-4E51-2143-9C88-87F26BD65396}"/>
              </a:ext>
            </a:extLst>
          </p:cNvPr>
          <p:cNvSpPr txBox="1"/>
          <p:nvPr/>
        </p:nvSpPr>
        <p:spPr>
          <a:xfrm>
            <a:off x="7292898" y="4030906"/>
            <a:ext cx="398923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Filtered lengths &lt;2500 </a:t>
            </a:r>
            <a:r>
              <a:rPr lang="en-US" dirty="0" err="1"/>
              <a:t>bp</a:t>
            </a:r>
            <a:r>
              <a:rPr lang="en-US" dirty="0"/>
              <a:t>, and &lt;1.5 Mb</a:t>
            </a:r>
          </a:p>
        </p:txBody>
      </p:sp>
    </p:spTree>
    <p:extLst>
      <p:ext uri="{BB962C8B-B14F-4D97-AF65-F5344CB8AC3E}">
        <p14:creationId xmlns:p14="http://schemas.microsoft.com/office/powerpoint/2010/main" val="308657584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367FFF69-4F62-BBB3-7E34-44DA3883BE2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7191" y="574831"/>
            <a:ext cx="9370828" cy="50085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21001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8333BA2C-1347-6CF7-C733-4204EF41CFA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969" y="425302"/>
            <a:ext cx="6579796" cy="43727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4F756E17-FE9E-4DC6-F3CF-AABBBF0B49DD}"/>
              </a:ext>
            </a:extLst>
          </p:cNvPr>
          <p:cNvSpPr txBox="1"/>
          <p:nvPr/>
        </p:nvSpPr>
        <p:spPr>
          <a:xfrm>
            <a:off x="7856065" y="3519340"/>
            <a:ext cx="3343468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1600" b="1" dirty="0">
                <a:solidFill>
                  <a:srgbClr val="FF0000"/>
                </a:solidFill>
              </a:rPr>
              <a:t>C. </a:t>
            </a:r>
            <a:r>
              <a:rPr lang="en-US" sz="1600" dirty="0">
                <a:solidFill>
                  <a:srgbClr val="FF0000"/>
                </a:solidFill>
              </a:rPr>
              <a:t>Placeholder: depiction of the origin of the insert around the </a:t>
            </a:r>
            <a:r>
              <a:rPr lang="en-US" sz="1600" dirty="0" err="1">
                <a:solidFill>
                  <a:srgbClr val="FF0000"/>
                </a:solidFill>
              </a:rPr>
              <a:t>Blatta</a:t>
            </a:r>
            <a:r>
              <a:rPr lang="en-US" sz="1600" dirty="0">
                <a:solidFill>
                  <a:srgbClr val="FF0000"/>
                </a:solidFill>
              </a:rPr>
              <a:t> genome (waiting on Leo)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C0E847B-8FC5-0867-7196-259B77611FF8}"/>
              </a:ext>
            </a:extLst>
          </p:cNvPr>
          <p:cNvSpPr txBox="1"/>
          <p:nvPr/>
        </p:nvSpPr>
        <p:spPr>
          <a:xfrm>
            <a:off x="215683" y="425302"/>
            <a:ext cx="3241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A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DC883A01-AA48-044E-76DC-460544A87194}"/>
              </a:ext>
            </a:extLst>
          </p:cNvPr>
          <p:cNvPicPr>
            <a:picLocks noChangeAspect="1"/>
          </p:cNvPicPr>
          <p:nvPr/>
        </p:nvPicPr>
        <p:blipFill>
          <a:blip r:embed="rId4"/>
          <a:srcRect t="5172"/>
          <a:stretch>
            <a:fillRect/>
          </a:stretch>
        </p:blipFill>
        <p:spPr>
          <a:xfrm>
            <a:off x="7048374" y="496730"/>
            <a:ext cx="5104657" cy="2587255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2C6B5942-B39C-46A8-0714-63EF48E22894}"/>
              </a:ext>
            </a:extLst>
          </p:cNvPr>
          <p:cNvSpPr txBox="1"/>
          <p:nvPr/>
        </p:nvSpPr>
        <p:spPr>
          <a:xfrm>
            <a:off x="6720534" y="425302"/>
            <a:ext cx="31451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B</a:t>
            </a:r>
          </a:p>
        </p:txBody>
      </p:sp>
    </p:spTree>
    <p:extLst>
      <p:ext uri="{BB962C8B-B14F-4D97-AF65-F5344CB8AC3E}">
        <p14:creationId xmlns:p14="http://schemas.microsoft.com/office/powerpoint/2010/main" val="2560380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78AC1BD0-7DA5-E9BF-1323-A48980C680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99510" y="-103505"/>
            <a:ext cx="4617303" cy="68060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99593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61BBB3A3-78CA-A200-3731-AABEB7DD0C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30245" y="428307"/>
            <a:ext cx="5731510" cy="60013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33462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4CBCCAAD-C40A-0540-A342-CC95BED36479}"/>
              </a:ext>
            </a:extLst>
          </p:cNvPr>
          <p:cNvSpPr txBox="1"/>
          <p:nvPr/>
        </p:nvSpPr>
        <p:spPr>
          <a:xfrm>
            <a:off x="152327" y="-28505"/>
            <a:ext cx="9435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Figure 2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10DAFDE-3EB3-4D4D-8B16-A4102844234F}"/>
              </a:ext>
            </a:extLst>
          </p:cNvPr>
          <p:cNvSpPr txBox="1"/>
          <p:nvPr/>
        </p:nvSpPr>
        <p:spPr>
          <a:xfrm>
            <a:off x="1544595" y="2211859"/>
            <a:ext cx="4593309" cy="120032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Zhuzhi</a:t>
            </a:r>
            <a:r>
              <a:rPr lang="en-US" dirty="0"/>
              <a:t> figure.</a:t>
            </a:r>
          </a:p>
          <a:p>
            <a:endParaRPr lang="en-US" dirty="0"/>
          </a:p>
          <a:p>
            <a:r>
              <a:rPr lang="en-US" dirty="0"/>
              <a:t>Also maybe a couple of figure about old inserts</a:t>
            </a:r>
          </a:p>
          <a:p>
            <a:r>
              <a:rPr lang="en-US" dirty="0"/>
              <a:t>- An example from my one, and </a:t>
            </a:r>
            <a:r>
              <a:rPr lang="en-US" dirty="0" err="1"/>
              <a:t>Zhuzhi’s</a:t>
            </a:r>
            <a:r>
              <a:rPr lang="en-US" dirty="0"/>
              <a:t> one.</a:t>
            </a:r>
          </a:p>
        </p:txBody>
      </p:sp>
    </p:spTree>
    <p:extLst>
      <p:ext uri="{BB962C8B-B14F-4D97-AF65-F5344CB8AC3E}">
        <p14:creationId xmlns:p14="http://schemas.microsoft.com/office/powerpoint/2010/main" val="19362917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632</TotalTime>
  <Words>1087</Words>
  <Application>Microsoft Macintosh PowerPoint</Application>
  <PresentationFormat>Widescreen</PresentationFormat>
  <Paragraphs>248</Paragraphs>
  <Slides>10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4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Nathan Lo</dc:creator>
  <cp:lastModifiedBy>Kyle Ewart</cp:lastModifiedBy>
  <cp:revision>24</cp:revision>
  <dcterms:created xsi:type="dcterms:W3CDTF">2024-11-11T06:16:46Z</dcterms:created>
  <dcterms:modified xsi:type="dcterms:W3CDTF">2025-10-28T16:58:00Z</dcterms:modified>
</cp:coreProperties>
</file>