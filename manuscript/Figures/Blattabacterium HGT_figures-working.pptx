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5"/>
    <p:restoredTop sz="84761"/>
  </p:normalViewPr>
  <p:slideViewPr>
    <p:cSldViewPr snapToGrid="0">
      <p:cViewPr varScale="1">
        <p:scale>
          <a:sx n="104" d="100"/>
          <a:sy n="104" d="100"/>
        </p:scale>
        <p:origin x="6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FC65C6-6085-4244-82B2-63B076D03E9C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CB7D11-0DA4-4649-ACEB-1F19D5C36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835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Cladogram of taxa </a:t>
            </a:r>
            <a:r>
              <a:rPr lang="en-US" dirty="0" err="1"/>
              <a:t>analysed</a:t>
            </a:r>
            <a:r>
              <a:rPr lang="en-US" dirty="0"/>
              <a:t> for </a:t>
            </a:r>
            <a:r>
              <a:rPr lang="en-US" dirty="0" err="1"/>
              <a:t>Blattabacterium</a:t>
            </a:r>
            <a:r>
              <a:rPr lang="en-US" dirty="0"/>
              <a:t> HGT events</a:t>
            </a:r>
          </a:p>
          <a:p>
            <a:endParaRPr lang="en-US" dirty="0"/>
          </a:p>
          <a:p>
            <a:r>
              <a:rPr lang="en-US" dirty="0"/>
              <a:t>Nodes show divergence times (Ma) from Beasley-Hall et al (2021: for nodes internal to top 12 taxa) and Evangelista et al (2019: for nodes internal to remaining 6 taxa). One exception is value between P. </a:t>
            </a:r>
            <a:r>
              <a:rPr lang="en-US" dirty="0" err="1"/>
              <a:t>lata</a:t>
            </a:r>
            <a:endParaRPr lang="en-US" dirty="0"/>
          </a:p>
          <a:p>
            <a:endParaRPr lang="en-US" dirty="0"/>
          </a:p>
          <a:p>
            <a:r>
              <a:rPr lang="en-US" dirty="0"/>
              <a:t>and P. </a:t>
            </a:r>
            <a:r>
              <a:rPr lang="en-US" dirty="0" err="1"/>
              <a:t>cribrata</a:t>
            </a:r>
            <a:r>
              <a:rPr lang="en-US" dirty="0"/>
              <a:t>, which is from Adams et al 2024.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CB7D11-0DA4-4649-ACEB-1F19D5C36BF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0670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CC5EA-9DAF-AACF-1419-D291D7841F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D690EB-E812-B4F0-B1CE-A583D74FB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C1FCF-86FC-EF8D-0AED-8292E36D5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98897-90D8-9D4D-95EE-51EF37A9743C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4A176-F829-9DB0-1F40-2CF211CB5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10B39-EED2-0D52-DEC5-885DA1815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C30A1-0BE9-3241-A452-4C1F7161A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709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94C15-87D6-5517-7322-4CAEB0B5D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32308-FDA6-D4EB-EAA8-19EFCD8215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1826C-7B89-5DEE-F845-91CD47468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98897-90D8-9D4D-95EE-51EF37A9743C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8AD301-8AA6-4C75-F896-3E846BDF0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0D0F58-43CF-A605-C912-456A54EA3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C30A1-0BE9-3241-A452-4C1F7161A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350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E9AA1-E19D-B7D4-A9A4-705363ADF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B5B83-3459-3069-8A0B-2DC0A6C784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6C11A-14DE-19C9-95EC-1A566AD49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98897-90D8-9D4D-95EE-51EF37A9743C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6D86E-3FEE-E4D8-F386-AEDCCBC0B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AAD0D9-3497-F134-E3FF-D101AF6F4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C30A1-0BE9-3241-A452-4C1F7161A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669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94423-50A9-B9A4-3E32-8D3607F45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AA479-5A6C-FAF4-D983-3C069A803D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B3A145-79E5-4E3C-A332-A677BD5767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156CF7-5A57-6614-9813-FF9881840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98897-90D8-9D4D-95EE-51EF37A9743C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A84C2E-C279-85A2-C82D-B0BC502B2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AB0653-ED73-B419-CC3A-23B285B20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C30A1-0BE9-3241-A452-4C1F7161A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689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1400D-166D-B5AA-9FF3-3A8CE554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AC418B-14A9-BA41-645E-F99A02F499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2DB0B2-619E-3DB9-EEE3-0FCBCDABF8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2FFD0B-53B5-13CF-0FD6-DDB4BA289D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800C3F-2A1D-A814-8CCA-6371E85A1C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795A93-EEA0-E73E-87AB-A74BCB0F3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98897-90D8-9D4D-95EE-51EF37A9743C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F27BBD-591A-0366-07AF-27EF72C6F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C6C555-AFB5-6E47-0CD5-BC74D714A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C30A1-0BE9-3241-A452-4C1F7161A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087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BEA2B-40CA-A90A-CB7B-F94FA2837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723E47-7F34-EDD9-7C3F-5B8099150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98897-90D8-9D4D-95EE-51EF37A9743C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304B3A-74E2-3B93-CE16-99C7585A9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53F696-6E74-D5D0-FA3A-76A1A4ADC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C30A1-0BE9-3241-A452-4C1F7161A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343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B77A33-D20C-BA98-E24C-8B1692DFF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98897-90D8-9D4D-95EE-51EF37A9743C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48135E-5E12-1699-8169-7C5D4DA49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D3938F-0AD3-A238-2272-583E41341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C30A1-0BE9-3241-A452-4C1F7161A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935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743DE-F253-B27C-3FFD-7E2C0E118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26A8C-EB72-A207-A81A-94F3732FD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8A68EB-88DD-0D87-E861-BBF40E326A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065729-D340-0C4A-1343-FB7A167BD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98897-90D8-9D4D-95EE-51EF37A9743C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0DD2EE-414A-26FA-3915-CA0E7DD9F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F21F5A-3E33-2EBC-3F2B-1DF7E8BDF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C30A1-0BE9-3241-A452-4C1F7161A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068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A6469-AF0C-9074-6512-0C76C497D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F76899-896C-1C8C-2778-371DFBD28D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4279B2-77F2-8F27-788C-05534D27C9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5C8051-4015-A29D-A713-0FC3F5B30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98897-90D8-9D4D-95EE-51EF37A9743C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5E2AD8-74A7-04D1-D844-0A538F307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2AA30-2D86-08CD-2F85-BC80348B8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C30A1-0BE9-3241-A452-4C1F7161A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176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0D734-0B25-BDAD-29CD-89F2EEC32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7769AA-441D-62A6-3FFF-0CD509FE7E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5AA11F-4464-A3C1-00AA-769B190C5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98897-90D8-9D4D-95EE-51EF37A9743C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99A28-534F-A589-3EA3-485A79B5F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547CE-174A-02B6-E01D-3CBF43013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C30A1-0BE9-3241-A452-4C1F7161A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071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B78D49-CA24-C4D0-316D-854CF4E5B1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9FE7A1-648A-573E-A0BE-5745DD0548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65EDDD-0066-2E3E-9C69-D6B4FA2D9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98897-90D8-9D4D-95EE-51EF37A9743C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F3DDE-1D62-0B8E-A46E-0BF312D44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931A7-F7FF-8FC4-F38D-2D112B984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C30A1-0BE9-3241-A452-4C1F7161A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733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390DF2-9748-CC0D-92B9-628A4AA39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D22E95-AB9C-AE09-C66A-B5488E2BD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EC2841-62F8-FB86-5B13-3E2561FC46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B98897-90D8-9D4D-95EE-51EF37A9743C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7C055-237F-6071-E858-D3F12514D9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4C4F8-BEC6-644B-A400-0E608084B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6C30A1-0BE9-3241-A452-4C1F7161A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312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836DD86-B9DF-36C9-A98F-CA5E1FB96A50}"/>
              </a:ext>
            </a:extLst>
          </p:cNvPr>
          <p:cNvSpPr txBox="1"/>
          <p:nvPr/>
        </p:nvSpPr>
        <p:spPr>
          <a:xfrm>
            <a:off x="5140510" y="615171"/>
            <a:ext cx="3710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Macropanesthia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lithgowae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Z004 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Murgon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5EC0A9-B9BD-963F-C5A6-E62991557B95}"/>
              </a:ext>
            </a:extLst>
          </p:cNvPr>
          <p:cNvSpPr txBox="1"/>
          <p:nvPr/>
        </p:nvSpPr>
        <p:spPr>
          <a:xfrm>
            <a:off x="5140510" y="957898"/>
            <a:ext cx="45614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Panesthia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tryoni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tryoni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Z005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Kroombit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Tops)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B833C6-5059-3F2B-0656-649BB2D62B48}"/>
              </a:ext>
            </a:extLst>
          </p:cNvPr>
          <p:cNvSpPr txBox="1"/>
          <p:nvPr/>
        </p:nvSpPr>
        <p:spPr>
          <a:xfrm>
            <a:off x="5140509" y="1300625"/>
            <a:ext cx="42251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Panesthia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gigantea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Z020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(location TBD)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6740E5-743E-5429-BBA3-695337967929}"/>
              </a:ext>
            </a:extLst>
          </p:cNvPr>
          <p:cNvSpPr txBox="1"/>
          <p:nvPr/>
        </p:nvSpPr>
        <p:spPr>
          <a:xfrm>
            <a:off x="5140509" y="1643352"/>
            <a:ext cx="45614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Panesthia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tryoni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tegminifera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Z011 (Washpool)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F5AD9C-C18A-14DD-6E16-FC6090ABF16E}"/>
              </a:ext>
            </a:extLst>
          </p:cNvPr>
          <p:cNvSpPr txBox="1"/>
          <p:nvPr/>
        </p:nvSpPr>
        <p:spPr>
          <a:xfrm>
            <a:off x="5140509" y="1986079"/>
            <a:ext cx="45614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Neogeoscapheus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dahmsi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Z014 (location TBD)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7760B7-E7B6-A6CC-CB23-02C2A3B68B86}"/>
              </a:ext>
            </a:extLst>
          </p:cNvPr>
          <p:cNvSpPr txBox="1"/>
          <p:nvPr/>
        </p:nvSpPr>
        <p:spPr>
          <a:xfrm>
            <a:off x="5140509" y="2328806"/>
            <a:ext cx="45614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Panesthia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tryoni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tryoni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Z012 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Eungella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564D44-043D-94C7-F6C3-1DEF21E8E660}"/>
              </a:ext>
            </a:extLst>
          </p:cNvPr>
          <p:cNvSpPr txBox="1"/>
          <p:nvPr/>
        </p:nvSpPr>
        <p:spPr>
          <a:xfrm>
            <a:off x="5140509" y="2671533"/>
            <a:ext cx="32413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Geoscapheus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dilatatus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Gilgandra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9F0262-3654-66DD-1C1E-3D0830C06A73}"/>
              </a:ext>
            </a:extLst>
          </p:cNvPr>
          <p:cNvSpPr txBox="1"/>
          <p:nvPr/>
        </p:nvSpPr>
        <p:spPr>
          <a:xfrm>
            <a:off x="5140509" y="3014260"/>
            <a:ext cx="45614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Panesthia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sloanei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Z001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(Mt Baldy)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F0AD8B-8964-B84F-96E9-2261FEEA69BE}"/>
              </a:ext>
            </a:extLst>
          </p:cNvPr>
          <p:cNvSpPr txBox="1"/>
          <p:nvPr/>
        </p:nvSpPr>
        <p:spPr>
          <a:xfrm>
            <a:off x="5140509" y="3356987"/>
            <a:ext cx="45614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Neogeoscapheus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hanni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(Mt Molloy)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CB6B5D-5983-112E-8D51-3581BE2E0683}"/>
              </a:ext>
            </a:extLst>
          </p:cNvPr>
          <p:cNvSpPr txBox="1"/>
          <p:nvPr/>
        </p:nvSpPr>
        <p:spPr>
          <a:xfrm>
            <a:off x="5128732" y="4042441"/>
            <a:ext cx="45614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Panesthia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lata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M001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(Lord Howe Island)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EC9C75-BCC4-4F7F-6F62-1CF25357A908}"/>
              </a:ext>
            </a:extLst>
          </p:cNvPr>
          <p:cNvSpPr txBox="1"/>
          <p:nvPr/>
        </p:nvSpPr>
        <p:spPr>
          <a:xfrm>
            <a:off x="5140509" y="3699714"/>
            <a:ext cx="45614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Panesthia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cribrata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(North Manly)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CB6A99-6B82-8092-E383-80A2B09639C6}"/>
              </a:ext>
            </a:extLst>
          </p:cNvPr>
          <p:cNvSpPr txBox="1"/>
          <p:nvPr/>
        </p:nvSpPr>
        <p:spPr>
          <a:xfrm>
            <a:off x="5140509" y="4385168"/>
            <a:ext cx="45614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Diploptera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punctata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B647CD-7360-2693-9879-0191701FE355}"/>
              </a:ext>
            </a:extLst>
          </p:cNvPr>
          <p:cNvSpPr txBox="1"/>
          <p:nvPr/>
        </p:nvSpPr>
        <p:spPr>
          <a:xfrm>
            <a:off x="5140509" y="4727895"/>
            <a:ext cx="45614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Blattella germanica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774CDA-2EB5-1A9F-0EE1-84B0F338E848}"/>
              </a:ext>
            </a:extLst>
          </p:cNvPr>
          <p:cNvSpPr txBox="1"/>
          <p:nvPr/>
        </p:nvSpPr>
        <p:spPr>
          <a:xfrm>
            <a:off x="5128732" y="6392527"/>
            <a:ext cx="45614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Periplaneta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americana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A4EB622-B3AA-5B0D-366F-31EC8D2C1CB9}"/>
              </a:ext>
            </a:extLst>
          </p:cNvPr>
          <p:cNvSpPr txBox="1"/>
          <p:nvPr/>
        </p:nvSpPr>
        <p:spPr>
          <a:xfrm>
            <a:off x="5128732" y="6065621"/>
            <a:ext cx="45614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Zootermopsis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nevadensis</a:t>
            </a:r>
            <a:endParaRPr 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4480A82-EF6D-319E-1593-C6D1CB86013C}"/>
              </a:ext>
            </a:extLst>
          </p:cNvPr>
          <p:cNvSpPr txBox="1"/>
          <p:nvPr/>
        </p:nvSpPr>
        <p:spPr>
          <a:xfrm>
            <a:off x="5127526" y="5070848"/>
            <a:ext cx="45614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Reticulitermes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lucifugus</a:t>
            </a:r>
            <a:endParaRPr 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894FF59-47EB-CB15-6976-165828DFD838}"/>
              </a:ext>
            </a:extLst>
          </p:cNvPr>
          <p:cNvSpPr txBox="1"/>
          <p:nvPr/>
        </p:nvSpPr>
        <p:spPr>
          <a:xfrm>
            <a:off x="5125974" y="5738715"/>
            <a:ext cx="45614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Cryptotermes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secundus</a:t>
            </a:r>
            <a:endParaRPr 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6547CA-71D1-6886-0C25-B7C568AE0661}"/>
              </a:ext>
            </a:extLst>
          </p:cNvPr>
          <p:cNvSpPr txBox="1"/>
          <p:nvPr/>
        </p:nvSpPr>
        <p:spPr>
          <a:xfrm>
            <a:off x="5121739" y="5388532"/>
            <a:ext cx="45614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Coptotermes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formosanus</a:t>
            </a:r>
            <a:endParaRPr 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EC0EF28-979B-A325-8EF5-2B8B7233AB03}"/>
              </a:ext>
            </a:extLst>
          </p:cNvPr>
          <p:cNvCxnSpPr/>
          <p:nvPr/>
        </p:nvCxnSpPr>
        <p:spPr>
          <a:xfrm flipH="1">
            <a:off x="4654476" y="780634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C2AFD39-E062-0327-60C0-F2E3CF01D924}"/>
              </a:ext>
            </a:extLst>
          </p:cNvPr>
          <p:cNvCxnSpPr/>
          <p:nvPr/>
        </p:nvCxnSpPr>
        <p:spPr>
          <a:xfrm flipH="1">
            <a:off x="4654678" y="1123361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0BB347D-BC4E-BCE2-3003-14AB1293F5FB}"/>
              </a:ext>
            </a:extLst>
          </p:cNvPr>
          <p:cNvCxnSpPr>
            <a:cxnSpLocks/>
          </p:cNvCxnSpPr>
          <p:nvPr/>
        </p:nvCxnSpPr>
        <p:spPr>
          <a:xfrm>
            <a:off x="4666350" y="780634"/>
            <a:ext cx="0" cy="34272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1EE4A04-0AD1-3FFA-73FD-35E40215007A}"/>
              </a:ext>
            </a:extLst>
          </p:cNvPr>
          <p:cNvCxnSpPr/>
          <p:nvPr/>
        </p:nvCxnSpPr>
        <p:spPr>
          <a:xfrm flipH="1">
            <a:off x="4654476" y="1454513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51A284F-D12D-72B4-03C2-5080BAF0D390}"/>
              </a:ext>
            </a:extLst>
          </p:cNvPr>
          <p:cNvCxnSpPr/>
          <p:nvPr/>
        </p:nvCxnSpPr>
        <p:spPr>
          <a:xfrm flipH="1">
            <a:off x="4654678" y="1797240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F9DC3AF-162E-2E3F-9A7F-1411BA44DF34}"/>
              </a:ext>
            </a:extLst>
          </p:cNvPr>
          <p:cNvCxnSpPr>
            <a:cxnSpLocks/>
          </p:cNvCxnSpPr>
          <p:nvPr/>
        </p:nvCxnSpPr>
        <p:spPr>
          <a:xfrm>
            <a:off x="4666350" y="1454513"/>
            <a:ext cx="0" cy="34272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9F4B79F-5516-BEDC-F3E2-4B0970DC5272}"/>
              </a:ext>
            </a:extLst>
          </p:cNvPr>
          <p:cNvCxnSpPr/>
          <p:nvPr/>
        </p:nvCxnSpPr>
        <p:spPr>
          <a:xfrm flipH="1">
            <a:off x="4215543" y="947164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8E464AB-0C35-26A0-8F2C-8E556D6BFD02}"/>
              </a:ext>
            </a:extLst>
          </p:cNvPr>
          <p:cNvCxnSpPr/>
          <p:nvPr/>
        </p:nvCxnSpPr>
        <p:spPr>
          <a:xfrm flipH="1">
            <a:off x="4223963" y="1612360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0FF1D81-4360-3F84-3DAF-D419ECBC0138}"/>
              </a:ext>
            </a:extLst>
          </p:cNvPr>
          <p:cNvCxnSpPr>
            <a:cxnSpLocks/>
          </p:cNvCxnSpPr>
          <p:nvPr/>
        </p:nvCxnSpPr>
        <p:spPr>
          <a:xfrm>
            <a:off x="4227417" y="939248"/>
            <a:ext cx="0" cy="68267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4DD19CB-F4D7-0B3C-80FC-DC20B48FA646}"/>
              </a:ext>
            </a:extLst>
          </p:cNvPr>
          <p:cNvCxnSpPr/>
          <p:nvPr/>
        </p:nvCxnSpPr>
        <p:spPr>
          <a:xfrm flipH="1">
            <a:off x="4654475" y="2134494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8D676EA-4B4E-2412-A8EE-E31F19D83A4D}"/>
              </a:ext>
            </a:extLst>
          </p:cNvPr>
          <p:cNvCxnSpPr/>
          <p:nvPr/>
        </p:nvCxnSpPr>
        <p:spPr>
          <a:xfrm flipH="1">
            <a:off x="4654677" y="2477221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2BD446E-FADC-A4E0-C092-817AAD48CEF1}"/>
              </a:ext>
            </a:extLst>
          </p:cNvPr>
          <p:cNvCxnSpPr>
            <a:cxnSpLocks/>
          </p:cNvCxnSpPr>
          <p:nvPr/>
        </p:nvCxnSpPr>
        <p:spPr>
          <a:xfrm>
            <a:off x="4666349" y="2134494"/>
            <a:ext cx="0" cy="34272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F9093DC-3D88-C855-C957-B287579F821F}"/>
              </a:ext>
            </a:extLst>
          </p:cNvPr>
          <p:cNvCxnSpPr>
            <a:cxnSpLocks/>
          </p:cNvCxnSpPr>
          <p:nvPr/>
        </p:nvCxnSpPr>
        <p:spPr>
          <a:xfrm flipH="1">
            <a:off x="3775232" y="2292341"/>
            <a:ext cx="89953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1609972-DE50-51F8-D08D-392401806B7C}"/>
              </a:ext>
            </a:extLst>
          </p:cNvPr>
          <p:cNvCxnSpPr/>
          <p:nvPr/>
        </p:nvCxnSpPr>
        <p:spPr>
          <a:xfrm flipH="1">
            <a:off x="3764736" y="1257628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6F46BB5-826D-E702-24A5-8F66D2F89E87}"/>
              </a:ext>
            </a:extLst>
          </p:cNvPr>
          <p:cNvCxnSpPr>
            <a:cxnSpLocks/>
          </p:cNvCxnSpPr>
          <p:nvPr/>
        </p:nvCxnSpPr>
        <p:spPr>
          <a:xfrm>
            <a:off x="3775232" y="1254203"/>
            <a:ext cx="0" cy="1038138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771BCD0-F7CE-9EEB-6846-49F9866014A2}"/>
              </a:ext>
            </a:extLst>
          </p:cNvPr>
          <p:cNvCxnSpPr/>
          <p:nvPr/>
        </p:nvCxnSpPr>
        <p:spPr>
          <a:xfrm flipH="1">
            <a:off x="3313929" y="1773152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0634F2E-ABC4-1387-E3C1-3ADFBDB69D87}"/>
              </a:ext>
            </a:extLst>
          </p:cNvPr>
          <p:cNvCxnSpPr>
            <a:cxnSpLocks/>
          </p:cNvCxnSpPr>
          <p:nvPr/>
        </p:nvCxnSpPr>
        <p:spPr>
          <a:xfrm flipH="1">
            <a:off x="3331290" y="2848667"/>
            <a:ext cx="1762923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41CB6D0-DF9D-C0C2-6593-C2536D00B090}"/>
              </a:ext>
            </a:extLst>
          </p:cNvPr>
          <p:cNvCxnSpPr>
            <a:cxnSpLocks/>
          </p:cNvCxnSpPr>
          <p:nvPr/>
        </p:nvCxnSpPr>
        <p:spPr>
          <a:xfrm>
            <a:off x="3325503" y="1761578"/>
            <a:ext cx="0" cy="1095189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8FAC41C-615E-9A97-2E08-134AE68ABF9E}"/>
              </a:ext>
            </a:extLst>
          </p:cNvPr>
          <p:cNvCxnSpPr/>
          <p:nvPr/>
        </p:nvCxnSpPr>
        <p:spPr>
          <a:xfrm flipH="1">
            <a:off x="4648988" y="3171223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17D43172-B944-DF61-7AE0-EABF62F9ED59}"/>
              </a:ext>
            </a:extLst>
          </p:cNvPr>
          <p:cNvCxnSpPr/>
          <p:nvPr/>
        </p:nvCxnSpPr>
        <p:spPr>
          <a:xfrm flipH="1">
            <a:off x="4649190" y="3513950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C36FF4A-164D-5627-D50A-16FD2C519317}"/>
              </a:ext>
            </a:extLst>
          </p:cNvPr>
          <p:cNvCxnSpPr>
            <a:cxnSpLocks/>
          </p:cNvCxnSpPr>
          <p:nvPr/>
        </p:nvCxnSpPr>
        <p:spPr>
          <a:xfrm>
            <a:off x="4660862" y="3171223"/>
            <a:ext cx="0" cy="34272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E435C8FB-DC79-6634-2F94-B51B10DBA040}"/>
              </a:ext>
            </a:extLst>
          </p:cNvPr>
          <p:cNvCxnSpPr>
            <a:cxnSpLocks/>
          </p:cNvCxnSpPr>
          <p:nvPr/>
        </p:nvCxnSpPr>
        <p:spPr>
          <a:xfrm flipH="1">
            <a:off x="2874696" y="3329070"/>
            <a:ext cx="1794586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2B7B06D-09C7-F07B-8F08-4845A8F9F37A}"/>
              </a:ext>
            </a:extLst>
          </p:cNvPr>
          <p:cNvCxnSpPr/>
          <p:nvPr/>
        </p:nvCxnSpPr>
        <p:spPr>
          <a:xfrm flipH="1">
            <a:off x="2874696" y="2306405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BA1BA2D-A026-D535-ACE9-F88774FC17D5}"/>
              </a:ext>
            </a:extLst>
          </p:cNvPr>
          <p:cNvCxnSpPr>
            <a:cxnSpLocks/>
          </p:cNvCxnSpPr>
          <p:nvPr/>
        </p:nvCxnSpPr>
        <p:spPr>
          <a:xfrm>
            <a:off x="2880483" y="2295285"/>
            <a:ext cx="0" cy="1047301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702F7CA6-C30A-2736-8139-446CCFE792C6}"/>
              </a:ext>
            </a:extLst>
          </p:cNvPr>
          <p:cNvCxnSpPr/>
          <p:nvPr/>
        </p:nvCxnSpPr>
        <p:spPr>
          <a:xfrm flipH="1">
            <a:off x="2423889" y="2818935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F0B4BC79-6D06-931F-79C3-CC53482DF973}"/>
              </a:ext>
            </a:extLst>
          </p:cNvPr>
          <p:cNvCxnSpPr/>
          <p:nvPr/>
        </p:nvCxnSpPr>
        <p:spPr>
          <a:xfrm flipH="1">
            <a:off x="4643406" y="3853602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A4AC5993-92EA-B716-6AD6-28691C19AACE}"/>
              </a:ext>
            </a:extLst>
          </p:cNvPr>
          <p:cNvCxnSpPr/>
          <p:nvPr/>
        </p:nvCxnSpPr>
        <p:spPr>
          <a:xfrm flipH="1">
            <a:off x="4643608" y="4196329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C17F5E15-7D22-FC85-663F-5F8E38234C74}"/>
              </a:ext>
            </a:extLst>
          </p:cNvPr>
          <p:cNvCxnSpPr>
            <a:cxnSpLocks/>
          </p:cNvCxnSpPr>
          <p:nvPr/>
        </p:nvCxnSpPr>
        <p:spPr>
          <a:xfrm>
            <a:off x="4655280" y="3853602"/>
            <a:ext cx="0" cy="34272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6404950D-1D25-E336-A20E-524FDF884E5D}"/>
              </a:ext>
            </a:extLst>
          </p:cNvPr>
          <p:cNvCxnSpPr>
            <a:cxnSpLocks/>
          </p:cNvCxnSpPr>
          <p:nvPr/>
        </p:nvCxnSpPr>
        <p:spPr>
          <a:xfrm flipH="1">
            <a:off x="2423889" y="4017236"/>
            <a:ext cx="2239811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F2063E2C-C3CB-730E-7B36-D7AB54ECEE57}"/>
              </a:ext>
            </a:extLst>
          </p:cNvPr>
          <p:cNvCxnSpPr>
            <a:cxnSpLocks/>
          </p:cNvCxnSpPr>
          <p:nvPr/>
        </p:nvCxnSpPr>
        <p:spPr>
          <a:xfrm>
            <a:off x="2423889" y="2806301"/>
            <a:ext cx="0" cy="1218664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DDD71891-6A15-7877-8A6C-09F1DB597682}"/>
              </a:ext>
            </a:extLst>
          </p:cNvPr>
          <p:cNvCxnSpPr>
            <a:cxnSpLocks/>
          </p:cNvCxnSpPr>
          <p:nvPr/>
        </p:nvCxnSpPr>
        <p:spPr>
          <a:xfrm flipH="1">
            <a:off x="1973082" y="4539056"/>
            <a:ext cx="3121131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57020FE-85EF-F134-AF78-9CF3837A95E9}"/>
              </a:ext>
            </a:extLst>
          </p:cNvPr>
          <p:cNvCxnSpPr/>
          <p:nvPr/>
        </p:nvCxnSpPr>
        <p:spPr>
          <a:xfrm flipH="1">
            <a:off x="1973082" y="3415633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5F7048F2-19EC-B963-A9F3-EB8770954137}"/>
              </a:ext>
            </a:extLst>
          </p:cNvPr>
          <p:cNvCxnSpPr>
            <a:cxnSpLocks/>
          </p:cNvCxnSpPr>
          <p:nvPr/>
        </p:nvCxnSpPr>
        <p:spPr>
          <a:xfrm>
            <a:off x="1978039" y="3407904"/>
            <a:ext cx="0" cy="1131152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3AD06155-6E2D-D8F1-D1A8-EB74A306C7AD}"/>
              </a:ext>
            </a:extLst>
          </p:cNvPr>
          <p:cNvCxnSpPr/>
          <p:nvPr/>
        </p:nvCxnSpPr>
        <p:spPr>
          <a:xfrm flipH="1">
            <a:off x="1522275" y="3973480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AB16C56B-E46B-BC0E-8C75-D22EBDD4DBDB}"/>
              </a:ext>
            </a:extLst>
          </p:cNvPr>
          <p:cNvCxnSpPr>
            <a:cxnSpLocks/>
          </p:cNvCxnSpPr>
          <p:nvPr/>
        </p:nvCxnSpPr>
        <p:spPr>
          <a:xfrm>
            <a:off x="1527007" y="3965735"/>
            <a:ext cx="0" cy="916048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D2F9639B-8589-0084-4BAB-BB29A8D66B12}"/>
              </a:ext>
            </a:extLst>
          </p:cNvPr>
          <p:cNvCxnSpPr>
            <a:cxnSpLocks/>
          </p:cNvCxnSpPr>
          <p:nvPr/>
        </p:nvCxnSpPr>
        <p:spPr>
          <a:xfrm flipH="1">
            <a:off x="1522275" y="4881885"/>
            <a:ext cx="3571938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1474AF74-865C-DEE2-A374-01251A4416D8}"/>
              </a:ext>
            </a:extLst>
          </p:cNvPr>
          <p:cNvCxnSpPr/>
          <p:nvPr/>
        </p:nvCxnSpPr>
        <p:spPr>
          <a:xfrm flipH="1">
            <a:off x="1071468" y="4423759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CFD81DDE-CD97-878C-B298-5A162696F8DB}"/>
              </a:ext>
            </a:extLst>
          </p:cNvPr>
          <p:cNvCxnSpPr/>
          <p:nvPr/>
        </p:nvCxnSpPr>
        <p:spPr>
          <a:xfrm flipH="1">
            <a:off x="4633663" y="5224510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DE57728D-04DE-0987-5245-C2A8D9F733A4}"/>
              </a:ext>
            </a:extLst>
          </p:cNvPr>
          <p:cNvCxnSpPr/>
          <p:nvPr/>
        </p:nvCxnSpPr>
        <p:spPr>
          <a:xfrm flipH="1">
            <a:off x="4633865" y="5567237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304B9634-BDB8-B137-B404-F1942C836A75}"/>
              </a:ext>
            </a:extLst>
          </p:cNvPr>
          <p:cNvCxnSpPr>
            <a:cxnSpLocks/>
          </p:cNvCxnSpPr>
          <p:nvPr/>
        </p:nvCxnSpPr>
        <p:spPr>
          <a:xfrm>
            <a:off x="4645537" y="5224510"/>
            <a:ext cx="0" cy="34272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71F5DCE3-8768-DFE2-6F19-54519C387E2F}"/>
              </a:ext>
            </a:extLst>
          </p:cNvPr>
          <p:cNvCxnSpPr>
            <a:cxnSpLocks/>
          </p:cNvCxnSpPr>
          <p:nvPr/>
        </p:nvCxnSpPr>
        <p:spPr>
          <a:xfrm flipH="1">
            <a:off x="4193637" y="5892603"/>
            <a:ext cx="89953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85CBC75E-3CD8-8E7A-118E-286EFEDA63FD}"/>
              </a:ext>
            </a:extLst>
          </p:cNvPr>
          <p:cNvCxnSpPr/>
          <p:nvPr/>
        </p:nvCxnSpPr>
        <p:spPr>
          <a:xfrm flipH="1">
            <a:off x="4193637" y="5395873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01D278E5-6C0C-EB8C-1BF2-B7603E3547DA}"/>
              </a:ext>
            </a:extLst>
          </p:cNvPr>
          <p:cNvCxnSpPr>
            <a:cxnSpLocks/>
          </p:cNvCxnSpPr>
          <p:nvPr/>
        </p:nvCxnSpPr>
        <p:spPr>
          <a:xfrm>
            <a:off x="4206964" y="5390086"/>
            <a:ext cx="0" cy="50251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436C4EB4-C78B-22A1-4E53-72B620B7E145}"/>
              </a:ext>
            </a:extLst>
          </p:cNvPr>
          <p:cNvCxnSpPr/>
          <p:nvPr/>
        </p:nvCxnSpPr>
        <p:spPr>
          <a:xfrm flipH="1">
            <a:off x="3742830" y="5653311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979538B3-F42F-BFCD-E1D4-4C515262C169}"/>
              </a:ext>
            </a:extLst>
          </p:cNvPr>
          <p:cNvCxnSpPr>
            <a:cxnSpLocks/>
          </p:cNvCxnSpPr>
          <p:nvPr/>
        </p:nvCxnSpPr>
        <p:spPr>
          <a:xfrm>
            <a:off x="3748617" y="5641344"/>
            <a:ext cx="0" cy="578165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30E79C8B-2315-6E07-8204-ACEF3EDA95B6}"/>
              </a:ext>
            </a:extLst>
          </p:cNvPr>
          <p:cNvCxnSpPr>
            <a:cxnSpLocks/>
          </p:cNvCxnSpPr>
          <p:nvPr/>
        </p:nvCxnSpPr>
        <p:spPr>
          <a:xfrm flipH="1">
            <a:off x="3742830" y="6213722"/>
            <a:ext cx="1340601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53684046-E32F-8066-8337-52CF82A91F7F}"/>
              </a:ext>
            </a:extLst>
          </p:cNvPr>
          <p:cNvCxnSpPr/>
          <p:nvPr/>
        </p:nvCxnSpPr>
        <p:spPr>
          <a:xfrm flipH="1">
            <a:off x="3292023" y="5939401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1635BDDC-03E0-94B7-6BA7-083DA9CA0E08}"/>
              </a:ext>
            </a:extLst>
          </p:cNvPr>
          <p:cNvCxnSpPr>
            <a:cxnSpLocks/>
          </p:cNvCxnSpPr>
          <p:nvPr/>
        </p:nvCxnSpPr>
        <p:spPr>
          <a:xfrm flipH="1">
            <a:off x="3292023" y="6560216"/>
            <a:ext cx="1785621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9746A96F-4B32-9DFA-196C-19CD864CA964}"/>
              </a:ext>
            </a:extLst>
          </p:cNvPr>
          <p:cNvCxnSpPr>
            <a:cxnSpLocks/>
          </p:cNvCxnSpPr>
          <p:nvPr/>
        </p:nvCxnSpPr>
        <p:spPr>
          <a:xfrm>
            <a:off x="3292023" y="5936213"/>
            <a:ext cx="0" cy="62979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24314760-2F49-D9B2-A82A-2F86248E0347}"/>
              </a:ext>
            </a:extLst>
          </p:cNvPr>
          <p:cNvCxnSpPr>
            <a:cxnSpLocks/>
          </p:cNvCxnSpPr>
          <p:nvPr/>
        </p:nvCxnSpPr>
        <p:spPr>
          <a:xfrm flipH="1">
            <a:off x="1071468" y="6245321"/>
            <a:ext cx="2220555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1FE1773A-A3F9-7385-20E7-4D068293FFD7}"/>
              </a:ext>
            </a:extLst>
          </p:cNvPr>
          <p:cNvCxnSpPr>
            <a:cxnSpLocks/>
          </p:cNvCxnSpPr>
          <p:nvPr/>
        </p:nvCxnSpPr>
        <p:spPr>
          <a:xfrm>
            <a:off x="1082368" y="4417972"/>
            <a:ext cx="0" cy="1827349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D51A0027-F4C3-1FC6-3B52-1D6C1D0143CB}"/>
              </a:ext>
            </a:extLst>
          </p:cNvPr>
          <p:cNvCxnSpPr/>
          <p:nvPr/>
        </p:nvCxnSpPr>
        <p:spPr>
          <a:xfrm flipH="1">
            <a:off x="620661" y="5331557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630C6443-0896-4C49-73E9-F75271C8BA4B}"/>
              </a:ext>
            </a:extLst>
          </p:cNvPr>
          <p:cNvSpPr txBox="1"/>
          <p:nvPr/>
        </p:nvSpPr>
        <p:spPr>
          <a:xfrm>
            <a:off x="9533551" y="226381"/>
            <a:ext cx="20216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Number of HGT inserts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8B4ACE0D-344D-95A1-95D1-F601362B0758}"/>
              </a:ext>
            </a:extLst>
          </p:cNvPr>
          <p:cNvSpPr txBox="1"/>
          <p:nvPr/>
        </p:nvSpPr>
        <p:spPr>
          <a:xfrm>
            <a:off x="202979" y="669612"/>
            <a:ext cx="276448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Nodes show divergence times (Ma) from Beasley-Hall et al (2021: for nodes internal to top 12 taxa) and Evangelista et al (2019: for nodes internal to 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remaining 6 taxa).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One exception is value between 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P. </a:t>
            </a:r>
            <a:r>
              <a:rPr lang="en-US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lata</a:t>
            </a:r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P. </a:t>
            </a:r>
            <a:r>
              <a:rPr lang="en-US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cribrata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which is from Adams et al 2024. 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112926F-DA14-AC98-06EF-6990303FCF8D}"/>
              </a:ext>
            </a:extLst>
          </p:cNvPr>
          <p:cNvSpPr txBox="1"/>
          <p:nvPr/>
        </p:nvSpPr>
        <p:spPr>
          <a:xfrm>
            <a:off x="518565" y="4962481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207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80D04FB6-51C1-8BCF-FAD1-2A973594404A}"/>
              </a:ext>
            </a:extLst>
          </p:cNvPr>
          <p:cNvSpPr txBox="1"/>
          <p:nvPr/>
        </p:nvSpPr>
        <p:spPr>
          <a:xfrm>
            <a:off x="2735087" y="5896332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161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60ABBCE-4D37-D9C0-DCAB-F4E4092D4E33}"/>
              </a:ext>
            </a:extLst>
          </p:cNvPr>
          <p:cNvSpPr txBox="1"/>
          <p:nvPr/>
        </p:nvSpPr>
        <p:spPr>
          <a:xfrm>
            <a:off x="3788875" y="5311574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98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BA3EB86E-713D-689B-FDC9-AB53D1AC3B3D}"/>
              </a:ext>
            </a:extLst>
          </p:cNvPr>
          <p:cNvSpPr txBox="1"/>
          <p:nvPr/>
        </p:nvSpPr>
        <p:spPr>
          <a:xfrm>
            <a:off x="3225717" y="5617493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108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ACF48875-1ECD-1930-C408-D1A9FA508EE8}"/>
              </a:ext>
            </a:extLst>
          </p:cNvPr>
          <p:cNvSpPr txBox="1"/>
          <p:nvPr/>
        </p:nvSpPr>
        <p:spPr>
          <a:xfrm>
            <a:off x="4249207" y="504886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45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8DBAF0C-DE1B-5940-1730-CECA87CE20F3}"/>
              </a:ext>
            </a:extLst>
          </p:cNvPr>
          <p:cNvSpPr txBox="1"/>
          <p:nvPr/>
        </p:nvSpPr>
        <p:spPr>
          <a:xfrm>
            <a:off x="924853" y="4058527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145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5D4F1E75-FE1A-B5AE-4A29-EE9E22E56670}"/>
              </a:ext>
            </a:extLst>
          </p:cNvPr>
          <p:cNvSpPr txBox="1"/>
          <p:nvPr/>
        </p:nvSpPr>
        <p:spPr>
          <a:xfrm>
            <a:off x="1240558" y="3625546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63.05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2EB31E3-F3A2-193E-E951-57CD17B1D19A}"/>
              </a:ext>
            </a:extLst>
          </p:cNvPr>
          <p:cNvSpPr txBox="1"/>
          <p:nvPr/>
        </p:nvSpPr>
        <p:spPr>
          <a:xfrm>
            <a:off x="1704005" y="3071084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28.71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5E1F08CF-B2EC-5AAD-46A7-3DF09BB2E71E}"/>
              </a:ext>
            </a:extLst>
          </p:cNvPr>
          <p:cNvSpPr txBox="1"/>
          <p:nvPr/>
        </p:nvSpPr>
        <p:spPr>
          <a:xfrm>
            <a:off x="2167252" y="2468599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22.84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767B46F5-F5BC-6F41-7DE8-51BF156964F2}"/>
              </a:ext>
            </a:extLst>
          </p:cNvPr>
          <p:cNvSpPr txBox="1"/>
          <p:nvPr/>
        </p:nvSpPr>
        <p:spPr>
          <a:xfrm>
            <a:off x="3897845" y="2979995"/>
            <a:ext cx="1015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17.35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35830280-30EE-CDCD-DC54-E266E4F845BA}"/>
              </a:ext>
            </a:extLst>
          </p:cNvPr>
          <p:cNvSpPr txBox="1"/>
          <p:nvPr/>
        </p:nvSpPr>
        <p:spPr>
          <a:xfrm>
            <a:off x="2627323" y="1967415"/>
            <a:ext cx="946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20.91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9B6760DB-3A75-08BC-0811-66EF473E2A03}"/>
              </a:ext>
            </a:extLst>
          </p:cNvPr>
          <p:cNvSpPr txBox="1"/>
          <p:nvPr/>
        </p:nvSpPr>
        <p:spPr>
          <a:xfrm>
            <a:off x="3046635" y="1416298"/>
            <a:ext cx="848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14.12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007731A2-076A-D072-05B2-9021E0300168}"/>
              </a:ext>
            </a:extLst>
          </p:cNvPr>
          <p:cNvSpPr txBox="1"/>
          <p:nvPr/>
        </p:nvSpPr>
        <p:spPr>
          <a:xfrm>
            <a:off x="3903836" y="1948261"/>
            <a:ext cx="914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13.17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D6F1794A-4466-00E7-27F9-25EEE6AFF812}"/>
              </a:ext>
            </a:extLst>
          </p:cNvPr>
          <p:cNvSpPr txBox="1"/>
          <p:nvPr/>
        </p:nvSpPr>
        <p:spPr>
          <a:xfrm>
            <a:off x="4132940" y="1272527"/>
            <a:ext cx="794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5.84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506C3FF6-BBE2-2617-F185-86A592661691}"/>
              </a:ext>
            </a:extLst>
          </p:cNvPr>
          <p:cNvSpPr txBox="1"/>
          <p:nvPr/>
        </p:nvSpPr>
        <p:spPr>
          <a:xfrm>
            <a:off x="4110248" y="614046"/>
            <a:ext cx="899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6.67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56CBF744-6F90-77DF-92DB-750E7F4E6A0A}"/>
              </a:ext>
            </a:extLst>
          </p:cNvPr>
          <p:cNvSpPr txBox="1"/>
          <p:nvPr/>
        </p:nvSpPr>
        <p:spPr>
          <a:xfrm>
            <a:off x="3447118" y="916436"/>
            <a:ext cx="777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12.73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E89EA4DE-2304-269F-C9C2-87D6D5FA8C83}"/>
              </a:ext>
            </a:extLst>
          </p:cNvPr>
          <p:cNvSpPr txBox="1"/>
          <p:nvPr/>
        </p:nvSpPr>
        <p:spPr>
          <a:xfrm>
            <a:off x="310773" y="105804"/>
            <a:ext cx="89755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Cladogram of taxa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analysed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for </a:t>
            </a:r>
            <a:r>
              <a:rPr lang="en-US" sz="24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Blattabacterium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HGT events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764550-166B-E5A4-F2E5-A30016FD82E6}"/>
              </a:ext>
            </a:extLst>
          </p:cNvPr>
          <p:cNvSpPr txBox="1"/>
          <p:nvPr/>
        </p:nvSpPr>
        <p:spPr>
          <a:xfrm>
            <a:off x="10364264" y="614046"/>
            <a:ext cx="914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5037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55DFB3-F47C-F92A-D6E7-835912EB4AB5}"/>
              </a:ext>
            </a:extLst>
          </p:cNvPr>
          <p:cNvSpPr txBox="1"/>
          <p:nvPr/>
        </p:nvSpPr>
        <p:spPr>
          <a:xfrm>
            <a:off x="10364264" y="955047"/>
            <a:ext cx="914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4252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310815-8202-F883-DDD1-68D008A082C2}"/>
              </a:ext>
            </a:extLst>
          </p:cNvPr>
          <p:cNvSpPr txBox="1"/>
          <p:nvPr/>
        </p:nvSpPr>
        <p:spPr>
          <a:xfrm>
            <a:off x="10364264" y="1296048"/>
            <a:ext cx="914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3852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080BCB-E65A-ABC2-0CD5-1DB2C1558CDF}"/>
              </a:ext>
            </a:extLst>
          </p:cNvPr>
          <p:cNvSpPr txBox="1"/>
          <p:nvPr/>
        </p:nvSpPr>
        <p:spPr>
          <a:xfrm>
            <a:off x="10369521" y="1637049"/>
            <a:ext cx="914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3702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08A9A4-0E16-64AB-B929-DFF119DB3382}"/>
              </a:ext>
            </a:extLst>
          </p:cNvPr>
          <p:cNvSpPr txBox="1"/>
          <p:nvPr/>
        </p:nvSpPr>
        <p:spPr>
          <a:xfrm>
            <a:off x="10369521" y="1978050"/>
            <a:ext cx="914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4716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A1408E-19EF-E791-3B84-B5617B71BAFF}"/>
              </a:ext>
            </a:extLst>
          </p:cNvPr>
          <p:cNvSpPr txBox="1"/>
          <p:nvPr/>
        </p:nvSpPr>
        <p:spPr>
          <a:xfrm>
            <a:off x="10369521" y="2319051"/>
            <a:ext cx="914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4086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D5CA33-643F-ECC4-D25E-7F0EA2AEBBC2}"/>
              </a:ext>
            </a:extLst>
          </p:cNvPr>
          <p:cNvSpPr txBox="1"/>
          <p:nvPr/>
        </p:nvSpPr>
        <p:spPr>
          <a:xfrm>
            <a:off x="10380031" y="2660052"/>
            <a:ext cx="914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4396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21EB57-3141-35C9-C4C3-3B4BF946BE22}"/>
              </a:ext>
            </a:extLst>
          </p:cNvPr>
          <p:cNvSpPr txBox="1"/>
          <p:nvPr/>
        </p:nvSpPr>
        <p:spPr>
          <a:xfrm>
            <a:off x="10380031" y="3001053"/>
            <a:ext cx="914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2964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7027FF-DEB3-B4F8-66B9-C16B533C434C}"/>
              </a:ext>
            </a:extLst>
          </p:cNvPr>
          <p:cNvSpPr txBox="1"/>
          <p:nvPr/>
        </p:nvSpPr>
        <p:spPr>
          <a:xfrm>
            <a:off x="10380031" y="3342054"/>
            <a:ext cx="914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2797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B6F2E4-61BD-EB2F-B497-0C1C1DAD77C8}"/>
              </a:ext>
            </a:extLst>
          </p:cNvPr>
          <p:cNvSpPr txBox="1"/>
          <p:nvPr/>
        </p:nvSpPr>
        <p:spPr>
          <a:xfrm>
            <a:off x="10374777" y="3683055"/>
            <a:ext cx="914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1543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8540F7A-759B-9668-82F3-137090497E69}"/>
              </a:ext>
            </a:extLst>
          </p:cNvPr>
          <p:cNvSpPr txBox="1"/>
          <p:nvPr/>
        </p:nvSpPr>
        <p:spPr>
          <a:xfrm>
            <a:off x="10374777" y="4024056"/>
            <a:ext cx="914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1601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0A2A43B-A3C8-475A-7EC5-4035FF4E4DEB}"/>
              </a:ext>
            </a:extLst>
          </p:cNvPr>
          <p:cNvSpPr txBox="1"/>
          <p:nvPr/>
        </p:nvSpPr>
        <p:spPr>
          <a:xfrm>
            <a:off x="10374777" y="4365057"/>
            <a:ext cx="914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532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E7F21F6-25C5-17DE-33FC-A094B06F7BED}"/>
              </a:ext>
            </a:extLst>
          </p:cNvPr>
          <p:cNvSpPr txBox="1"/>
          <p:nvPr/>
        </p:nvSpPr>
        <p:spPr>
          <a:xfrm>
            <a:off x="10369523" y="4706058"/>
            <a:ext cx="914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527–609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317A4F7-715A-4E78-DDF8-75EAB4ED0117}"/>
              </a:ext>
            </a:extLst>
          </p:cNvPr>
          <p:cNvSpPr txBox="1"/>
          <p:nvPr/>
        </p:nvSpPr>
        <p:spPr>
          <a:xfrm>
            <a:off x="10369523" y="5047059"/>
            <a:ext cx="914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6497100-B62C-FECA-CE7A-3FA11331A621}"/>
              </a:ext>
            </a:extLst>
          </p:cNvPr>
          <p:cNvSpPr txBox="1"/>
          <p:nvPr/>
        </p:nvSpPr>
        <p:spPr>
          <a:xfrm>
            <a:off x="10369523" y="5388060"/>
            <a:ext cx="914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CA320E7-04CA-A040-D39E-E90F14204468}"/>
              </a:ext>
            </a:extLst>
          </p:cNvPr>
          <p:cNvSpPr txBox="1"/>
          <p:nvPr/>
        </p:nvSpPr>
        <p:spPr>
          <a:xfrm>
            <a:off x="10364269" y="5729061"/>
            <a:ext cx="914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74A3AA8-7FE3-7A0B-FEF1-AEC257E19918}"/>
              </a:ext>
            </a:extLst>
          </p:cNvPr>
          <p:cNvSpPr txBox="1"/>
          <p:nvPr/>
        </p:nvSpPr>
        <p:spPr>
          <a:xfrm>
            <a:off x="10364269" y="6070062"/>
            <a:ext cx="914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EFBBB06-33EB-6975-D787-7B77B9CD0AEC}"/>
              </a:ext>
            </a:extLst>
          </p:cNvPr>
          <p:cNvSpPr txBox="1"/>
          <p:nvPr/>
        </p:nvSpPr>
        <p:spPr>
          <a:xfrm>
            <a:off x="10364269" y="6411062"/>
            <a:ext cx="914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106-647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CD61EAF-89DA-8EF3-3EFE-22F6D26AA683}"/>
              </a:ext>
            </a:extLst>
          </p:cNvPr>
          <p:cNvSpPr txBox="1"/>
          <p:nvPr/>
        </p:nvSpPr>
        <p:spPr>
          <a:xfrm>
            <a:off x="7393762" y="5558547"/>
            <a:ext cx="914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Termites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CA0D268C-885A-4446-8B3C-4318EABB3FE9}"/>
              </a:ext>
            </a:extLst>
          </p:cNvPr>
          <p:cNvSpPr txBox="1"/>
          <p:nvPr/>
        </p:nvSpPr>
        <p:spPr>
          <a:xfrm>
            <a:off x="4041437" y="3663513"/>
            <a:ext cx="1015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1.81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0BF97B18-9077-6349-93EF-9C6C224D3524}"/>
              </a:ext>
            </a:extLst>
          </p:cNvPr>
          <p:cNvCxnSpPr/>
          <p:nvPr/>
        </p:nvCxnSpPr>
        <p:spPr>
          <a:xfrm>
            <a:off x="7383252" y="5171960"/>
            <a:ext cx="0" cy="1152000"/>
          </a:xfrm>
          <a:prstGeom prst="line">
            <a:avLst/>
          </a:prstGeom>
          <a:ln w="127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1C7ED951-012B-C345-90EB-9AEF09A480F2}"/>
              </a:ext>
            </a:extLst>
          </p:cNvPr>
          <p:cNvSpPr txBox="1"/>
          <p:nvPr/>
        </p:nvSpPr>
        <p:spPr>
          <a:xfrm>
            <a:off x="8178838" y="5156368"/>
            <a:ext cx="23148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Kyle and Maxim:</a:t>
            </a:r>
          </a:p>
          <a:p>
            <a:r>
              <a:rPr lang="en-US" sz="1200" dirty="0">
                <a:solidFill>
                  <a:srgbClr val="FF0000"/>
                </a:solidFill>
              </a:rPr>
              <a:t>Are these termite numbers </a:t>
            </a:r>
          </a:p>
          <a:p>
            <a:r>
              <a:rPr lang="en-US" sz="1200" dirty="0">
                <a:solidFill>
                  <a:srgbClr val="FF0000"/>
                </a:solidFill>
              </a:rPr>
              <a:t>right? When I did an audit in early 2025 I found none were </a:t>
            </a:r>
            <a:r>
              <a:rPr lang="en-US" sz="1200" dirty="0" err="1">
                <a:solidFill>
                  <a:srgbClr val="FF0000"/>
                </a:solidFill>
              </a:rPr>
              <a:t>Blattabacterium</a:t>
            </a:r>
            <a:r>
              <a:rPr lang="en-US" sz="1200" dirty="0">
                <a:solidFill>
                  <a:srgbClr val="FF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71174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6153D3-1799-784C-846D-B000A5DA5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717" y="402587"/>
            <a:ext cx="9938587" cy="633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115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5B1D71C-67AA-784B-92E9-20FDD554F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0722"/>
            <a:ext cx="6256422" cy="38301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E6404C9-B53D-364A-B2E6-797D97491A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369" y="208371"/>
            <a:ext cx="5060437" cy="382253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49E6A7B-4E51-2143-9C88-87F26BD65396}"/>
              </a:ext>
            </a:extLst>
          </p:cNvPr>
          <p:cNvSpPr txBox="1"/>
          <p:nvPr/>
        </p:nvSpPr>
        <p:spPr>
          <a:xfrm>
            <a:off x="7292898" y="4030906"/>
            <a:ext cx="3989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Filtered lengths &lt;2500 </a:t>
            </a:r>
            <a:r>
              <a:rPr lang="en-US" dirty="0" err="1"/>
              <a:t>bp</a:t>
            </a:r>
            <a:r>
              <a:rPr lang="en-US" dirty="0"/>
              <a:t>, and &lt;1.5 Mb</a:t>
            </a:r>
          </a:p>
        </p:txBody>
      </p:sp>
    </p:spTree>
    <p:extLst>
      <p:ext uri="{BB962C8B-B14F-4D97-AF65-F5344CB8AC3E}">
        <p14:creationId xmlns:p14="http://schemas.microsoft.com/office/powerpoint/2010/main" val="3086575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836DD86-B9DF-36C9-A98F-CA5E1FB96A50}"/>
              </a:ext>
            </a:extLst>
          </p:cNvPr>
          <p:cNvSpPr txBox="1"/>
          <p:nvPr/>
        </p:nvSpPr>
        <p:spPr>
          <a:xfrm>
            <a:off x="5140510" y="615171"/>
            <a:ext cx="3710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Macropanesthia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lithgowae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Z004 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Murgon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5EC0A9-B9BD-963F-C5A6-E62991557B95}"/>
              </a:ext>
            </a:extLst>
          </p:cNvPr>
          <p:cNvSpPr txBox="1"/>
          <p:nvPr/>
        </p:nvSpPr>
        <p:spPr>
          <a:xfrm>
            <a:off x="5140510" y="957898"/>
            <a:ext cx="45614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Panesthia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tryoni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tryoni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Z005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Kroombit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Tops)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B833C6-5059-3F2B-0656-649BB2D62B48}"/>
              </a:ext>
            </a:extLst>
          </p:cNvPr>
          <p:cNvSpPr txBox="1"/>
          <p:nvPr/>
        </p:nvSpPr>
        <p:spPr>
          <a:xfrm>
            <a:off x="5140509" y="1300625"/>
            <a:ext cx="42251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Panesthia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gigantea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Z020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(location TBD)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6740E5-743E-5429-BBA3-695337967929}"/>
              </a:ext>
            </a:extLst>
          </p:cNvPr>
          <p:cNvSpPr txBox="1"/>
          <p:nvPr/>
        </p:nvSpPr>
        <p:spPr>
          <a:xfrm>
            <a:off x="5140509" y="1643352"/>
            <a:ext cx="45614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Panesthia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tryoni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tegminifera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Z011 (Washpool)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F5AD9C-C18A-14DD-6E16-FC6090ABF16E}"/>
              </a:ext>
            </a:extLst>
          </p:cNvPr>
          <p:cNvSpPr txBox="1"/>
          <p:nvPr/>
        </p:nvSpPr>
        <p:spPr>
          <a:xfrm>
            <a:off x="5140509" y="1986079"/>
            <a:ext cx="45614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Neogeoscapheus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dahmsi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Z014 (location TBD)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7760B7-E7B6-A6CC-CB23-02C2A3B68B86}"/>
              </a:ext>
            </a:extLst>
          </p:cNvPr>
          <p:cNvSpPr txBox="1"/>
          <p:nvPr/>
        </p:nvSpPr>
        <p:spPr>
          <a:xfrm>
            <a:off x="5140509" y="2328806"/>
            <a:ext cx="45614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Panesthia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tryoni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tryoni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Z012 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Eungella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564D44-043D-94C7-F6C3-1DEF21E8E660}"/>
              </a:ext>
            </a:extLst>
          </p:cNvPr>
          <p:cNvSpPr txBox="1"/>
          <p:nvPr/>
        </p:nvSpPr>
        <p:spPr>
          <a:xfrm>
            <a:off x="5140509" y="2671533"/>
            <a:ext cx="32413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Geoscapheus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dilatatus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Gilgandra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9F0262-3654-66DD-1C1E-3D0830C06A73}"/>
              </a:ext>
            </a:extLst>
          </p:cNvPr>
          <p:cNvSpPr txBox="1"/>
          <p:nvPr/>
        </p:nvSpPr>
        <p:spPr>
          <a:xfrm>
            <a:off x="5140509" y="3014260"/>
            <a:ext cx="45614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Panesthia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sloanei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Z001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(Mt Baldy)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F0AD8B-8964-B84F-96E9-2261FEEA69BE}"/>
              </a:ext>
            </a:extLst>
          </p:cNvPr>
          <p:cNvSpPr txBox="1"/>
          <p:nvPr/>
        </p:nvSpPr>
        <p:spPr>
          <a:xfrm>
            <a:off x="5140509" y="3356987"/>
            <a:ext cx="45614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Neogeoscapheus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hanni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(Mt Molloy)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CB6B5D-5983-112E-8D51-3581BE2E0683}"/>
              </a:ext>
            </a:extLst>
          </p:cNvPr>
          <p:cNvSpPr txBox="1"/>
          <p:nvPr/>
        </p:nvSpPr>
        <p:spPr>
          <a:xfrm>
            <a:off x="5128732" y="4042441"/>
            <a:ext cx="45614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Panesthia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lata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M001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(Lord Howe Island)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EC9C75-BCC4-4F7F-6F62-1CF25357A908}"/>
              </a:ext>
            </a:extLst>
          </p:cNvPr>
          <p:cNvSpPr txBox="1"/>
          <p:nvPr/>
        </p:nvSpPr>
        <p:spPr>
          <a:xfrm>
            <a:off x="5140509" y="3699714"/>
            <a:ext cx="45614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Panesthia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cribrata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(North Manly)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CB6A99-6B82-8092-E383-80A2B09639C6}"/>
              </a:ext>
            </a:extLst>
          </p:cNvPr>
          <p:cNvSpPr txBox="1"/>
          <p:nvPr/>
        </p:nvSpPr>
        <p:spPr>
          <a:xfrm>
            <a:off x="5140509" y="4385168"/>
            <a:ext cx="45614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Diploptera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punctata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B647CD-7360-2693-9879-0191701FE355}"/>
              </a:ext>
            </a:extLst>
          </p:cNvPr>
          <p:cNvSpPr txBox="1"/>
          <p:nvPr/>
        </p:nvSpPr>
        <p:spPr>
          <a:xfrm>
            <a:off x="5140509" y="4727895"/>
            <a:ext cx="45614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Blattella germanica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774CDA-2EB5-1A9F-0EE1-84B0F338E848}"/>
              </a:ext>
            </a:extLst>
          </p:cNvPr>
          <p:cNvSpPr txBox="1"/>
          <p:nvPr/>
        </p:nvSpPr>
        <p:spPr>
          <a:xfrm>
            <a:off x="5128732" y="6392527"/>
            <a:ext cx="45614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Periplaneta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americana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A4EB622-B3AA-5B0D-366F-31EC8D2C1CB9}"/>
              </a:ext>
            </a:extLst>
          </p:cNvPr>
          <p:cNvSpPr txBox="1"/>
          <p:nvPr/>
        </p:nvSpPr>
        <p:spPr>
          <a:xfrm>
            <a:off x="5128732" y="6065621"/>
            <a:ext cx="45614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Zootermopsis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nevadensis</a:t>
            </a:r>
            <a:endParaRPr 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4480A82-EF6D-319E-1593-C6D1CB86013C}"/>
              </a:ext>
            </a:extLst>
          </p:cNvPr>
          <p:cNvSpPr txBox="1"/>
          <p:nvPr/>
        </p:nvSpPr>
        <p:spPr>
          <a:xfrm>
            <a:off x="5127526" y="5070848"/>
            <a:ext cx="45614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Reticulitermes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lucifugus</a:t>
            </a:r>
            <a:endParaRPr 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894FF59-47EB-CB15-6976-165828DFD838}"/>
              </a:ext>
            </a:extLst>
          </p:cNvPr>
          <p:cNvSpPr txBox="1"/>
          <p:nvPr/>
        </p:nvSpPr>
        <p:spPr>
          <a:xfrm>
            <a:off x="5125974" y="5738715"/>
            <a:ext cx="45614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Cryptotermes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secundus</a:t>
            </a:r>
            <a:endParaRPr 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6547CA-71D1-6886-0C25-B7C568AE0661}"/>
              </a:ext>
            </a:extLst>
          </p:cNvPr>
          <p:cNvSpPr txBox="1"/>
          <p:nvPr/>
        </p:nvSpPr>
        <p:spPr>
          <a:xfrm>
            <a:off x="5121739" y="5388532"/>
            <a:ext cx="45614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Coptotermes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formosanus</a:t>
            </a:r>
            <a:endParaRPr 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EC0EF28-979B-A325-8EF5-2B8B7233AB03}"/>
              </a:ext>
            </a:extLst>
          </p:cNvPr>
          <p:cNvCxnSpPr/>
          <p:nvPr/>
        </p:nvCxnSpPr>
        <p:spPr>
          <a:xfrm flipH="1">
            <a:off x="4654476" y="780634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C2AFD39-E062-0327-60C0-F2E3CF01D924}"/>
              </a:ext>
            </a:extLst>
          </p:cNvPr>
          <p:cNvCxnSpPr/>
          <p:nvPr/>
        </p:nvCxnSpPr>
        <p:spPr>
          <a:xfrm flipH="1">
            <a:off x="4654678" y="1123361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0BB347D-BC4E-BCE2-3003-14AB1293F5FB}"/>
              </a:ext>
            </a:extLst>
          </p:cNvPr>
          <p:cNvCxnSpPr>
            <a:cxnSpLocks/>
          </p:cNvCxnSpPr>
          <p:nvPr/>
        </p:nvCxnSpPr>
        <p:spPr>
          <a:xfrm>
            <a:off x="4666350" y="780634"/>
            <a:ext cx="0" cy="34272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1EE4A04-0AD1-3FFA-73FD-35E40215007A}"/>
              </a:ext>
            </a:extLst>
          </p:cNvPr>
          <p:cNvCxnSpPr/>
          <p:nvPr/>
        </p:nvCxnSpPr>
        <p:spPr>
          <a:xfrm flipH="1">
            <a:off x="4654476" y="1454513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51A284F-D12D-72B4-03C2-5080BAF0D390}"/>
              </a:ext>
            </a:extLst>
          </p:cNvPr>
          <p:cNvCxnSpPr/>
          <p:nvPr/>
        </p:nvCxnSpPr>
        <p:spPr>
          <a:xfrm flipH="1">
            <a:off x="4654678" y="1797240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F9DC3AF-162E-2E3F-9A7F-1411BA44DF34}"/>
              </a:ext>
            </a:extLst>
          </p:cNvPr>
          <p:cNvCxnSpPr>
            <a:cxnSpLocks/>
          </p:cNvCxnSpPr>
          <p:nvPr/>
        </p:nvCxnSpPr>
        <p:spPr>
          <a:xfrm>
            <a:off x="4666350" y="1454513"/>
            <a:ext cx="0" cy="34272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9F4B79F-5516-BEDC-F3E2-4B0970DC5272}"/>
              </a:ext>
            </a:extLst>
          </p:cNvPr>
          <p:cNvCxnSpPr/>
          <p:nvPr/>
        </p:nvCxnSpPr>
        <p:spPr>
          <a:xfrm flipH="1">
            <a:off x="4215543" y="947164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8E464AB-0C35-26A0-8F2C-8E556D6BFD02}"/>
              </a:ext>
            </a:extLst>
          </p:cNvPr>
          <p:cNvCxnSpPr/>
          <p:nvPr/>
        </p:nvCxnSpPr>
        <p:spPr>
          <a:xfrm flipH="1">
            <a:off x="4223963" y="1612360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0FF1D81-4360-3F84-3DAF-D419ECBC0138}"/>
              </a:ext>
            </a:extLst>
          </p:cNvPr>
          <p:cNvCxnSpPr>
            <a:cxnSpLocks/>
          </p:cNvCxnSpPr>
          <p:nvPr/>
        </p:nvCxnSpPr>
        <p:spPr>
          <a:xfrm>
            <a:off x="4227417" y="939248"/>
            <a:ext cx="0" cy="68267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4DD19CB-F4D7-0B3C-80FC-DC20B48FA646}"/>
              </a:ext>
            </a:extLst>
          </p:cNvPr>
          <p:cNvCxnSpPr/>
          <p:nvPr/>
        </p:nvCxnSpPr>
        <p:spPr>
          <a:xfrm flipH="1">
            <a:off x="4654475" y="2134494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8D676EA-4B4E-2412-A8EE-E31F19D83A4D}"/>
              </a:ext>
            </a:extLst>
          </p:cNvPr>
          <p:cNvCxnSpPr/>
          <p:nvPr/>
        </p:nvCxnSpPr>
        <p:spPr>
          <a:xfrm flipH="1">
            <a:off x="4654677" y="2477221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2BD446E-FADC-A4E0-C092-817AAD48CEF1}"/>
              </a:ext>
            </a:extLst>
          </p:cNvPr>
          <p:cNvCxnSpPr>
            <a:cxnSpLocks/>
          </p:cNvCxnSpPr>
          <p:nvPr/>
        </p:nvCxnSpPr>
        <p:spPr>
          <a:xfrm>
            <a:off x="4666349" y="2134494"/>
            <a:ext cx="0" cy="34272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F9093DC-3D88-C855-C957-B287579F821F}"/>
              </a:ext>
            </a:extLst>
          </p:cNvPr>
          <p:cNvCxnSpPr>
            <a:cxnSpLocks/>
          </p:cNvCxnSpPr>
          <p:nvPr/>
        </p:nvCxnSpPr>
        <p:spPr>
          <a:xfrm flipH="1">
            <a:off x="3775232" y="2292341"/>
            <a:ext cx="89953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1609972-DE50-51F8-D08D-392401806B7C}"/>
              </a:ext>
            </a:extLst>
          </p:cNvPr>
          <p:cNvCxnSpPr/>
          <p:nvPr/>
        </p:nvCxnSpPr>
        <p:spPr>
          <a:xfrm flipH="1">
            <a:off x="3764736" y="1257628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6F46BB5-826D-E702-24A5-8F66D2F89E87}"/>
              </a:ext>
            </a:extLst>
          </p:cNvPr>
          <p:cNvCxnSpPr>
            <a:cxnSpLocks/>
          </p:cNvCxnSpPr>
          <p:nvPr/>
        </p:nvCxnSpPr>
        <p:spPr>
          <a:xfrm>
            <a:off x="3775232" y="1254203"/>
            <a:ext cx="0" cy="1038138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771BCD0-F7CE-9EEB-6846-49F9866014A2}"/>
              </a:ext>
            </a:extLst>
          </p:cNvPr>
          <p:cNvCxnSpPr/>
          <p:nvPr/>
        </p:nvCxnSpPr>
        <p:spPr>
          <a:xfrm flipH="1">
            <a:off x="3313929" y="1773152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0634F2E-ABC4-1387-E3C1-3ADFBDB69D87}"/>
              </a:ext>
            </a:extLst>
          </p:cNvPr>
          <p:cNvCxnSpPr>
            <a:cxnSpLocks/>
          </p:cNvCxnSpPr>
          <p:nvPr/>
        </p:nvCxnSpPr>
        <p:spPr>
          <a:xfrm flipH="1">
            <a:off x="3331290" y="2848667"/>
            <a:ext cx="1762923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41CB6D0-DF9D-C0C2-6593-C2536D00B090}"/>
              </a:ext>
            </a:extLst>
          </p:cNvPr>
          <p:cNvCxnSpPr>
            <a:cxnSpLocks/>
          </p:cNvCxnSpPr>
          <p:nvPr/>
        </p:nvCxnSpPr>
        <p:spPr>
          <a:xfrm>
            <a:off x="3325503" y="1761578"/>
            <a:ext cx="0" cy="1095189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8FAC41C-615E-9A97-2E08-134AE68ABF9E}"/>
              </a:ext>
            </a:extLst>
          </p:cNvPr>
          <p:cNvCxnSpPr/>
          <p:nvPr/>
        </p:nvCxnSpPr>
        <p:spPr>
          <a:xfrm flipH="1">
            <a:off x="4648988" y="3171223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17D43172-B944-DF61-7AE0-EABF62F9ED59}"/>
              </a:ext>
            </a:extLst>
          </p:cNvPr>
          <p:cNvCxnSpPr/>
          <p:nvPr/>
        </p:nvCxnSpPr>
        <p:spPr>
          <a:xfrm flipH="1">
            <a:off x="4649190" y="3513950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C36FF4A-164D-5627-D50A-16FD2C519317}"/>
              </a:ext>
            </a:extLst>
          </p:cNvPr>
          <p:cNvCxnSpPr>
            <a:cxnSpLocks/>
          </p:cNvCxnSpPr>
          <p:nvPr/>
        </p:nvCxnSpPr>
        <p:spPr>
          <a:xfrm>
            <a:off x="4660862" y="3171223"/>
            <a:ext cx="0" cy="34272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E435C8FB-DC79-6634-2F94-B51B10DBA040}"/>
              </a:ext>
            </a:extLst>
          </p:cNvPr>
          <p:cNvCxnSpPr>
            <a:cxnSpLocks/>
          </p:cNvCxnSpPr>
          <p:nvPr/>
        </p:nvCxnSpPr>
        <p:spPr>
          <a:xfrm flipH="1">
            <a:off x="2874696" y="3329070"/>
            <a:ext cx="1794586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2B7B06D-09C7-F07B-8F08-4845A8F9F37A}"/>
              </a:ext>
            </a:extLst>
          </p:cNvPr>
          <p:cNvCxnSpPr/>
          <p:nvPr/>
        </p:nvCxnSpPr>
        <p:spPr>
          <a:xfrm flipH="1">
            <a:off x="2874696" y="2306405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BA1BA2D-A026-D535-ACE9-F88774FC17D5}"/>
              </a:ext>
            </a:extLst>
          </p:cNvPr>
          <p:cNvCxnSpPr>
            <a:cxnSpLocks/>
          </p:cNvCxnSpPr>
          <p:nvPr/>
        </p:nvCxnSpPr>
        <p:spPr>
          <a:xfrm>
            <a:off x="2880483" y="2295285"/>
            <a:ext cx="0" cy="1047301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702F7CA6-C30A-2736-8139-446CCFE792C6}"/>
              </a:ext>
            </a:extLst>
          </p:cNvPr>
          <p:cNvCxnSpPr/>
          <p:nvPr/>
        </p:nvCxnSpPr>
        <p:spPr>
          <a:xfrm flipH="1">
            <a:off x="2423889" y="2818935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F0B4BC79-6D06-931F-79C3-CC53482DF973}"/>
              </a:ext>
            </a:extLst>
          </p:cNvPr>
          <p:cNvCxnSpPr/>
          <p:nvPr/>
        </p:nvCxnSpPr>
        <p:spPr>
          <a:xfrm flipH="1">
            <a:off x="4643406" y="3853602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A4AC5993-92EA-B716-6AD6-28691C19AACE}"/>
              </a:ext>
            </a:extLst>
          </p:cNvPr>
          <p:cNvCxnSpPr/>
          <p:nvPr/>
        </p:nvCxnSpPr>
        <p:spPr>
          <a:xfrm flipH="1">
            <a:off x="4643608" y="4196329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C17F5E15-7D22-FC85-663F-5F8E38234C74}"/>
              </a:ext>
            </a:extLst>
          </p:cNvPr>
          <p:cNvCxnSpPr>
            <a:cxnSpLocks/>
          </p:cNvCxnSpPr>
          <p:nvPr/>
        </p:nvCxnSpPr>
        <p:spPr>
          <a:xfrm>
            <a:off x="4655280" y="3853602"/>
            <a:ext cx="0" cy="34272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6404950D-1D25-E336-A20E-524FDF884E5D}"/>
              </a:ext>
            </a:extLst>
          </p:cNvPr>
          <p:cNvCxnSpPr>
            <a:cxnSpLocks/>
          </p:cNvCxnSpPr>
          <p:nvPr/>
        </p:nvCxnSpPr>
        <p:spPr>
          <a:xfrm flipH="1">
            <a:off x="2423889" y="4017236"/>
            <a:ext cx="2239811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F2063E2C-C3CB-730E-7B36-D7AB54ECEE57}"/>
              </a:ext>
            </a:extLst>
          </p:cNvPr>
          <p:cNvCxnSpPr>
            <a:cxnSpLocks/>
          </p:cNvCxnSpPr>
          <p:nvPr/>
        </p:nvCxnSpPr>
        <p:spPr>
          <a:xfrm>
            <a:off x="2423889" y="2806301"/>
            <a:ext cx="0" cy="1218664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DDD71891-6A15-7877-8A6C-09F1DB597682}"/>
              </a:ext>
            </a:extLst>
          </p:cNvPr>
          <p:cNvCxnSpPr>
            <a:cxnSpLocks/>
          </p:cNvCxnSpPr>
          <p:nvPr/>
        </p:nvCxnSpPr>
        <p:spPr>
          <a:xfrm flipH="1">
            <a:off x="1973082" y="4539056"/>
            <a:ext cx="3121131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57020FE-85EF-F134-AF78-9CF3837A95E9}"/>
              </a:ext>
            </a:extLst>
          </p:cNvPr>
          <p:cNvCxnSpPr/>
          <p:nvPr/>
        </p:nvCxnSpPr>
        <p:spPr>
          <a:xfrm flipH="1">
            <a:off x="1973082" y="3415633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5F7048F2-19EC-B963-A9F3-EB8770954137}"/>
              </a:ext>
            </a:extLst>
          </p:cNvPr>
          <p:cNvCxnSpPr>
            <a:cxnSpLocks/>
          </p:cNvCxnSpPr>
          <p:nvPr/>
        </p:nvCxnSpPr>
        <p:spPr>
          <a:xfrm>
            <a:off x="1978039" y="3407904"/>
            <a:ext cx="0" cy="1131152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3AD06155-6E2D-D8F1-D1A8-EB74A306C7AD}"/>
              </a:ext>
            </a:extLst>
          </p:cNvPr>
          <p:cNvCxnSpPr/>
          <p:nvPr/>
        </p:nvCxnSpPr>
        <p:spPr>
          <a:xfrm flipH="1">
            <a:off x="1522275" y="3973480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AB16C56B-E46B-BC0E-8C75-D22EBDD4DBDB}"/>
              </a:ext>
            </a:extLst>
          </p:cNvPr>
          <p:cNvCxnSpPr>
            <a:cxnSpLocks/>
          </p:cNvCxnSpPr>
          <p:nvPr/>
        </p:nvCxnSpPr>
        <p:spPr>
          <a:xfrm>
            <a:off x="1527007" y="3965735"/>
            <a:ext cx="0" cy="916048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D2F9639B-8589-0084-4BAB-BB29A8D66B12}"/>
              </a:ext>
            </a:extLst>
          </p:cNvPr>
          <p:cNvCxnSpPr>
            <a:cxnSpLocks/>
          </p:cNvCxnSpPr>
          <p:nvPr/>
        </p:nvCxnSpPr>
        <p:spPr>
          <a:xfrm flipH="1">
            <a:off x="1522275" y="4881885"/>
            <a:ext cx="3571938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1474AF74-865C-DEE2-A374-01251A4416D8}"/>
              </a:ext>
            </a:extLst>
          </p:cNvPr>
          <p:cNvCxnSpPr/>
          <p:nvPr/>
        </p:nvCxnSpPr>
        <p:spPr>
          <a:xfrm flipH="1">
            <a:off x="1071468" y="4423759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CFD81DDE-CD97-878C-B298-5A162696F8DB}"/>
              </a:ext>
            </a:extLst>
          </p:cNvPr>
          <p:cNvCxnSpPr/>
          <p:nvPr/>
        </p:nvCxnSpPr>
        <p:spPr>
          <a:xfrm flipH="1">
            <a:off x="4633663" y="5224510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DE57728D-04DE-0987-5245-C2A8D9F733A4}"/>
              </a:ext>
            </a:extLst>
          </p:cNvPr>
          <p:cNvCxnSpPr/>
          <p:nvPr/>
        </p:nvCxnSpPr>
        <p:spPr>
          <a:xfrm flipH="1">
            <a:off x="4633865" y="5567237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304B9634-BDB8-B137-B404-F1942C836A75}"/>
              </a:ext>
            </a:extLst>
          </p:cNvPr>
          <p:cNvCxnSpPr>
            <a:cxnSpLocks/>
          </p:cNvCxnSpPr>
          <p:nvPr/>
        </p:nvCxnSpPr>
        <p:spPr>
          <a:xfrm>
            <a:off x="4645537" y="5224510"/>
            <a:ext cx="0" cy="34272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71F5DCE3-8768-DFE2-6F19-54519C387E2F}"/>
              </a:ext>
            </a:extLst>
          </p:cNvPr>
          <p:cNvCxnSpPr>
            <a:cxnSpLocks/>
          </p:cNvCxnSpPr>
          <p:nvPr/>
        </p:nvCxnSpPr>
        <p:spPr>
          <a:xfrm flipH="1">
            <a:off x="4193637" y="5892603"/>
            <a:ext cx="89953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85CBC75E-3CD8-8E7A-118E-286EFEDA63FD}"/>
              </a:ext>
            </a:extLst>
          </p:cNvPr>
          <p:cNvCxnSpPr/>
          <p:nvPr/>
        </p:nvCxnSpPr>
        <p:spPr>
          <a:xfrm flipH="1">
            <a:off x="4193637" y="5395873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01D278E5-6C0C-EB8C-1BF2-B7603E3547DA}"/>
              </a:ext>
            </a:extLst>
          </p:cNvPr>
          <p:cNvCxnSpPr>
            <a:cxnSpLocks/>
          </p:cNvCxnSpPr>
          <p:nvPr/>
        </p:nvCxnSpPr>
        <p:spPr>
          <a:xfrm>
            <a:off x="4206964" y="5390086"/>
            <a:ext cx="0" cy="50251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436C4EB4-C78B-22A1-4E53-72B620B7E145}"/>
              </a:ext>
            </a:extLst>
          </p:cNvPr>
          <p:cNvCxnSpPr/>
          <p:nvPr/>
        </p:nvCxnSpPr>
        <p:spPr>
          <a:xfrm flipH="1">
            <a:off x="3742830" y="5653311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979538B3-F42F-BFCD-E1D4-4C515262C169}"/>
              </a:ext>
            </a:extLst>
          </p:cNvPr>
          <p:cNvCxnSpPr>
            <a:cxnSpLocks/>
          </p:cNvCxnSpPr>
          <p:nvPr/>
        </p:nvCxnSpPr>
        <p:spPr>
          <a:xfrm>
            <a:off x="3748617" y="5641344"/>
            <a:ext cx="0" cy="578165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30E79C8B-2315-6E07-8204-ACEF3EDA95B6}"/>
              </a:ext>
            </a:extLst>
          </p:cNvPr>
          <p:cNvCxnSpPr>
            <a:cxnSpLocks/>
          </p:cNvCxnSpPr>
          <p:nvPr/>
        </p:nvCxnSpPr>
        <p:spPr>
          <a:xfrm flipH="1">
            <a:off x="3742830" y="6213722"/>
            <a:ext cx="1340601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53684046-E32F-8066-8337-52CF82A91F7F}"/>
              </a:ext>
            </a:extLst>
          </p:cNvPr>
          <p:cNvCxnSpPr/>
          <p:nvPr/>
        </p:nvCxnSpPr>
        <p:spPr>
          <a:xfrm flipH="1">
            <a:off x="3292023" y="5939401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1635BDDC-03E0-94B7-6BA7-083DA9CA0E08}"/>
              </a:ext>
            </a:extLst>
          </p:cNvPr>
          <p:cNvCxnSpPr>
            <a:cxnSpLocks/>
          </p:cNvCxnSpPr>
          <p:nvPr/>
        </p:nvCxnSpPr>
        <p:spPr>
          <a:xfrm flipH="1">
            <a:off x="3292023" y="6560216"/>
            <a:ext cx="1785621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9746A96F-4B32-9DFA-196C-19CD864CA964}"/>
              </a:ext>
            </a:extLst>
          </p:cNvPr>
          <p:cNvCxnSpPr>
            <a:cxnSpLocks/>
          </p:cNvCxnSpPr>
          <p:nvPr/>
        </p:nvCxnSpPr>
        <p:spPr>
          <a:xfrm>
            <a:off x="3292023" y="5936213"/>
            <a:ext cx="0" cy="62979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24314760-2F49-D9B2-A82A-2F86248E0347}"/>
              </a:ext>
            </a:extLst>
          </p:cNvPr>
          <p:cNvCxnSpPr>
            <a:cxnSpLocks/>
          </p:cNvCxnSpPr>
          <p:nvPr/>
        </p:nvCxnSpPr>
        <p:spPr>
          <a:xfrm flipH="1">
            <a:off x="1071468" y="6245321"/>
            <a:ext cx="2220555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1FE1773A-A3F9-7385-20E7-4D068293FFD7}"/>
              </a:ext>
            </a:extLst>
          </p:cNvPr>
          <p:cNvCxnSpPr>
            <a:cxnSpLocks/>
          </p:cNvCxnSpPr>
          <p:nvPr/>
        </p:nvCxnSpPr>
        <p:spPr>
          <a:xfrm>
            <a:off x="1082368" y="4417972"/>
            <a:ext cx="0" cy="1827349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D51A0027-F4C3-1FC6-3B52-1D6C1D0143CB}"/>
              </a:ext>
            </a:extLst>
          </p:cNvPr>
          <p:cNvCxnSpPr/>
          <p:nvPr/>
        </p:nvCxnSpPr>
        <p:spPr>
          <a:xfrm flipH="1">
            <a:off x="620661" y="5331557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630C6443-0896-4C49-73E9-F75271C8BA4B}"/>
              </a:ext>
            </a:extLst>
          </p:cNvPr>
          <p:cNvSpPr txBox="1"/>
          <p:nvPr/>
        </p:nvSpPr>
        <p:spPr>
          <a:xfrm>
            <a:off x="8679360" y="240946"/>
            <a:ext cx="27381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Number of HGT inserts / Unique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112926F-DA14-AC98-06EF-6990303FCF8D}"/>
              </a:ext>
            </a:extLst>
          </p:cNvPr>
          <p:cNvSpPr txBox="1"/>
          <p:nvPr/>
        </p:nvSpPr>
        <p:spPr>
          <a:xfrm>
            <a:off x="518565" y="4962481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207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80D04FB6-51C1-8BCF-FAD1-2A973594404A}"/>
              </a:ext>
            </a:extLst>
          </p:cNvPr>
          <p:cNvSpPr txBox="1"/>
          <p:nvPr/>
        </p:nvSpPr>
        <p:spPr>
          <a:xfrm>
            <a:off x="2735087" y="5896332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161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60ABBCE-4D37-D9C0-DCAB-F4E4092D4E33}"/>
              </a:ext>
            </a:extLst>
          </p:cNvPr>
          <p:cNvSpPr txBox="1"/>
          <p:nvPr/>
        </p:nvSpPr>
        <p:spPr>
          <a:xfrm>
            <a:off x="3788875" y="5311574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98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BA3EB86E-713D-689B-FDC9-AB53D1AC3B3D}"/>
              </a:ext>
            </a:extLst>
          </p:cNvPr>
          <p:cNvSpPr txBox="1"/>
          <p:nvPr/>
        </p:nvSpPr>
        <p:spPr>
          <a:xfrm>
            <a:off x="3225717" y="5617493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108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ACF48875-1ECD-1930-C408-D1A9FA508EE8}"/>
              </a:ext>
            </a:extLst>
          </p:cNvPr>
          <p:cNvSpPr txBox="1"/>
          <p:nvPr/>
        </p:nvSpPr>
        <p:spPr>
          <a:xfrm>
            <a:off x="4249207" y="504886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45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8DBAF0C-DE1B-5940-1730-CECA87CE20F3}"/>
              </a:ext>
            </a:extLst>
          </p:cNvPr>
          <p:cNvSpPr txBox="1"/>
          <p:nvPr/>
        </p:nvSpPr>
        <p:spPr>
          <a:xfrm>
            <a:off x="924853" y="4058527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145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5D4F1E75-FE1A-B5AE-4A29-EE9E22E56670}"/>
              </a:ext>
            </a:extLst>
          </p:cNvPr>
          <p:cNvSpPr txBox="1"/>
          <p:nvPr/>
        </p:nvSpPr>
        <p:spPr>
          <a:xfrm>
            <a:off x="1240558" y="3625546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63.05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2EB31E3-F3A2-193E-E951-57CD17B1D19A}"/>
              </a:ext>
            </a:extLst>
          </p:cNvPr>
          <p:cNvSpPr txBox="1"/>
          <p:nvPr/>
        </p:nvSpPr>
        <p:spPr>
          <a:xfrm>
            <a:off x="1704005" y="3071084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28.71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5E1F08CF-B2EC-5AAD-46A7-3DF09BB2E71E}"/>
              </a:ext>
            </a:extLst>
          </p:cNvPr>
          <p:cNvSpPr txBox="1"/>
          <p:nvPr/>
        </p:nvSpPr>
        <p:spPr>
          <a:xfrm>
            <a:off x="2167252" y="2468599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22.84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767B46F5-F5BC-6F41-7DE8-51BF156964F2}"/>
              </a:ext>
            </a:extLst>
          </p:cNvPr>
          <p:cNvSpPr txBox="1"/>
          <p:nvPr/>
        </p:nvSpPr>
        <p:spPr>
          <a:xfrm>
            <a:off x="3897845" y="2979995"/>
            <a:ext cx="1015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17.35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35830280-30EE-CDCD-DC54-E266E4F845BA}"/>
              </a:ext>
            </a:extLst>
          </p:cNvPr>
          <p:cNvSpPr txBox="1"/>
          <p:nvPr/>
        </p:nvSpPr>
        <p:spPr>
          <a:xfrm>
            <a:off x="2627323" y="1967415"/>
            <a:ext cx="946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20.91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9B6760DB-3A75-08BC-0811-66EF473E2A03}"/>
              </a:ext>
            </a:extLst>
          </p:cNvPr>
          <p:cNvSpPr txBox="1"/>
          <p:nvPr/>
        </p:nvSpPr>
        <p:spPr>
          <a:xfrm>
            <a:off x="3046635" y="1416298"/>
            <a:ext cx="848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14.12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007731A2-076A-D072-05B2-9021E0300168}"/>
              </a:ext>
            </a:extLst>
          </p:cNvPr>
          <p:cNvSpPr txBox="1"/>
          <p:nvPr/>
        </p:nvSpPr>
        <p:spPr>
          <a:xfrm>
            <a:off x="3903836" y="1948261"/>
            <a:ext cx="914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13.17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D6F1794A-4466-00E7-27F9-25EEE6AFF812}"/>
              </a:ext>
            </a:extLst>
          </p:cNvPr>
          <p:cNvSpPr txBox="1"/>
          <p:nvPr/>
        </p:nvSpPr>
        <p:spPr>
          <a:xfrm>
            <a:off x="4132940" y="1272527"/>
            <a:ext cx="794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5.84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506C3FF6-BBE2-2617-F185-86A592661691}"/>
              </a:ext>
            </a:extLst>
          </p:cNvPr>
          <p:cNvSpPr txBox="1"/>
          <p:nvPr/>
        </p:nvSpPr>
        <p:spPr>
          <a:xfrm>
            <a:off x="4110248" y="614046"/>
            <a:ext cx="899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6.67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56CBF744-6F90-77DF-92DB-750E7F4E6A0A}"/>
              </a:ext>
            </a:extLst>
          </p:cNvPr>
          <p:cNvSpPr txBox="1"/>
          <p:nvPr/>
        </p:nvSpPr>
        <p:spPr>
          <a:xfrm>
            <a:off x="3447118" y="916436"/>
            <a:ext cx="777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12.73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764550-166B-E5A4-F2E5-A30016FD82E6}"/>
              </a:ext>
            </a:extLst>
          </p:cNvPr>
          <p:cNvSpPr txBox="1"/>
          <p:nvPr/>
        </p:nvSpPr>
        <p:spPr>
          <a:xfrm>
            <a:off x="9360656" y="614046"/>
            <a:ext cx="13403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5037 / ##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55DFB3-F47C-F92A-D6E7-835912EB4AB5}"/>
              </a:ext>
            </a:extLst>
          </p:cNvPr>
          <p:cNvSpPr txBox="1"/>
          <p:nvPr/>
        </p:nvSpPr>
        <p:spPr>
          <a:xfrm>
            <a:off x="9360656" y="955047"/>
            <a:ext cx="914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4252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310815-8202-F883-DDD1-68D008A082C2}"/>
              </a:ext>
            </a:extLst>
          </p:cNvPr>
          <p:cNvSpPr txBox="1"/>
          <p:nvPr/>
        </p:nvSpPr>
        <p:spPr>
          <a:xfrm>
            <a:off x="9360656" y="1296048"/>
            <a:ext cx="914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3852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080BCB-E65A-ABC2-0CD5-1DB2C1558CDF}"/>
              </a:ext>
            </a:extLst>
          </p:cNvPr>
          <p:cNvSpPr txBox="1"/>
          <p:nvPr/>
        </p:nvSpPr>
        <p:spPr>
          <a:xfrm>
            <a:off x="9365913" y="1637049"/>
            <a:ext cx="914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3702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08A9A4-0E16-64AB-B929-DFF119DB3382}"/>
              </a:ext>
            </a:extLst>
          </p:cNvPr>
          <p:cNvSpPr txBox="1"/>
          <p:nvPr/>
        </p:nvSpPr>
        <p:spPr>
          <a:xfrm>
            <a:off x="9365913" y="1978050"/>
            <a:ext cx="914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4716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A1408E-19EF-E791-3B84-B5617B71BAFF}"/>
              </a:ext>
            </a:extLst>
          </p:cNvPr>
          <p:cNvSpPr txBox="1"/>
          <p:nvPr/>
        </p:nvSpPr>
        <p:spPr>
          <a:xfrm>
            <a:off x="9365913" y="2319051"/>
            <a:ext cx="914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4086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D5CA33-643F-ECC4-D25E-7F0EA2AEBBC2}"/>
              </a:ext>
            </a:extLst>
          </p:cNvPr>
          <p:cNvSpPr txBox="1"/>
          <p:nvPr/>
        </p:nvSpPr>
        <p:spPr>
          <a:xfrm>
            <a:off x="9376423" y="2660052"/>
            <a:ext cx="914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4396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21EB57-3141-35C9-C4C3-3B4BF946BE22}"/>
              </a:ext>
            </a:extLst>
          </p:cNvPr>
          <p:cNvSpPr txBox="1"/>
          <p:nvPr/>
        </p:nvSpPr>
        <p:spPr>
          <a:xfrm>
            <a:off x="9376423" y="3001053"/>
            <a:ext cx="914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2964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7027FF-DEB3-B4F8-66B9-C16B533C434C}"/>
              </a:ext>
            </a:extLst>
          </p:cNvPr>
          <p:cNvSpPr txBox="1"/>
          <p:nvPr/>
        </p:nvSpPr>
        <p:spPr>
          <a:xfrm>
            <a:off x="9376423" y="3342054"/>
            <a:ext cx="914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2797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B6F2E4-61BD-EB2F-B497-0C1C1DAD77C8}"/>
              </a:ext>
            </a:extLst>
          </p:cNvPr>
          <p:cNvSpPr txBox="1"/>
          <p:nvPr/>
        </p:nvSpPr>
        <p:spPr>
          <a:xfrm>
            <a:off x="9371169" y="3683055"/>
            <a:ext cx="914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1543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8540F7A-759B-9668-82F3-137090497E69}"/>
              </a:ext>
            </a:extLst>
          </p:cNvPr>
          <p:cNvSpPr txBox="1"/>
          <p:nvPr/>
        </p:nvSpPr>
        <p:spPr>
          <a:xfrm>
            <a:off x="9371169" y="4024056"/>
            <a:ext cx="914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1601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0A2A43B-A3C8-475A-7EC5-4035FF4E4DEB}"/>
              </a:ext>
            </a:extLst>
          </p:cNvPr>
          <p:cNvSpPr txBox="1"/>
          <p:nvPr/>
        </p:nvSpPr>
        <p:spPr>
          <a:xfrm>
            <a:off x="9371169" y="4365057"/>
            <a:ext cx="914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532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E7F21F6-25C5-17DE-33FC-A094B06F7BED}"/>
              </a:ext>
            </a:extLst>
          </p:cNvPr>
          <p:cNvSpPr txBox="1"/>
          <p:nvPr/>
        </p:nvSpPr>
        <p:spPr>
          <a:xfrm>
            <a:off x="9365915" y="4706058"/>
            <a:ext cx="914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527–609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317A4F7-715A-4E78-DDF8-75EAB4ED0117}"/>
              </a:ext>
            </a:extLst>
          </p:cNvPr>
          <p:cNvSpPr txBox="1"/>
          <p:nvPr/>
        </p:nvSpPr>
        <p:spPr>
          <a:xfrm>
            <a:off x="9365915" y="5047059"/>
            <a:ext cx="914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6497100-B62C-FECA-CE7A-3FA11331A621}"/>
              </a:ext>
            </a:extLst>
          </p:cNvPr>
          <p:cNvSpPr txBox="1"/>
          <p:nvPr/>
        </p:nvSpPr>
        <p:spPr>
          <a:xfrm>
            <a:off x="9365915" y="5388060"/>
            <a:ext cx="914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CA320E7-04CA-A040-D39E-E90F14204468}"/>
              </a:ext>
            </a:extLst>
          </p:cNvPr>
          <p:cNvSpPr txBox="1"/>
          <p:nvPr/>
        </p:nvSpPr>
        <p:spPr>
          <a:xfrm>
            <a:off x="9360661" y="5729061"/>
            <a:ext cx="914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74A3AA8-7FE3-7A0B-FEF1-AEC257E19918}"/>
              </a:ext>
            </a:extLst>
          </p:cNvPr>
          <p:cNvSpPr txBox="1"/>
          <p:nvPr/>
        </p:nvSpPr>
        <p:spPr>
          <a:xfrm>
            <a:off x="9360661" y="6070062"/>
            <a:ext cx="914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EFBBB06-33EB-6975-D787-7B77B9CD0AEC}"/>
              </a:ext>
            </a:extLst>
          </p:cNvPr>
          <p:cNvSpPr txBox="1"/>
          <p:nvPr/>
        </p:nvSpPr>
        <p:spPr>
          <a:xfrm>
            <a:off x="9360661" y="6411062"/>
            <a:ext cx="914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106-647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CD61EAF-89DA-8EF3-3EFE-22F6D26AA683}"/>
              </a:ext>
            </a:extLst>
          </p:cNvPr>
          <p:cNvSpPr txBox="1"/>
          <p:nvPr/>
        </p:nvSpPr>
        <p:spPr>
          <a:xfrm>
            <a:off x="7393762" y="5558547"/>
            <a:ext cx="914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Termites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CA0D268C-885A-4446-8B3C-4318EABB3FE9}"/>
              </a:ext>
            </a:extLst>
          </p:cNvPr>
          <p:cNvSpPr txBox="1"/>
          <p:nvPr/>
        </p:nvSpPr>
        <p:spPr>
          <a:xfrm>
            <a:off x="4041437" y="3663513"/>
            <a:ext cx="1015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1.81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0BF97B18-9077-6349-93EF-9C6C224D3524}"/>
              </a:ext>
            </a:extLst>
          </p:cNvPr>
          <p:cNvCxnSpPr/>
          <p:nvPr/>
        </p:nvCxnSpPr>
        <p:spPr>
          <a:xfrm>
            <a:off x="7383252" y="5171960"/>
            <a:ext cx="0" cy="1152000"/>
          </a:xfrm>
          <a:prstGeom prst="line">
            <a:avLst/>
          </a:prstGeom>
          <a:ln w="127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AB37B95A-219F-6340-BFC7-8A5E60BEF872}"/>
              </a:ext>
            </a:extLst>
          </p:cNvPr>
          <p:cNvSpPr txBox="1"/>
          <p:nvPr/>
        </p:nvSpPr>
        <p:spPr>
          <a:xfrm>
            <a:off x="10303210" y="1410860"/>
            <a:ext cx="60610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Length distribution</a:t>
            </a:r>
          </a:p>
          <a:p>
            <a:r>
              <a:rPr lang="en-US" dirty="0"/>
              <a:t>Put in total, then put in different </a:t>
            </a:r>
            <a:r>
              <a:rPr lang="en-US" dirty="0" err="1"/>
              <a:t>colours</a:t>
            </a:r>
            <a:r>
              <a:rPr lang="en-US" dirty="0"/>
              <a:t> for genic vs non-genic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5942DD00-F635-4248-8CBC-A7D1F6D0732F}"/>
              </a:ext>
            </a:extLst>
          </p:cNvPr>
          <p:cNvSpPr txBox="1"/>
          <p:nvPr/>
        </p:nvSpPr>
        <p:spPr>
          <a:xfrm>
            <a:off x="10659815" y="3640850"/>
            <a:ext cx="1252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Leo’s figure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2AA615D-7AB6-394F-A7B7-639DCB2479A1}"/>
              </a:ext>
            </a:extLst>
          </p:cNvPr>
          <p:cNvSpPr txBox="1"/>
          <p:nvPr/>
        </p:nvSpPr>
        <p:spPr>
          <a:xfrm>
            <a:off x="152327" y="-28505"/>
            <a:ext cx="936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Figure 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4074216-827A-DB43-B696-56F30FFD1249}"/>
              </a:ext>
            </a:extLst>
          </p:cNvPr>
          <p:cNvSpPr txBox="1"/>
          <p:nvPr/>
        </p:nvSpPr>
        <p:spPr>
          <a:xfrm>
            <a:off x="753752" y="59596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172570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CBCCAAD-C40A-0540-A342-CC95BED36479}"/>
              </a:ext>
            </a:extLst>
          </p:cNvPr>
          <p:cNvSpPr txBox="1"/>
          <p:nvPr/>
        </p:nvSpPr>
        <p:spPr>
          <a:xfrm>
            <a:off x="152327" y="-28505"/>
            <a:ext cx="943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Figure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0DAFDE-3EB3-4D4D-8B16-A4102844234F}"/>
              </a:ext>
            </a:extLst>
          </p:cNvPr>
          <p:cNvSpPr txBox="1"/>
          <p:nvPr/>
        </p:nvSpPr>
        <p:spPr>
          <a:xfrm>
            <a:off x="1544595" y="2211859"/>
            <a:ext cx="459330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Zhuzhi</a:t>
            </a:r>
            <a:r>
              <a:rPr lang="en-US" dirty="0"/>
              <a:t> figure.</a:t>
            </a:r>
          </a:p>
          <a:p>
            <a:endParaRPr lang="en-US" dirty="0"/>
          </a:p>
          <a:p>
            <a:r>
              <a:rPr lang="en-US" dirty="0"/>
              <a:t>Also maybe a couple of figure about old inserts</a:t>
            </a:r>
          </a:p>
          <a:p>
            <a:r>
              <a:rPr lang="en-US" dirty="0"/>
              <a:t>- An example from my one, and </a:t>
            </a:r>
            <a:r>
              <a:rPr lang="en-US" dirty="0" err="1"/>
              <a:t>Zhuzhi’s</a:t>
            </a:r>
            <a:r>
              <a:rPr lang="en-US"/>
              <a:t> one.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291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472</Words>
  <Application>Microsoft Macintosh PowerPoint</Application>
  <PresentationFormat>Widescreen</PresentationFormat>
  <Paragraphs>133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Nathan Lo</dc:creator>
  <cp:lastModifiedBy>Microsoft Office User</cp:lastModifiedBy>
  <cp:revision>16</cp:revision>
  <dcterms:created xsi:type="dcterms:W3CDTF">2024-11-11T06:16:46Z</dcterms:created>
  <dcterms:modified xsi:type="dcterms:W3CDTF">2025-10-27T21:35:46Z</dcterms:modified>
</cp:coreProperties>
</file>