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9" r:id="rId3"/>
    <p:sldId id="262" r:id="rId4"/>
    <p:sldId id="258" r:id="rId5"/>
    <p:sldId id="257" r:id="rId6"/>
    <p:sldId id="263" r:id="rId7"/>
    <p:sldId id="268" r:id="rId8"/>
    <p:sldId id="269" r:id="rId9"/>
    <p:sldId id="261" r:id="rId10"/>
    <p:sldId id="260" r:id="rId11"/>
    <p:sldId id="264" r:id="rId12"/>
    <p:sldId id="265" r:id="rId13"/>
    <p:sldId id="266" r:id="rId14"/>
    <p:sldId id="2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218"/>
    <p:restoredTop sz="96208"/>
  </p:normalViewPr>
  <p:slideViewPr>
    <p:cSldViewPr snapToGrid="0">
      <p:cViewPr varScale="1">
        <p:scale>
          <a:sx n="110" d="100"/>
          <a:sy n="110" d="100"/>
        </p:scale>
        <p:origin x="85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FC65C6-6085-4244-82B2-63B076D03E9C}"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CB7D11-0DA4-4649-ACEB-1F19D5C36BF9}" type="slidenum">
              <a:rPr lang="en-US" smtClean="0"/>
              <a:t>‹#›</a:t>
            </a:fld>
            <a:endParaRPr lang="en-US"/>
          </a:p>
        </p:txBody>
      </p:sp>
    </p:spTree>
    <p:extLst>
      <p:ext uri="{BB962C8B-B14F-4D97-AF65-F5344CB8AC3E}">
        <p14:creationId xmlns:p14="http://schemas.microsoft.com/office/powerpoint/2010/main" val="4147835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Cladogram of taxa </a:t>
            </a:r>
            <a:r>
              <a:rPr lang="en-US" dirty="0" err="1"/>
              <a:t>analysed</a:t>
            </a:r>
            <a:r>
              <a:rPr lang="en-US" dirty="0"/>
              <a:t> for Blattabacterium HGT events</a:t>
            </a:r>
          </a:p>
          <a:p>
            <a:endParaRPr lang="en-US" dirty="0"/>
          </a:p>
          <a:p>
            <a:r>
              <a:rPr lang="en-US" dirty="0"/>
              <a:t>Nodes show divergence times (Ma) from Beasley-Hall et al (2021: for nodes internal to top 12 taxa) and Evangelista et al (2019: for nodes internal to remaining 6 taxa). One exception is value between P. lata</a:t>
            </a:r>
          </a:p>
          <a:p>
            <a:endParaRPr lang="en-US" dirty="0"/>
          </a:p>
          <a:p>
            <a:r>
              <a:rPr lang="en-US" dirty="0"/>
              <a:t>and P. cribrata, which is from Adams et al 2024. </a:t>
            </a:r>
          </a:p>
          <a:p>
            <a:endParaRPr lang="en-US" dirty="0"/>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2</a:t>
            </a:fld>
            <a:endParaRPr lang="en-US"/>
          </a:p>
        </p:txBody>
      </p:sp>
    </p:spTree>
    <p:extLst>
      <p:ext uri="{BB962C8B-B14F-4D97-AF65-F5344CB8AC3E}">
        <p14:creationId xmlns:p14="http://schemas.microsoft.com/office/powerpoint/2010/main" val="34230670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B5CCD-D693-F38E-9CF8-5D831007E2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A172F1-1942-2C2F-DEC5-636B8813E9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9E7AC47-B96C-DF39-BE46-3D1C3CEF4F03}"/>
              </a:ext>
            </a:extLst>
          </p:cNvPr>
          <p:cNvSpPr>
            <a:spLocks noGrp="1"/>
          </p:cNvSpPr>
          <p:nvPr>
            <p:ph type="body" idx="1"/>
          </p:nvPr>
        </p:nvSpPr>
        <p:spPr/>
        <p:txBody>
          <a:bodyPr/>
          <a:lstStyle/>
          <a:p>
            <a:r>
              <a:rPr lang="en-US" dirty="0"/>
              <a:t>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endParaRPr lang="en-US" dirty="0"/>
          </a:p>
          <a:p>
            <a:endParaRPr lang="en-US" dirty="0"/>
          </a:p>
        </p:txBody>
      </p:sp>
      <p:sp>
        <p:nvSpPr>
          <p:cNvPr id="4" name="Slide Number Placeholder 3">
            <a:extLst>
              <a:ext uri="{FF2B5EF4-FFF2-40B4-BE49-F238E27FC236}">
                <a16:creationId xmlns:a16="http://schemas.microsoft.com/office/drawing/2014/main" id="{91E251CD-9ADC-FD54-9DE6-F9DA4AED88FA}"/>
              </a:ext>
            </a:extLst>
          </p:cNvPr>
          <p:cNvSpPr>
            <a:spLocks noGrp="1"/>
          </p:cNvSpPr>
          <p:nvPr>
            <p:ph type="sldNum" sz="quarter" idx="5"/>
          </p:nvPr>
        </p:nvSpPr>
        <p:spPr/>
        <p:txBody>
          <a:bodyPr/>
          <a:lstStyle/>
          <a:p>
            <a:fld id="{AFCB7D11-0DA4-4649-ACEB-1F19D5C36BF9}" type="slidenum">
              <a:rPr lang="en-US" smtClean="0"/>
              <a:t>3</a:t>
            </a:fld>
            <a:endParaRPr lang="en-US"/>
          </a:p>
        </p:txBody>
      </p:sp>
    </p:spTree>
    <p:extLst>
      <p:ext uri="{BB962C8B-B14F-4D97-AF65-F5344CB8AC3E}">
        <p14:creationId xmlns:p14="http://schemas.microsoft.com/office/powerpoint/2010/main" val="392223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 with “inserts_lengths_v2.R”</a:t>
            </a:r>
          </a:p>
          <a:p>
            <a:r>
              <a:rPr lang="en-US" dirty="0"/>
              <a:t>The plot starts at 50 bp, as this was the minimum. I have a maximum cutoff of 1000 bp (75 of the 41103 markers have been excluded).</a:t>
            </a:r>
          </a:p>
          <a:p>
            <a:r>
              <a:rPr lang="en-US" dirty="0"/>
              <a:t>Comment 1: I’m not sure why there are 2 peaks… I can of course fiddle around with the resolution of this graph and flatten out the 2 peaks (not to be dodgy, but just a more coarse summary of the lengths)</a:t>
            </a:r>
          </a:p>
          <a:p>
            <a:r>
              <a:rPr lang="en-US" dirty="0"/>
              <a:t>Comment 2: I’m hoping to add 2 additional curves to the plot (or as additional plots) – 1 for genic and 1 for intergenic.</a:t>
            </a:r>
          </a:p>
        </p:txBody>
      </p:sp>
      <p:sp>
        <p:nvSpPr>
          <p:cNvPr id="4" name="Slide Number Placeholder 3"/>
          <p:cNvSpPr>
            <a:spLocks noGrp="1"/>
          </p:cNvSpPr>
          <p:nvPr>
            <p:ph type="sldNum" sz="quarter" idx="5"/>
          </p:nvPr>
        </p:nvSpPr>
        <p:spPr/>
        <p:txBody>
          <a:bodyPr/>
          <a:lstStyle/>
          <a:p>
            <a:fld id="{AFCB7D11-0DA4-4649-ACEB-1F19D5C36BF9}" type="slidenum">
              <a:rPr lang="en-US" smtClean="0"/>
              <a:t>6</a:t>
            </a:fld>
            <a:endParaRPr lang="en-US"/>
          </a:p>
        </p:txBody>
      </p:sp>
    </p:spTree>
    <p:extLst>
      <p:ext uri="{BB962C8B-B14F-4D97-AF65-F5344CB8AC3E}">
        <p14:creationId xmlns:p14="http://schemas.microsoft.com/office/powerpoint/2010/main" val="23425926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r>
              <a:rPr lang="en-US" dirty="0"/>
              <a:t>Comment 1: Could add numbers of genic vs intergenic to (A)</a:t>
            </a:r>
          </a:p>
          <a:p>
            <a:endParaRPr lang="en-US" dirty="0"/>
          </a:p>
          <a:p>
            <a:r>
              <a:rPr lang="en-US" dirty="0"/>
              <a:t>B. The plot starts at 50 bp, as this was the minimum. I have a maximum cutoff of 1000 bp (75 of the 41103 markers have been excluded).</a:t>
            </a:r>
          </a:p>
          <a:p>
            <a:endParaRPr lang="en-US" dirty="0"/>
          </a:p>
          <a:p>
            <a:r>
              <a:rPr lang="en-US" dirty="0"/>
              <a:t>C. Placeholder for Leo figure</a:t>
            </a:r>
          </a:p>
        </p:txBody>
      </p:sp>
      <p:sp>
        <p:nvSpPr>
          <p:cNvPr id="4" name="Slide Number Placeholder 3"/>
          <p:cNvSpPr>
            <a:spLocks noGrp="1"/>
          </p:cNvSpPr>
          <p:nvPr>
            <p:ph type="sldNum" sz="quarter" idx="5"/>
          </p:nvPr>
        </p:nvSpPr>
        <p:spPr/>
        <p:txBody>
          <a:bodyPr/>
          <a:lstStyle/>
          <a:p>
            <a:fld id="{AFCB7D11-0DA4-4649-ACEB-1F19D5C36BF9}" type="slidenum">
              <a:rPr lang="en-US" smtClean="0"/>
              <a:t>9</a:t>
            </a:fld>
            <a:endParaRPr lang="en-US"/>
          </a:p>
        </p:txBody>
      </p:sp>
    </p:spTree>
    <p:extLst>
      <p:ext uri="{BB962C8B-B14F-4D97-AF65-F5344CB8AC3E}">
        <p14:creationId xmlns:p14="http://schemas.microsoft.com/office/powerpoint/2010/main" val="25649321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lphaUcPeriod"/>
            </a:pPr>
            <a:r>
              <a:rPr lang="en-US" dirty="0"/>
              <a:t>P-</a:t>
            </a:r>
            <a:r>
              <a:rPr lang="en-US" dirty="0" err="1"/>
              <a:t>tryoni</a:t>
            </a:r>
            <a:r>
              <a:rPr lang="en-US" dirty="0"/>
              <a:t>-</a:t>
            </a:r>
            <a:r>
              <a:rPr lang="en-US" dirty="0" err="1"/>
              <a:t>tryoni</a:t>
            </a:r>
            <a:r>
              <a:rPr lang="en-US" dirty="0"/>
              <a:t>-</a:t>
            </a:r>
            <a:r>
              <a:rPr lang="en-US" dirty="0" err="1"/>
              <a:t>Eungella_ageing</a:t>
            </a:r>
            <a:r>
              <a:rPr lang="en-US" dirty="0"/>
              <a:t>-plot. BLAST %ID against Blattabacterium database - BLAST %ID against insert database </a:t>
            </a:r>
          </a:p>
          <a:p>
            <a:r>
              <a:rPr lang="en-US" dirty="0"/>
              <a:t>B. Examples of one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10</a:t>
            </a:fld>
            <a:endParaRPr lang="en-US"/>
          </a:p>
        </p:txBody>
      </p:sp>
    </p:spTree>
    <p:extLst>
      <p:ext uri="{BB962C8B-B14F-4D97-AF65-F5344CB8AC3E}">
        <p14:creationId xmlns:p14="http://schemas.microsoft.com/office/powerpoint/2010/main" val="14278055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dirty="0">
                <a:solidFill>
                  <a:schemeClr val="tx1"/>
                </a:solidFill>
                <a:effectLst/>
                <a:latin typeface="+mn-lt"/>
                <a:ea typeface="+mn-ea"/>
                <a:cs typeface="+mn-cs"/>
              </a:rPr>
              <a:t>Figure 4.3</a:t>
            </a:r>
            <a:r>
              <a:rPr lang="en-AU" sz="1200" kern="1200" dirty="0">
                <a:solidFill>
                  <a:schemeClr val="tx1"/>
                </a:solidFill>
                <a:effectLst/>
                <a:latin typeface="+mn-lt"/>
                <a:ea typeface="+mn-ea"/>
                <a:cs typeface="+mn-cs"/>
              </a:rPr>
              <a:t>. Examples of two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endParaRPr lang="en-GB"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11</a:t>
            </a:fld>
            <a:endParaRPr lang="en-US"/>
          </a:p>
        </p:txBody>
      </p:sp>
    </p:spTree>
    <p:extLst>
      <p:ext uri="{BB962C8B-B14F-4D97-AF65-F5344CB8AC3E}">
        <p14:creationId xmlns:p14="http://schemas.microsoft.com/office/powerpoint/2010/main" val="5783563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12</a:t>
            </a:fld>
            <a:endParaRPr lang="en-US"/>
          </a:p>
        </p:txBody>
      </p:sp>
    </p:spTree>
    <p:extLst>
      <p:ext uri="{BB962C8B-B14F-4D97-AF65-F5344CB8AC3E}">
        <p14:creationId xmlns:p14="http://schemas.microsoft.com/office/powerpoint/2010/main" val="2973060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14</a:t>
            </a:fld>
            <a:endParaRPr lang="en-US"/>
          </a:p>
        </p:txBody>
      </p:sp>
    </p:spTree>
    <p:extLst>
      <p:ext uri="{BB962C8B-B14F-4D97-AF65-F5344CB8AC3E}">
        <p14:creationId xmlns:p14="http://schemas.microsoft.com/office/powerpoint/2010/main" val="101557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CC5EA-9DAF-AACF-1419-D291D7841F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D690EB-E812-B4F0-B1CE-A583D74FBC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0C1FCF-86FC-EF8D-0AED-8292E36D58A2}"/>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5B14A176-F829-9DB0-1F40-2CF211CB5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E10B39-EED2-0D52-DEC5-885DA181508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653709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4C15-87D6-5517-7322-4CAEB0B5DD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932308-FDA6-D4EB-EAA8-19EFCD8215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91826C-7B89-5DEE-F845-91CD47468630}"/>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848AD301-8AA6-4C75-F896-3E846BDF0D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0D0F58-43CF-A605-C912-456A54EA35D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4044350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E9AA1-E19D-B7D4-A9A4-705363ADF9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1B5B83-3459-3069-8A0B-2DC0A6C784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B6C11A-14DE-19C9-95EC-1A566AD492E2}"/>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1A36D86E-3FEE-E4D8-F386-AEDCCBC0B3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AAD0D9-3497-F134-E3FF-D101AF6F45B1}"/>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518669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4423-50A9-B9A4-3E32-8D3607F450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6FAA479-5A6C-FAF4-D983-3C069A803D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B3A145-79E5-4E3C-A332-A677BD5767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156CF7-5A57-6614-9813-FF9881840CED}"/>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6" name="Footer Placeholder 5">
            <a:extLst>
              <a:ext uri="{FF2B5EF4-FFF2-40B4-BE49-F238E27FC236}">
                <a16:creationId xmlns:a16="http://schemas.microsoft.com/office/drawing/2014/main" id="{26A84C2E-C279-85A2-C82D-B0BC502B2C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AB0653-ED73-B419-CC3A-23B285B200B9}"/>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1066899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400D-166D-B5AA-9FF3-3A8CE554E4D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AC418B-14A9-BA41-645E-F99A02F499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2DB0B2-619E-3DB9-EEE3-0FCBCDABF8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2FFD0B-53B5-13CF-0FD6-DDB4BA289D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800C3F-2A1D-A814-8CCA-6371E85A1C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795A93-EEA0-E73E-87AB-A74BCB0F33BE}"/>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8" name="Footer Placeholder 7">
            <a:extLst>
              <a:ext uri="{FF2B5EF4-FFF2-40B4-BE49-F238E27FC236}">
                <a16:creationId xmlns:a16="http://schemas.microsoft.com/office/drawing/2014/main" id="{4AF27BBD-591A-0366-07AF-27EF72C6FBD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1C6C555-AFB5-6E47-0CD5-BC74D714A6E2}"/>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3060877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BEA2B-40CA-A90A-CB7B-F94FA283790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9723E47-7F34-EDD9-7C3F-5B8099150FD7}"/>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4" name="Footer Placeholder 3">
            <a:extLst>
              <a:ext uri="{FF2B5EF4-FFF2-40B4-BE49-F238E27FC236}">
                <a16:creationId xmlns:a16="http://schemas.microsoft.com/office/drawing/2014/main" id="{C2304B3A-74E2-3B93-CE16-99C7585A93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A53F696-6E74-D5D0-FA3A-76A1A4ADC825}"/>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00434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EB77A33-D20C-BA98-E24C-8B1692DFFABC}"/>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3" name="Footer Placeholder 2">
            <a:extLst>
              <a:ext uri="{FF2B5EF4-FFF2-40B4-BE49-F238E27FC236}">
                <a16:creationId xmlns:a16="http://schemas.microsoft.com/office/drawing/2014/main" id="{6548135E-5E12-1699-8169-7C5D4DA49A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D3938F-0AD3-A238-2272-583E413418D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203935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743DE-F253-B27C-3FFD-7E2C0E1181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D826A8C-EB72-A207-A81A-94F3732FD9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8A68EB-88DD-0D87-E861-BBF40E326A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065729-D340-0C4A-1343-FB7A167BDAEE}"/>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6" name="Footer Placeholder 5">
            <a:extLst>
              <a:ext uri="{FF2B5EF4-FFF2-40B4-BE49-F238E27FC236}">
                <a16:creationId xmlns:a16="http://schemas.microsoft.com/office/drawing/2014/main" id="{9D0DD2EE-414A-26FA-3915-CA0E7DD9F5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F21F5A-3E33-2EBC-3F2B-1DF7E8BDFB10}"/>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5680687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A6469-AF0C-9074-6512-0C76C497D3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76899-896C-1C8C-2778-371DFBD28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44279B2-77F2-8F27-788C-05534D27C9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5C8051-4015-A29D-A713-0FC3F5B3030A}"/>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6" name="Footer Placeholder 5">
            <a:extLst>
              <a:ext uri="{FF2B5EF4-FFF2-40B4-BE49-F238E27FC236}">
                <a16:creationId xmlns:a16="http://schemas.microsoft.com/office/drawing/2014/main" id="{135E2AD8-74A7-04D1-D844-0A538F307D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02AA30-2D86-08CD-2F85-BC80348B8D8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3371765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0D734-0B25-BDAD-29CD-89F2EEC3240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7769AA-441D-62A6-3FFF-0CD509FE7E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5AA11F-4464-A3C1-00AA-769B190C544D}"/>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2E199A28-534F-A589-3EA3-485A79B5F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C547CE-174A-02B6-E01D-3CBF430137C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9110715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78D49-CA24-C4D0-316D-854CF4E5B1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9FE7A1-648A-573E-A0BE-5745DD0548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65EDDD-0066-2E3E-9C69-D6B4FA2D9EE7}"/>
              </a:ext>
            </a:extLst>
          </p:cNvPr>
          <p:cNvSpPr>
            <a:spLocks noGrp="1"/>
          </p:cNvSpPr>
          <p:nvPr>
            <p:ph type="dt" sz="half" idx="10"/>
          </p:nvPr>
        </p:nvSpPr>
        <p:spPr/>
        <p:txBody>
          <a:body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F15F3DDE-1D62-0B8E-A46E-0BF312D442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4931A7-F7FF-8FC4-F38D-2D112B984C4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4227331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390DF2-9748-CC0D-92B9-628A4AA393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D22E95-AB9C-AE09-C66A-B5488E2BDF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EC2841-62F8-FB86-5B13-3E2561FC46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B98897-90D8-9D4D-95EE-51EF37A9743C}" type="datetimeFigureOut">
              <a:rPr lang="en-US" smtClean="0"/>
              <a:t>11/12/25</a:t>
            </a:fld>
            <a:endParaRPr lang="en-US"/>
          </a:p>
        </p:txBody>
      </p:sp>
      <p:sp>
        <p:nvSpPr>
          <p:cNvPr id="5" name="Footer Placeholder 4">
            <a:extLst>
              <a:ext uri="{FF2B5EF4-FFF2-40B4-BE49-F238E27FC236}">
                <a16:creationId xmlns:a16="http://schemas.microsoft.com/office/drawing/2014/main" id="{A4C7C055-237F-6071-E858-D3F12514D9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B04C4F8-BEC6-644B-A400-0E608084B3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F6C30A1-0BE9-3241-A452-4C1F7161A2A6}" type="slidenum">
              <a:rPr lang="en-US" smtClean="0"/>
              <a:t>‹#›</a:t>
            </a:fld>
            <a:endParaRPr lang="en-US"/>
          </a:p>
        </p:txBody>
      </p:sp>
    </p:spTree>
    <p:extLst>
      <p:ext uri="{BB962C8B-B14F-4D97-AF65-F5344CB8AC3E}">
        <p14:creationId xmlns:p14="http://schemas.microsoft.com/office/powerpoint/2010/main" val="1561312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 </a:t>
            </a:r>
            <a:r>
              <a:rPr lang="en-US" sz="1400" dirty="0">
                <a:latin typeface="Arial" panose="020B0604020202020204" pitchFamily="34" charset="0"/>
                <a:cs typeface="Arial" panose="020B0604020202020204" pitchFamily="34" charset="0"/>
              </a:rPr>
              <a:t>Z004 (</a:t>
            </a:r>
            <a:r>
              <a:rPr lang="en-US" sz="1400" dirty="0" err="1">
                <a:latin typeface="Arial" panose="020B0604020202020204" pitchFamily="34" charset="0"/>
                <a:cs typeface="Arial" panose="020B0604020202020204" pitchFamily="34" charset="0"/>
              </a:rPr>
              <a:t>Murgon</a:t>
            </a:r>
            <a:r>
              <a:rPr lang="en-US" sz="1400" dirty="0">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Z005</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gigantea </a:t>
            </a:r>
            <a:r>
              <a:rPr lang="en-US" sz="1400" dirty="0">
                <a:latin typeface="Arial" panose="020B0604020202020204" pitchFamily="34" charset="0"/>
                <a:cs typeface="Arial" panose="020B0604020202020204" pitchFamily="34" charset="0"/>
              </a:rPr>
              <a:t>Z020</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(location TBD)</a:t>
            </a: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Z011 (Washpool)</a:t>
            </a: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 </a:t>
            </a:r>
            <a:r>
              <a:rPr lang="en-US" sz="1400" dirty="0">
                <a:latin typeface="Arial" panose="020B0604020202020204" pitchFamily="34" charset="0"/>
                <a:cs typeface="Arial" panose="020B0604020202020204" pitchFamily="34" charset="0"/>
              </a:rPr>
              <a:t>Z014 (location TBD)</a:t>
            </a: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Z012 (Eungella)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 </a:t>
            </a:r>
            <a:r>
              <a:rPr lang="en-US" sz="1400" dirty="0">
                <a:latin typeface="Arial" panose="020B0604020202020204" pitchFamily="34" charset="0"/>
                <a:cs typeface="Arial" panose="020B0604020202020204" pitchFamily="34" charset="0"/>
              </a:rPr>
              <a:t>(</a:t>
            </a:r>
            <a:r>
              <a:rPr lang="en-US" sz="1400" dirty="0" err="1">
                <a:latin typeface="Arial" panose="020B0604020202020204" pitchFamily="34" charset="0"/>
                <a:cs typeface="Arial" panose="020B0604020202020204" pitchFamily="34" charset="0"/>
              </a:rPr>
              <a:t>Gilgandra</a:t>
            </a:r>
            <a:r>
              <a:rPr lang="en-US" sz="1400" dirty="0">
                <a:latin typeface="Arial" panose="020B0604020202020204" pitchFamily="34" charset="0"/>
                <a:cs typeface="Arial" panose="020B0604020202020204" pitchFamily="34" charset="0"/>
              </a:rPr>
              <a:t>)</a:t>
            </a: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 </a:t>
            </a:r>
            <a:r>
              <a:rPr lang="en-US" sz="1400" dirty="0">
                <a:latin typeface="Arial" panose="020B0604020202020204" pitchFamily="34" charset="0"/>
                <a:cs typeface="Arial" panose="020B0604020202020204" pitchFamily="34" charset="0"/>
              </a:rPr>
              <a:t>Z001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(Mt Baldy)</a:t>
            </a: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 </a:t>
            </a:r>
            <a:r>
              <a:rPr lang="en-US" sz="1400" dirty="0">
                <a:latin typeface="Arial" panose="020B0604020202020204" pitchFamily="34" charset="0"/>
                <a:cs typeface="Arial" panose="020B0604020202020204" pitchFamily="34" charset="0"/>
              </a:rPr>
              <a:t>(Mt Molloy)</a:t>
            </a: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 </a:t>
            </a:r>
            <a:r>
              <a:rPr lang="en-US" sz="1400" dirty="0">
                <a:latin typeface="Arial" panose="020B0604020202020204" pitchFamily="34" charset="0"/>
                <a:cs typeface="Arial" panose="020B0604020202020204" pitchFamily="34" charset="0"/>
              </a:rPr>
              <a:t>M001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(Lord Howe Island)</a:t>
            </a: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 </a:t>
            </a:r>
            <a:r>
              <a:rPr lang="en-US" sz="1400" dirty="0">
                <a:latin typeface="Arial" panose="020B0604020202020204" pitchFamily="34" charset="0"/>
                <a:cs typeface="Arial" panose="020B0604020202020204" pitchFamily="34" charset="0"/>
              </a:rPr>
              <a:t>(North Manly)</a:t>
            </a: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9533551" y="226381"/>
            <a:ext cx="2021644"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Number of HGT inserts</a:t>
            </a:r>
          </a:p>
        </p:txBody>
      </p:sp>
      <p:sp>
        <p:nvSpPr>
          <p:cNvPr id="113" name="TextBox 112">
            <a:extLst>
              <a:ext uri="{FF2B5EF4-FFF2-40B4-BE49-F238E27FC236}">
                <a16:creationId xmlns:a16="http://schemas.microsoft.com/office/drawing/2014/main" id="{8B4ACE0D-344D-95A1-95D1-F601362B0758}"/>
              </a:ext>
            </a:extLst>
          </p:cNvPr>
          <p:cNvSpPr txBox="1"/>
          <p:nvPr/>
        </p:nvSpPr>
        <p:spPr>
          <a:xfrm>
            <a:off x="202979" y="669612"/>
            <a:ext cx="2764481" cy="156966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Nodes show divergence times (Ma) from Beasley-Hall et al (2021: for nodes internal to top 12 taxa) and Evangelista et al (2019: for nodes internal to remaining 6 taxa). One exception is value between </a:t>
            </a:r>
            <a:r>
              <a:rPr lang="en-US" sz="1200" i="1" dirty="0">
                <a:latin typeface="Arial" panose="020B0604020202020204" pitchFamily="34" charset="0"/>
                <a:cs typeface="Arial" panose="020B0604020202020204" pitchFamily="34" charset="0"/>
              </a:rPr>
              <a:t>P. lata</a:t>
            </a:r>
          </a:p>
          <a:p>
            <a:r>
              <a:rPr lang="en-US" sz="1200" dirty="0">
                <a:latin typeface="Arial" panose="020B0604020202020204" pitchFamily="34" charset="0"/>
                <a:cs typeface="Arial" panose="020B0604020202020204" pitchFamily="34" charset="0"/>
              </a:rPr>
              <a:t>and </a:t>
            </a:r>
            <a:r>
              <a:rPr lang="en-US" sz="1200" i="1" dirty="0">
                <a:latin typeface="Arial" panose="020B0604020202020204" pitchFamily="34" charset="0"/>
                <a:cs typeface="Arial" panose="020B0604020202020204" pitchFamily="34" charset="0"/>
              </a:rPr>
              <a:t>P. cribrata</a:t>
            </a:r>
            <a:r>
              <a:rPr lang="en-US" sz="1200" dirty="0">
                <a:latin typeface="Arial" panose="020B0604020202020204" pitchFamily="34" charset="0"/>
                <a:cs typeface="Arial" panose="020B0604020202020204" pitchFamily="34" charset="0"/>
              </a:rPr>
              <a:t>, which is from Adams et al 2024. </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518565" y="4962481"/>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735087" y="5896332"/>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788875" y="5311574"/>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225717" y="5617493"/>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249207" y="5048861"/>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924853" y="4058527"/>
            <a:ext cx="569387" cy="369332"/>
          </a:xfrm>
          <a:prstGeom prst="rect">
            <a:avLst/>
          </a:prstGeom>
          <a:noFill/>
        </p:spPr>
        <p:txBody>
          <a:bodyPr wrap="none" rtlCol="0">
            <a:spAutoFit/>
          </a:bodyPr>
          <a:lstStyle/>
          <a:p>
            <a:r>
              <a:rPr lang="en-US">
                <a:latin typeface="Arial" panose="020B0604020202020204" pitchFamily="34" charset="0"/>
                <a:cs typeface="Arial" panose="020B0604020202020204" pitchFamily="34" charset="0"/>
              </a:rPr>
              <a:t>145</a:t>
            </a:r>
            <a:endParaRPr lang="en-US" dirty="0">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5D4F1E75-FE1A-B5AE-4A29-EE9E22E56670}"/>
              </a:ext>
            </a:extLst>
          </p:cNvPr>
          <p:cNvSpPr txBox="1"/>
          <p:nvPr/>
        </p:nvSpPr>
        <p:spPr>
          <a:xfrm>
            <a:off x="1240558" y="3625546"/>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704005" y="3071084"/>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167252" y="2468599"/>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3897845" y="2979995"/>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627323" y="1967415"/>
            <a:ext cx="94601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046635" y="1416298"/>
            <a:ext cx="848111"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3903836" y="1948261"/>
            <a:ext cx="914487"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132940" y="1272527"/>
            <a:ext cx="794253"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110248" y="614046"/>
            <a:ext cx="899536"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447118" y="916436"/>
            <a:ext cx="77708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12.73</a:t>
            </a:r>
          </a:p>
        </p:txBody>
      </p:sp>
      <p:sp>
        <p:nvSpPr>
          <p:cNvPr id="131" name="TextBox 130">
            <a:extLst>
              <a:ext uri="{FF2B5EF4-FFF2-40B4-BE49-F238E27FC236}">
                <a16:creationId xmlns:a16="http://schemas.microsoft.com/office/drawing/2014/main" id="{E89EA4DE-2304-269F-C9C2-87D6D5FA8C83}"/>
              </a:ext>
            </a:extLst>
          </p:cNvPr>
          <p:cNvSpPr txBox="1"/>
          <p:nvPr/>
        </p:nvSpPr>
        <p:spPr>
          <a:xfrm>
            <a:off x="310773" y="105804"/>
            <a:ext cx="8975534" cy="461665"/>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Cladogram of taxa </a:t>
            </a:r>
            <a:r>
              <a:rPr lang="en-US" sz="2400" b="1" dirty="0" err="1">
                <a:latin typeface="Arial" panose="020B0604020202020204" pitchFamily="34" charset="0"/>
                <a:cs typeface="Arial" panose="020B0604020202020204" pitchFamily="34" charset="0"/>
              </a:rPr>
              <a:t>analysed</a:t>
            </a:r>
            <a:r>
              <a:rPr lang="en-US" sz="2400" b="1" dirty="0">
                <a:latin typeface="Arial" panose="020B0604020202020204" pitchFamily="34" charset="0"/>
                <a:cs typeface="Arial" panose="020B0604020202020204" pitchFamily="34" charset="0"/>
              </a:rPr>
              <a:t> for </a:t>
            </a:r>
            <a:r>
              <a:rPr lang="en-US" sz="2400" b="1" i="1" dirty="0">
                <a:latin typeface="Arial" panose="020B0604020202020204" pitchFamily="34" charset="0"/>
                <a:cs typeface="Arial" panose="020B0604020202020204" pitchFamily="34" charset="0"/>
              </a:rPr>
              <a:t>Blattabacterium</a:t>
            </a:r>
            <a:r>
              <a:rPr lang="en-US" sz="2400" b="1" dirty="0">
                <a:latin typeface="Arial" panose="020B0604020202020204" pitchFamily="34" charset="0"/>
                <a:cs typeface="Arial" panose="020B0604020202020204" pitchFamily="34" charset="0"/>
              </a:rPr>
              <a:t> HGT events</a:t>
            </a:r>
          </a:p>
        </p:txBody>
      </p:sp>
      <p:sp>
        <p:nvSpPr>
          <p:cNvPr id="2" name="TextBox 1">
            <a:extLst>
              <a:ext uri="{FF2B5EF4-FFF2-40B4-BE49-F238E27FC236}">
                <a16:creationId xmlns:a16="http://schemas.microsoft.com/office/drawing/2014/main" id="{68764550-166B-E5A4-F2E5-A30016FD82E6}"/>
              </a:ext>
            </a:extLst>
          </p:cNvPr>
          <p:cNvSpPr txBox="1"/>
          <p:nvPr/>
        </p:nvSpPr>
        <p:spPr>
          <a:xfrm>
            <a:off x="10364264" y="61404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5037</a:t>
            </a:r>
          </a:p>
        </p:txBody>
      </p:sp>
      <p:sp>
        <p:nvSpPr>
          <p:cNvPr id="3" name="TextBox 2">
            <a:extLst>
              <a:ext uri="{FF2B5EF4-FFF2-40B4-BE49-F238E27FC236}">
                <a16:creationId xmlns:a16="http://schemas.microsoft.com/office/drawing/2014/main" id="{4355DFB3-F47C-F92A-D6E7-835912EB4AB5}"/>
              </a:ext>
            </a:extLst>
          </p:cNvPr>
          <p:cNvSpPr txBox="1"/>
          <p:nvPr/>
        </p:nvSpPr>
        <p:spPr>
          <a:xfrm>
            <a:off x="10364264" y="9550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4252</a:t>
            </a:r>
          </a:p>
        </p:txBody>
      </p:sp>
      <p:sp>
        <p:nvSpPr>
          <p:cNvPr id="4" name="TextBox 3">
            <a:extLst>
              <a:ext uri="{FF2B5EF4-FFF2-40B4-BE49-F238E27FC236}">
                <a16:creationId xmlns:a16="http://schemas.microsoft.com/office/drawing/2014/main" id="{8A310815-8202-F883-DDD1-68D008A082C2}"/>
              </a:ext>
            </a:extLst>
          </p:cNvPr>
          <p:cNvSpPr txBox="1"/>
          <p:nvPr/>
        </p:nvSpPr>
        <p:spPr>
          <a:xfrm>
            <a:off x="10364264" y="129604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3852</a:t>
            </a:r>
          </a:p>
        </p:txBody>
      </p:sp>
      <p:sp>
        <p:nvSpPr>
          <p:cNvPr id="5" name="TextBox 4">
            <a:extLst>
              <a:ext uri="{FF2B5EF4-FFF2-40B4-BE49-F238E27FC236}">
                <a16:creationId xmlns:a16="http://schemas.microsoft.com/office/drawing/2014/main" id="{C6080BCB-E65A-ABC2-0CD5-1DB2C1558CDF}"/>
              </a:ext>
            </a:extLst>
          </p:cNvPr>
          <p:cNvSpPr txBox="1"/>
          <p:nvPr/>
        </p:nvSpPr>
        <p:spPr>
          <a:xfrm>
            <a:off x="10369521" y="163704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3702</a:t>
            </a:r>
          </a:p>
        </p:txBody>
      </p:sp>
      <p:sp>
        <p:nvSpPr>
          <p:cNvPr id="6" name="TextBox 5">
            <a:extLst>
              <a:ext uri="{FF2B5EF4-FFF2-40B4-BE49-F238E27FC236}">
                <a16:creationId xmlns:a16="http://schemas.microsoft.com/office/drawing/2014/main" id="{4008A9A4-0E16-64AB-B929-DFF119DB3382}"/>
              </a:ext>
            </a:extLst>
          </p:cNvPr>
          <p:cNvSpPr txBox="1"/>
          <p:nvPr/>
        </p:nvSpPr>
        <p:spPr>
          <a:xfrm>
            <a:off x="10369521" y="197805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4716</a:t>
            </a:r>
          </a:p>
        </p:txBody>
      </p:sp>
      <p:sp>
        <p:nvSpPr>
          <p:cNvPr id="8" name="TextBox 7">
            <a:extLst>
              <a:ext uri="{FF2B5EF4-FFF2-40B4-BE49-F238E27FC236}">
                <a16:creationId xmlns:a16="http://schemas.microsoft.com/office/drawing/2014/main" id="{39A1408E-19EF-E791-3B84-B5617B71BAFF}"/>
              </a:ext>
            </a:extLst>
          </p:cNvPr>
          <p:cNvSpPr txBox="1"/>
          <p:nvPr/>
        </p:nvSpPr>
        <p:spPr>
          <a:xfrm>
            <a:off x="10369521" y="231905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4086</a:t>
            </a:r>
          </a:p>
        </p:txBody>
      </p:sp>
      <p:sp>
        <p:nvSpPr>
          <p:cNvPr id="9" name="TextBox 8">
            <a:extLst>
              <a:ext uri="{FF2B5EF4-FFF2-40B4-BE49-F238E27FC236}">
                <a16:creationId xmlns:a16="http://schemas.microsoft.com/office/drawing/2014/main" id="{02D5CA33-643F-ECC4-D25E-7F0EA2AEBBC2}"/>
              </a:ext>
            </a:extLst>
          </p:cNvPr>
          <p:cNvSpPr txBox="1"/>
          <p:nvPr/>
        </p:nvSpPr>
        <p:spPr>
          <a:xfrm>
            <a:off x="10380031" y="266005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4396</a:t>
            </a:r>
          </a:p>
        </p:txBody>
      </p:sp>
      <p:sp>
        <p:nvSpPr>
          <p:cNvPr id="11" name="TextBox 10">
            <a:extLst>
              <a:ext uri="{FF2B5EF4-FFF2-40B4-BE49-F238E27FC236}">
                <a16:creationId xmlns:a16="http://schemas.microsoft.com/office/drawing/2014/main" id="{E021EB57-3141-35C9-C4C3-3B4BF946BE22}"/>
              </a:ext>
            </a:extLst>
          </p:cNvPr>
          <p:cNvSpPr txBox="1"/>
          <p:nvPr/>
        </p:nvSpPr>
        <p:spPr>
          <a:xfrm>
            <a:off x="10380031" y="3001053"/>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2964</a:t>
            </a:r>
          </a:p>
        </p:txBody>
      </p:sp>
      <p:sp>
        <p:nvSpPr>
          <p:cNvPr id="16" name="TextBox 15">
            <a:extLst>
              <a:ext uri="{FF2B5EF4-FFF2-40B4-BE49-F238E27FC236}">
                <a16:creationId xmlns:a16="http://schemas.microsoft.com/office/drawing/2014/main" id="{D67027FF-DEB3-B4F8-66B9-C16B533C434C}"/>
              </a:ext>
            </a:extLst>
          </p:cNvPr>
          <p:cNvSpPr txBox="1"/>
          <p:nvPr/>
        </p:nvSpPr>
        <p:spPr>
          <a:xfrm>
            <a:off x="10380031" y="3342054"/>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2797</a:t>
            </a:r>
          </a:p>
        </p:txBody>
      </p:sp>
      <p:sp>
        <p:nvSpPr>
          <p:cNvPr id="29" name="TextBox 28">
            <a:extLst>
              <a:ext uri="{FF2B5EF4-FFF2-40B4-BE49-F238E27FC236}">
                <a16:creationId xmlns:a16="http://schemas.microsoft.com/office/drawing/2014/main" id="{7AB6F2E4-61BD-EB2F-B497-0C1C1DAD77C8}"/>
              </a:ext>
            </a:extLst>
          </p:cNvPr>
          <p:cNvSpPr txBox="1"/>
          <p:nvPr/>
        </p:nvSpPr>
        <p:spPr>
          <a:xfrm>
            <a:off x="10374777" y="3683055"/>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1543</a:t>
            </a:r>
          </a:p>
        </p:txBody>
      </p:sp>
      <p:sp>
        <p:nvSpPr>
          <p:cNvPr id="33" name="TextBox 32">
            <a:extLst>
              <a:ext uri="{FF2B5EF4-FFF2-40B4-BE49-F238E27FC236}">
                <a16:creationId xmlns:a16="http://schemas.microsoft.com/office/drawing/2014/main" id="{78540F7A-759B-9668-82F3-137090497E69}"/>
              </a:ext>
            </a:extLst>
          </p:cNvPr>
          <p:cNvSpPr txBox="1"/>
          <p:nvPr/>
        </p:nvSpPr>
        <p:spPr>
          <a:xfrm>
            <a:off x="10374777" y="402405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1601</a:t>
            </a:r>
          </a:p>
        </p:txBody>
      </p:sp>
      <p:sp>
        <p:nvSpPr>
          <p:cNvPr id="34" name="TextBox 33">
            <a:extLst>
              <a:ext uri="{FF2B5EF4-FFF2-40B4-BE49-F238E27FC236}">
                <a16:creationId xmlns:a16="http://schemas.microsoft.com/office/drawing/2014/main" id="{E0A2A43B-A3C8-475A-7EC5-4035FF4E4DEB}"/>
              </a:ext>
            </a:extLst>
          </p:cNvPr>
          <p:cNvSpPr txBox="1"/>
          <p:nvPr/>
        </p:nvSpPr>
        <p:spPr>
          <a:xfrm>
            <a:off x="10374777" y="436505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532</a:t>
            </a:r>
          </a:p>
        </p:txBody>
      </p:sp>
      <p:sp>
        <p:nvSpPr>
          <p:cNvPr id="41" name="TextBox 40">
            <a:extLst>
              <a:ext uri="{FF2B5EF4-FFF2-40B4-BE49-F238E27FC236}">
                <a16:creationId xmlns:a16="http://schemas.microsoft.com/office/drawing/2014/main" id="{5E7F21F6-25C5-17DE-33FC-A094B06F7BED}"/>
              </a:ext>
            </a:extLst>
          </p:cNvPr>
          <p:cNvSpPr txBox="1"/>
          <p:nvPr/>
        </p:nvSpPr>
        <p:spPr>
          <a:xfrm>
            <a:off x="10369523" y="470605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527–609</a:t>
            </a:r>
          </a:p>
        </p:txBody>
      </p:sp>
      <p:sp>
        <p:nvSpPr>
          <p:cNvPr id="42" name="TextBox 41">
            <a:extLst>
              <a:ext uri="{FF2B5EF4-FFF2-40B4-BE49-F238E27FC236}">
                <a16:creationId xmlns:a16="http://schemas.microsoft.com/office/drawing/2014/main" id="{F317A4F7-715A-4E78-DDF8-75EAB4ED0117}"/>
              </a:ext>
            </a:extLst>
          </p:cNvPr>
          <p:cNvSpPr txBox="1"/>
          <p:nvPr/>
        </p:nvSpPr>
        <p:spPr>
          <a:xfrm>
            <a:off x="10369523" y="504705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10369523" y="538806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10364269" y="572906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10364269" y="6070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10364269" y="6411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106-647</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393762" y="55585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041437" y="3663513"/>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1.81</a:t>
            </a:r>
          </a:p>
        </p:txBody>
      </p:sp>
      <p:cxnSp>
        <p:nvCxnSpPr>
          <p:cNvPr id="65" name="Straight Connector 64">
            <a:extLst>
              <a:ext uri="{FF2B5EF4-FFF2-40B4-BE49-F238E27FC236}">
                <a16:creationId xmlns:a16="http://schemas.microsoft.com/office/drawing/2014/main" id="{0BF97B18-9077-6349-93EF-9C6C224D3524}"/>
              </a:ext>
            </a:extLst>
          </p:cNvPr>
          <p:cNvCxnSpPr/>
          <p:nvPr/>
        </p:nvCxnSpPr>
        <p:spPr>
          <a:xfrm>
            <a:off x="7383252" y="5171960"/>
            <a:ext cx="0" cy="1152000"/>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1C7ED951-012B-C345-90EB-9AEF09A480F2}"/>
              </a:ext>
            </a:extLst>
          </p:cNvPr>
          <p:cNvSpPr txBox="1"/>
          <p:nvPr/>
        </p:nvSpPr>
        <p:spPr>
          <a:xfrm>
            <a:off x="8178838" y="5156368"/>
            <a:ext cx="2314845" cy="1015663"/>
          </a:xfrm>
          <a:prstGeom prst="rect">
            <a:avLst/>
          </a:prstGeom>
          <a:noFill/>
        </p:spPr>
        <p:txBody>
          <a:bodyPr wrap="square" rtlCol="0">
            <a:spAutoFit/>
          </a:bodyPr>
          <a:lstStyle/>
          <a:p>
            <a:r>
              <a:rPr lang="en-US" sz="1200" dirty="0">
                <a:solidFill>
                  <a:srgbClr val="FF0000"/>
                </a:solidFill>
              </a:rPr>
              <a:t>Kyle and Maxim:</a:t>
            </a:r>
          </a:p>
          <a:p>
            <a:r>
              <a:rPr lang="en-US" sz="1200" dirty="0">
                <a:solidFill>
                  <a:srgbClr val="FF0000"/>
                </a:solidFill>
              </a:rPr>
              <a:t>Are these termite numbers </a:t>
            </a:r>
          </a:p>
          <a:p>
            <a:r>
              <a:rPr lang="en-US" sz="1200" dirty="0">
                <a:solidFill>
                  <a:srgbClr val="FF0000"/>
                </a:solidFill>
              </a:rPr>
              <a:t>right? When I did an audit in early 2025 I found none were Blattabacterium?</a:t>
            </a:r>
          </a:p>
        </p:txBody>
      </p:sp>
    </p:spTree>
    <p:extLst>
      <p:ext uri="{BB962C8B-B14F-4D97-AF65-F5344CB8AC3E}">
        <p14:creationId xmlns:p14="http://schemas.microsoft.com/office/powerpoint/2010/main" val="5711742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5D4F1E75-FE1A-B5AE-4A29-EE9E22E56670}"/>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68764550-166B-E5A4-F2E5-A30016FD82E6}"/>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4955</a:t>
            </a:r>
          </a:p>
        </p:txBody>
      </p:sp>
      <p:sp>
        <p:nvSpPr>
          <p:cNvPr id="3" name="TextBox 2">
            <a:extLst>
              <a:ext uri="{FF2B5EF4-FFF2-40B4-BE49-F238E27FC236}">
                <a16:creationId xmlns:a16="http://schemas.microsoft.com/office/drawing/2014/main" id="{4355DFB3-F47C-F92A-D6E7-835912EB4AB5}"/>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4193</a:t>
            </a:r>
          </a:p>
        </p:txBody>
      </p:sp>
      <p:sp>
        <p:nvSpPr>
          <p:cNvPr id="4" name="TextBox 3">
            <a:extLst>
              <a:ext uri="{FF2B5EF4-FFF2-40B4-BE49-F238E27FC236}">
                <a16:creationId xmlns:a16="http://schemas.microsoft.com/office/drawing/2014/main" id="{8A310815-8202-F883-DDD1-68D008A082C2}"/>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3794</a:t>
            </a:r>
          </a:p>
        </p:txBody>
      </p:sp>
      <p:sp>
        <p:nvSpPr>
          <p:cNvPr id="5" name="TextBox 4">
            <a:extLst>
              <a:ext uri="{FF2B5EF4-FFF2-40B4-BE49-F238E27FC236}">
                <a16:creationId xmlns:a16="http://schemas.microsoft.com/office/drawing/2014/main" id="{C6080BCB-E65A-ABC2-0CD5-1DB2C1558CDF}"/>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3673</a:t>
            </a:r>
          </a:p>
        </p:txBody>
      </p:sp>
      <p:sp>
        <p:nvSpPr>
          <p:cNvPr id="6" name="TextBox 5">
            <a:extLst>
              <a:ext uri="{FF2B5EF4-FFF2-40B4-BE49-F238E27FC236}">
                <a16:creationId xmlns:a16="http://schemas.microsoft.com/office/drawing/2014/main" id="{4008A9A4-0E16-64AB-B929-DFF119DB3382}"/>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4619</a:t>
            </a:r>
          </a:p>
        </p:txBody>
      </p:sp>
      <p:sp>
        <p:nvSpPr>
          <p:cNvPr id="8" name="TextBox 7">
            <a:extLst>
              <a:ext uri="{FF2B5EF4-FFF2-40B4-BE49-F238E27FC236}">
                <a16:creationId xmlns:a16="http://schemas.microsoft.com/office/drawing/2014/main" id="{39A1408E-19EF-E791-3B84-B5617B71BAFF}"/>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4031</a:t>
            </a:r>
          </a:p>
        </p:txBody>
      </p:sp>
      <p:sp>
        <p:nvSpPr>
          <p:cNvPr id="9" name="TextBox 8">
            <a:extLst>
              <a:ext uri="{FF2B5EF4-FFF2-40B4-BE49-F238E27FC236}">
                <a16:creationId xmlns:a16="http://schemas.microsoft.com/office/drawing/2014/main" id="{02D5CA33-643F-ECC4-D25E-7F0EA2AEBBC2}"/>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4257</a:t>
            </a:r>
          </a:p>
        </p:txBody>
      </p:sp>
      <p:sp>
        <p:nvSpPr>
          <p:cNvPr id="11" name="TextBox 10">
            <a:extLst>
              <a:ext uri="{FF2B5EF4-FFF2-40B4-BE49-F238E27FC236}">
                <a16:creationId xmlns:a16="http://schemas.microsoft.com/office/drawing/2014/main" id="{E021EB57-3141-35C9-C4C3-3B4BF946BE22}"/>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2920</a:t>
            </a:r>
          </a:p>
        </p:txBody>
      </p:sp>
      <p:sp>
        <p:nvSpPr>
          <p:cNvPr id="16" name="TextBox 15">
            <a:extLst>
              <a:ext uri="{FF2B5EF4-FFF2-40B4-BE49-F238E27FC236}">
                <a16:creationId xmlns:a16="http://schemas.microsoft.com/office/drawing/2014/main" id="{D67027FF-DEB3-B4F8-66B9-C16B533C434C}"/>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2751</a:t>
            </a:r>
          </a:p>
        </p:txBody>
      </p:sp>
      <p:sp>
        <p:nvSpPr>
          <p:cNvPr id="29" name="TextBox 28">
            <a:extLst>
              <a:ext uri="{FF2B5EF4-FFF2-40B4-BE49-F238E27FC236}">
                <a16:creationId xmlns:a16="http://schemas.microsoft.com/office/drawing/2014/main" id="{7AB6F2E4-61BD-EB2F-B497-0C1C1DAD77C8}"/>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1532</a:t>
            </a:r>
          </a:p>
        </p:txBody>
      </p:sp>
      <p:sp>
        <p:nvSpPr>
          <p:cNvPr id="33" name="TextBox 32">
            <a:extLst>
              <a:ext uri="{FF2B5EF4-FFF2-40B4-BE49-F238E27FC236}">
                <a16:creationId xmlns:a16="http://schemas.microsoft.com/office/drawing/2014/main" id="{78540F7A-759B-9668-82F3-137090497E69}"/>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1588</a:t>
            </a:r>
          </a:p>
        </p:txBody>
      </p:sp>
      <p:sp>
        <p:nvSpPr>
          <p:cNvPr id="34" name="TextBox 33">
            <a:extLst>
              <a:ext uri="{FF2B5EF4-FFF2-40B4-BE49-F238E27FC236}">
                <a16:creationId xmlns:a16="http://schemas.microsoft.com/office/drawing/2014/main" id="{E0A2A43B-A3C8-475A-7EC5-4035FF4E4DEB}"/>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511</a:t>
            </a:r>
          </a:p>
        </p:txBody>
      </p:sp>
      <p:sp>
        <p:nvSpPr>
          <p:cNvPr id="41" name="TextBox 40">
            <a:extLst>
              <a:ext uri="{FF2B5EF4-FFF2-40B4-BE49-F238E27FC236}">
                <a16:creationId xmlns:a16="http://schemas.microsoft.com/office/drawing/2014/main" id="{5E7F21F6-25C5-17DE-33FC-A094B06F7BED}"/>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278-285</a:t>
            </a:r>
          </a:p>
        </p:txBody>
      </p:sp>
      <p:sp>
        <p:nvSpPr>
          <p:cNvPr id="42" name="TextBox 41">
            <a:extLst>
              <a:ext uri="{FF2B5EF4-FFF2-40B4-BE49-F238E27FC236}">
                <a16:creationId xmlns:a16="http://schemas.microsoft.com/office/drawing/2014/main" id="{F317A4F7-715A-4E78-DDF8-75EAB4ED0117}"/>
              </a:ext>
            </a:extLst>
          </p:cNvPr>
          <p:cNvSpPr txBox="1"/>
          <p:nvPr/>
        </p:nvSpPr>
        <p:spPr>
          <a:xfrm>
            <a:off x="8860076"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8789509" y="6066276"/>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101-658</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B2AA615D-7AB6-394F-A7B7-639DCB2479A1}"/>
              </a:ext>
            </a:extLst>
          </p:cNvPr>
          <p:cNvSpPr txBox="1"/>
          <p:nvPr/>
        </p:nvSpPr>
        <p:spPr>
          <a:xfrm>
            <a:off x="209193" y="-347835"/>
            <a:ext cx="936667" cy="369332"/>
          </a:xfrm>
          <a:prstGeom prst="rect">
            <a:avLst/>
          </a:prstGeom>
          <a:noFill/>
        </p:spPr>
        <p:txBody>
          <a:bodyPr wrap="none" rtlCol="0">
            <a:spAutoFit/>
          </a:bodyPr>
          <a:lstStyle/>
          <a:p>
            <a:r>
              <a:rPr lang="en-US" b="1" dirty="0"/>
              <a:t>Figure 1</a:t>
            </a:r>
          </a:p>
        </p:txBody>
      </p:sp>
      <p:sp>
        <p:nvSpPr>
          <p:cNvPr id="66" name="TextBox 65">
            <a:extLst>
              <a:ext uri="{FF2B5EF4-FFF2-40B4-BE49-F238E27FC236}">
                <a16:creationId xmlns:a16="http://schemas.microsoft.com/office/drawing/2014/main" id="{679B2978-4A87-E13A-70C6-5CF84B24F0DE}"/>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BC0446A1-4C9F-9525-486D-62ABEDAA9494}"/>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891E2091-3360-F3E6-970A-FDCB784E7A77}"/>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4900</a:t>
            </a:r>
          </a:p>
        </p:txBody>
      </p:sp>
      <p:sp>
        <p:nvSpPr>
          <p:cNvPr id="83" name="TextBox 82">
            <a:extLst>
              <a:ext uri="{FF2B5EF4-FFF2-40B4-BE49-F238E27FC236}">
                <a16:creationId xmlns:a16="http://schemas.microsoft.com/office/drawing/2014/main" id="{CE31F258-6372-C6EC-2F15-C261DE0FF40A}"/>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4117</a:t>
            </a:r>
          </a:p>
        </p:txBody>
      </p:sp>
      <p:sp>
        <p:nvSpPr>
          <p:cNvPr id="84" name="TextBox 83">
            <a:extLst>
              <a:ext uri="{FF2B5EF4-FFF2-40B4-BE49-F238E27FC236}">
                <a16:creationId xmlns:a16="http://schemas.microsoft.com/office/drawing/2014/main" id="{13DD459D-A9C9-F07C-FAF9-0B93E6D0A4E4}"/>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3766</a:t>
            </a:r>
          </a:p>
        </p:txBody>
      </p:sp>
      <p:sp>
        <p:nvSpPr>
          <p:cNvPr id="86" name="TextBox 85">
            <a:extLst>
              <a:ext uri="{FF2B5EF4-FFF2-40B4-BE49-F238E27FC236}">
                <a16:creationId xmlns:a16="http://schemas.microsoft.com/office/drawing/2014/main" id="{926C908A-7574-C669-8A23-A93AF995A83D}"/>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3637</a:t>
            </a:r>
          </a:p>
        </p:txBody>
      </p:sp>
      <p:sp>
        <p:nvSpPr>
          <p:cNvPr id="93" name="TextBox 92">
            <a:extLst>
              <a:ext uri="{FF2B5EF4-FFF2-40B4-BE49-F238E27FC236}">
                <a16:creationId xmlns:a16="http://schemas.microsoft.com/office/drawing/2014/main" id="{C73E358D-3FC0-0CFD-F342-E7256759D513}"/>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4561</a:t>
            </a:r>
          </a:p>
        </p:txBody>
      </p:sp>
      <p:sp>
        <p:nvSpPr>
          <p:cNvPr id="97" name="TextBox 96">
            <a:extLst>
              <a:ext uri="{FF2B5EF4-FFF2-40B4-BE49-F238E27FC236}">
                <a16:creationId xmlns:a16="http://schemas.microsoft.com/office/drawing/2014/main" id="{C5578FBB-5963-EC3E-4CF9-6E92EB441321}"/>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3926</a:t>
            </a:r>
          </a:p>
        </p:txBody>
      </p:sp>
      <p:sp>
        <p:nvSpPr>
          <p:cNvPr id="98" name="TextBox 97">
            <a:extLst>
              <a:ext uri="{FF2B5EF4-FFF2-40B4-BE49-F238E27FC236}">
                <a16:creationId xmlns:a16="http://schemas.microsoft.com/office/drawing/2014/main" id="{BF51C63F-1EEC-003B-79C0-F7A7B84C39DB}"/>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4226</a:t>
            </a:r>
          </a:p>
        </p:txBody>
      </p:sp>
      <p:sp>
        <p:nvSpPr>
          <p:cNvPr id="101" name="TextBox 100">
            <a:extLst>
              <a:ext uri="{FF2B5EF4-FFF2-40B4-BE49-F238E27FC236}">
                <a16:creationId xmlns:a16="http://schemas.microsoft.com/office/drawing/2014/main" id="{778484D5-ABDF-240E-DAAD-5EAACD89DF10}"/>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2845</a:t>
            </a:r>
          </a:p>
        </p:txBody>
      </p:sp>
      <p:sp>
        <p:nvSpPr>
          <p:cNvPr id="103" name="TextBox 102">
            <a:extLst>
              <a:ext uri="{FF2B5EF4-FFF2-40B4-BE49-F238E27FC236}">
                <a16:creationId xmlns:a16="http://schemas.microsoft.com/office/drawing/2014/main" id="{BF0CA5AB-7099-E965-C899-2004E76050F5}"/>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2705</a:t>
            </a:r>
          </a:p>
        </p:txBody>
      </p:sp>
      <p:sp>
        <p:nvSpPr>
          <p:cNvPr id="104" name="TextBox 103">
            <a:extLst>
              <a:ext uri="{FF2B5EF4-FFF2-40B4-BE49-F238E27FC236}">
                <a16:creationId xmlns:a16="http://schemas.microsoft.com/office/drawing/2014/main" id="{CA1536B8-E4EC-E253-D1EC-74A295E5F9CE}"/>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1499</a:t>
            </a:r>
          </a:p>
        </p:txBody>
      </p:sp>
      <p:sp>
        <p:nvSpPr>
          <p:cNvPr id="105" name="TextBox 104">
            <a:extLst>
              <a:ext uri="{FF2B5EF4-FFF2-40B4-BE49-F238E27FC236}">
                <a16:creationId xmlns:a16="http://schemas.microsoft.com/office/drawing/2014/main" id="{6602CE50-EAB2-5491-8447-C83EBD11A2FB}"/>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1575</a:t>
            </a:r>
          </a:p>
        </p:txBody>
      </p:sp>
      <p:sp>
        <p:nvSpPr>
          <p:cNvPr id="106" name="TextBox 105">
            <a:extLst>
              <a:ext uri="{FF2B5EF4-FFF2-40B4-BE49-F238E27FC236}">
                <a16:creationId xmlns:a16="http://schemas.microsoft.com/office/drawing/2014/main" id="{E7D102AA-872A-26EC-FA11-029089DAAD9E}"/>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506</a:t>
            </a:r>
          </a:p>
        </p:txBody>
      </p:sp>
      <p:sp>
        <p:nvSpPr>
          <p:cNvPr id="109" name="TextBox 108">
            <a:extLst>
              <a:ext uri="{FF2B5EF4-FFF2-40B4-BE49-F238E27FC236}">
                <a16:creationId xmlns:a16="http://schemas.microsoft.com/office/drawing/2014/main" id="{7F563DE4-7687-28E8-B53E-377BCB5A65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277-280</a:t>
            </a:r>
          </a:p>
        </p:txBody>
      </p:sp>
      <p:sp>
        <p:nvSpPr>
          <p:cNvPr id="110" name="TextBox 109">
            <a:extLst>
              <a:ext uri="{FF2B5EF4-FFF2-40B4-BE49-F238E27FC236}">
                <a16:creationId xmlns:a16="http://schemas.microsoft.com/office/drawing/2014/main" id="{F476B617-0D7D-486E-0FF1-3CA69FC4AADC}"/>
              </a:ext>
            </a:extLst>
          </p:cNvPr>
          <p:cNvSpPr txBox="1"/>
          <p:nvPr/>
        </p:nvSpPr>
        <p:spPr>
          <a:xfrm>
            <a:off x="9703289"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13" name="TextBox 112">
            <a:extLst>
              <a:ext uri="{FF2B5EF4-FFF2-40B4-BE49-F238E27FC236}">
                <a16:creationId xmlns:a16="http://schemas.microsoft.com/office/drawing/2014/main" id="{44C1AE19-C43E-E915-34A9-3FAE316A8AD3}"/>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1" name="TextBox 130">
            <a:extLst>
              <a:ext uri="{FF2B5EF4-FFF2-40B4-BE49-F238E27FC236}">
                <a16:creationId xmlns:a16="http://schemas.microsoft.com/office/drawing/2014/main" id="{6A256967-B1FF-974D-E8E9-17A2CF86134A}"/>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3" name="TextBox 132">
            <a:extLst>
              <a:ext uri="{FF2B5EF4-FFF2-40B4-BE49-F238E27FC236}">
                <a16:creationId xmlns:a16="http://schemas.microsoft.com/office/drawing/2014/main" id="{0C6EA70B-DFC0-A880-691A-44CCD7983927}"/>
              </a:ext>
            </a:extLst>
          </p:cNvPr>
          <p:cNvSpPr txBox="1"/>
          <p:nvPr/>
        </p:nvSpPr>
        <p:spPr>
          <a:xfrm>
            <a:off x="9643608"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134" name="TextBox 133">
            <a:extLst>
              <a:ext uri="{FF2B5EF4-FFF2-40B4-BE49-F238E27FC236}">
                <a16:creationId xmlns:a16="http://schemas.microsoft.com/office/drawing/2014/main" id="{9903417F-55C4-2278-1033-B6C7FDACFFA9}"/>
              </a:ext>
            </a:extLst>
          </p:cNvPr>
          <p:cNvSpPr txBox="1"/>
          <p:nvPr/>
        </p:nvSpPr>
        <p:spPr>
          <a:xfrm>
            <a:off x="9480318"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93-644</a:t>
            </a:r>
          </a:p>
        </p:txBody>
      </p:sp>
      <p:cxnSp>
        <p:nvCxnSpPr>
          <p:cNvPr id="136" name="Straight Connector 135">
            <a:extLst>
              <a:ext uri="{FF2B5EF4-FFF2-40B4-BE49-F238E27FC236}">
                <a16:creationId xmlns:a16="http://schemas.microsoft.com/office/drawing/2014/main" id="{A47BAC27-4633-CCDD-D8ED-7A056CA7F0C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016532C-629E-5AD1-CBE3-1CA9425AE050}"/>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586EB141-1A3E-CE41-F73F-7D4084A01F71}"/>
              </a:ext>
            </a:extLst>
          </p:cNvPr>
          <p:cNvCxnSpPr/>
          <p:nvPr/>
        </p:nvCxnSpPr>
        <p:spPr>
          <a:xfrm>
            <a:off x="7184393"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AFD0A89D-76AB-577D-D503-E09CA4BC7245}"/>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BFF4A8BE-27EA-5F5E-2407-C4FAE950FD39}"/>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07717904-8B2E-6E2B-4788-18FA794E6D34}"/>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D73B2FEE-6517-FC27-5497-5DF42F4B4BB5}"/>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5083A4DD-77CF-2F51-536C-1B54774824D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3E0CFA2C-E1F4-A1F7-8F3E-A2CE405AB172}"/>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8FF5975B-BE45-DC27-BDD8-D729D298F300}"/>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DD51CDCF-BED2-5AE8-B297-080E2F76C9EF}"/>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BF85C512-1FED-A555-A8F2-3A71F6CDA42F}"/>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F4A51CA4-CD01-EF00-5A39-9DC6E6A03213}"/>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C217FF9A-6E7E-DAE1-7DDD-B06111C39B4F}"/>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A51874E9-A5D6-0102-3E09-68C038FCA432}"/>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69F13F4-E857-45EE-DCF4-BBC199A1A343}"/>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1A56A286-C003-61DD-05DA-356D548B5266}"/>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BF6B8045-D823-28C4-EC53-2E531E9E297A}"/>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037483FA-3B88-B7AD-D1C4-48A157BA61BF}"/>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172570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D0B2C-8997-3B77-D0B7-90194BFA25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3A08DC-4E7C-ACEA-DA40-79967C6D60F8}"/>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E61C15C-82B5-2E78-31DF-44822DA663D1}"/>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C528889B-98CA-AFA7-A53B-3203E07C09B7}"/>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74F3BDC3-F633-D58E-B70D-EF577AE84AEF}"/>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CB949F2-1381-3A14-3019-79CDCF5C5F07}"/>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70FED22D-A9DF-17E8-8B9B-7560C48FCBBE}"/>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897C47FE-0E36-A0F1-6550-3596011E069C}"/>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A5625E3F-004A-D57C-21E7-88E8BD591F2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BDEDAF99-4224-2760-059D-9DFBD97ED5FB}"/>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9E369BB4-1A07-64BE-D6B0-116521B77B35}"/>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F748A0E-1E47-0A80-FF4D-4FBDED16716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737AF6C3-7298-0FBB-4AA5-8C2BEE3FB73B}"/>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E5F6BC6F-E221-7CFF-97DF-9684A33A8A28}"/>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E90BD170-C903-28D4-D5B3-1B16AB98C4B6}"/>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8984C961-DE3F-B544-255C-1297A3FFA4D6}"/>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03ECD054-15C5-5A85-83C3-06246CAC851B}"/>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EF7292-6BF8-C5DE-0A47-396728D0E00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3B106A1F-EB75-5B97-C19B-82161FA148C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5B4488F3-4B61-0DC8-B3BD-4AE9DFBF5431}"/>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C10F5F3B-0A98-0BB0-81E9-CCF66F290560}"/>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6158331-4A06-7029-8493-7B3F837D6B26}"/>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51AC26C-3CFD-237B-C98E-4DB794E17DBE}"/>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C3A23B2-A54A-56F3-EE1F-CF0DC562B1ED}"/>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92DEDE-D7ED-CF9B-BF99-9B3975C0FFC6}"/>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4F0CB45-CFBC-14B1-499B-C26B1632B145}"/>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15DB561-27DD-F427-43E8-4EBBAA63F639}"/>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06B9502-BAAC-085A-3BD1-B2D1C806E4ED}"/>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A23621A-3D71-65D9-621B-59BB0E79193C}"/>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4438DA0-BFB5-8BA8-CED5-BF85C04153B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BD84C9BE-8B9D-030F-BB51-09462B3033F9}"/>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AC654AD-C5AC-97A3-C714-A34A5AB6EDA6}"/>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B175F652-FAF3-025C-A4D5-7A9E7EB14086}"/>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49528B7-64EB-6C38-EA7F-865C8E913892}"/>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24DA60D0-0E41-682F-7200-63B37DE41331}"/>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03C978D8-034C-4EEE-D83F-66E281B77DDE}"/>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FD884E1-058D-2A8B-2229-0A05D6AC49F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25B1F79-3192-FA19-9955-3C8CF02BD641}"/>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B2130E16-C93C-E23E-AE85-8ABE80B43C2A}"/>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05A4A48-A68A-203D-8F6F-CCD9D673FE5B}"/>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B81BBBC6-B308-A423-B396-3B1986F3726A}"/>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A5309B1-3A31-A6CC-4F73-41AF20F7703C}"/>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73BFA7E-E807-32DF-6366-02B244FF19EE}"/>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63815ED-7DE3-F882-6BF9-019D0D3CB1FB}"/>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3FA3B94-6669-767F-E862-1B9BA339304C}"/>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9D760D4-E829-BBB1-849C-291465CB01A3}"/>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8F1B0A73-D14B-4786-9545-919CF8ECCE2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2EAB146-2743-BD67-0601-35B1C289273E}"/>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6D27D36-A52B-A441-72CD-0B093F547EC4}"/>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5AD00B48-0462-3621-C1D6-C14D94D7F0BB}"/>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921FA90-82FF-DB66-E822-32FE09F641F6}"/>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55D08AC-51B9-D6AF-1AC9-3F5B4DFE5BEC}"/>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09BCFD4A-DF6D-2806-6E34-B8CB4B8A4322}"/>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6F91D525-CB91-96E0-245B-EEA55D95222E}"/>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20920C8F-41F8-F428-DCF4-3A2CE07312D6}"/>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A18C39BF-4D33-B1D2-4DF1-DCA4D8F01A76}"/>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159CC616-39DD-F14B-2EDA-291E86106F62}"/>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C464B5E-BC35-1D1C-1055-BD75520AAD9E}"/>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21DD6ED-B922-F381-DCF5-46163CEFDB7F}"/>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0103F4B0-32F0-8B9B-C51A-A56CA7DE0BBA}"/>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42901C0E-5E02-8AD8-AD33-AF0CCC254E5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025A093-DF4F-11D6-5A6D-6B3B5D249C00}"/>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BB6644B7-0A8A-B943-B93A-ED664547C334}"/>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6CC24827-C025-2F67-0A3E-9AE71150A28A}"/>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744BCF0-5F50-28C2-06C9-ECBBCB6BCA70}"/>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7D3CC6F8-8581-17C6-4FE9-70433E021743}"/>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60B05CB1-F4DD-6B3E-96FA-8FCE6378742E}"/>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7020005B-6060-6A76-A3AA-1F4F78142F7E}"/>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BDA5D379-F589-1FF5-44C6-4CC9473F6672}"/>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14098E2-7441-DEF4-959E-999523F0A1C2}"/>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620F5B74-0512-BA2E-0B4A-022F23AED86C}"/>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5DA3C87C-30CA-30A5-AD1B-42671EE8F956}"/>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06A41598-4DE9-BCC5-7996-C1EA35B5115A}"/>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2C377B3B-1486-C6E1-2762-CF7B96AADD8C}"/>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ADCEB178-20CD-979F-C8B3-B6DAAC2A7F70}"/>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DCD7299A-83E7-9EC1-039F-F8D87C3A735B}"/>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77DAD88A-3945-3B4C-CE76-CFA2E8F27CCB}"/>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9986365D-9BB7-99CE-7C36-D4E5CB5CDDBA}"/>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91C8A452-6953-C976-D23F-7FEE68B2874E}"/>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5551D6EB-5E4F-3BB3-7945-BADF6D168600}"/>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69CA28E2-F05F-C168-B711-140B7207D47B}"/>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67FE8861-D637-4CAC-231C-715F721C0214}"/>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8E914DC1-26A1-9A8E-3083-5FCA879463F8}"/>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7E855081-11AA-6EBF-E182-E48283702CFD}"/>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B9E94D1F-F901-9C42-78CE-2ACADC75CA90}"/>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FBBFC1CE-CBE9-0603-03FF-CD078D33FD0F}"/>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EFC1B69B-D697-891C-9039-59CA356E3EB0}"/>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870F93D2-7387-C417-90DA-B3A88F0F8C84}"/>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1F9D314B-082E-E091-22F0-B57DCFA77304}"/>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5841</a:t>
            </a:r>
          </a:p>
        </p:txBody>
      </p:sp>
      <p:sp>
        <p:nvSpPr>
          <p:cNvPr id="3" name="TextBox 2">
            <a:extLst>
              <a:ext uri="{FF2B5EF4-FFF2-40B4-BE49-F238E27FC236}">
                <a16:creationId xmlns:a16="http://schemas.microsoft.com/office/drawing/2014/main" id="{124FA31C-64D4-FD5D-26BF-F783E8893DDF}"/>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4865</a:t>
            </a:r>
          </a:p>
        </p:txBody>
      </p:sp>
      <p:sp>
        <p:nvSpPr>
          <p:cNvPr id="4" name="TextBox 3">
            <a:extLst>
              <a:ext uri="{FF2B5EF4-FFF2-40B4-BE49-F238E27FC236}">
                <a16:creationId xmlns:a16="http://schemas.microsoft.com/office/drawing/2014/main" id="{F10AAD48-4FDB-59DB-CFDF-B93F3DEFECBE}"/>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4378</a:t>
            </a:r>
          </a:p>
        </p:txBody>
      </p:sp>
      <p:sp>
        <p:nvSpPr>
          <p:cNvPr id="5" name="TextBox 4">
            <a:extLst>
              <a:ext uri="{FF2B5EF4-FFF2-40B4-BE49-F238E27FC236}">
                <a16:creationId xmlns:a16="http://schemas.microsoft.com/office/drawing/2014/main" id="{68AD3BC0-9B57-917C-9AA4-CA2FEA1B9257}"/>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4248</a:t>
            </a:r>
          </a:p>
        </p:txBody>
      </p:sp>
      <p:sp>
        <p:nvSpPr>
          <p:cNvPr id="6" name="TextBox 5">
            <a:extLst>
              <a:ext uri="{FF2B5EF4-FFF2-40B4-BE49-F238E27FC236}">
                <a16:creationId xmlns:a16="http://schemas.microsoft.com/office/drawing/2014/main" id="{6AFBEC49-6A8A-D8BF-CA1B-13B700AF343C}"/>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5389</a:t>
            </a:r>
          </a:p>
        </p:txBody>
      </p:sp>
      <p:sp>
        <p:nvSpPr>
          <p:cNvPr id="8" name="TextBox 7">
            <a:extLst>
              <a:ext uri="{FF2B5EF4-FFF2-40B4-BE49-F238E27FC236}">
                <a16:creationId xmlns:a16="http://schemas.microsoft.com/office/drawing/2014/main" id="{599B3691-7932-62D0-CBB7-76C84D294C87}"/>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4621</a:t>
            </a:r>
          </a:p>
        </p:txBody>
      </p:sp>
      <p:sp>
        <p:nvSpPr>
          <p:cNvPr id="9" name="TextBox 8">
            <a:extLst>
              <a:ext uri="{FF2B5EF4-FFF2-40B4-BE49-F238E27FC236}">
                <a16:creationId xmlns:a16="http://schemas.microsoft.com/office/drawing/2014/main" id="{31C2B23F-9B2A-AE53-C554-D2750BAB6420}"/>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4822</a:t>
            </a:r>
          </a:p>
        </p:txBody>
      </p:sp>
      <p:sp>
        <p:nvSpPr>
          <p:cNvPr id="11" name="TextBox 10">
            <a:extLst>
              <a:ext uri="{FF2B5EF4-FFF2-40B4-BE49-F238E27FC236}">
                <a16:creationId xmlns:a16="http://schemas.microsoft.com/office/drawing/2014/main" id="{4332AC24-47B7-86A7-9200-9E39EFA1FD41}"/>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3414</a:t>
            </a:r>
          </a:p>
        </p:txBody>
      </p:sp>
      <p:sp>
        <p:nvSpPr>
          <p:cNvPr id="16" name="TextBox 15">
            <a:extLst>
              <a:ext uri="{FF2B5EF4-FFF2-40B4-BE49-F238E27FC236}">
                <a16:creationId xmlns:a16="http://schemas.microsoft.com/office/drawing/2014/main" id="{C3A19AB5-7B1F-D0F9-65A0-9740489833AB}"/>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3120</a:t>
            </a:r>
          </a:p>
        </p:txBody>
      </p:sp>
      <p:sp>
        <p:nvSpPr>
          <p:cNvPr id="29" name="TextBox 28">
            <a:extLst>
              <a:ext uri="{FF2B5EF4-FFF2-40B4-BE49-F238E27FC236}">
                <a16:creationId xmlns:a16="http://schemas.microsoft.com/office/drawing/2014/main" id="{00256631-0F7E-CEB5-02AA-A97746A50BA3}"/>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1814</a:t>
            </a:r>
          </a:p>
        </p:txBody>
      </p:sp>
      <p:sp>
        <p:nvSpPr>
          <p:cNvPr id="33" name="TextBox 32">
            <a:extLst>
              <a:ext uri="{FF2B5EF4-FFF2-40B4-BE49-F238E27FC236}">
                <a16:creationId xmlns:a16="http://schemas.microsoft.com/office/drawing/2014/main" id="{88840D15-C89C-EFB0-6FDE-6B7115BF15EA}"/>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1849</a:t>
            </a:r>
          </a:p>
        </p:txBody>
      </p:sp>
      <p:sp>
        <p:nvSpPr>
          <p:cNvPr id="34" name="TextBox 33">
            <a:extLst>
              <a:ext uri="{FF2B5EF4-FFF2-40B4-BE49-F238E27FC236}">
                <a16:creationId xmlns:a16="http://schemas.microsoft.com/office/drawing/2014/main" id="{B48A0F5A-0B18-864D-C7DC-BE3604B93132}"/>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875</a:t>
            </a:r>
          </a:p>
        </p:txBody>
      </p:sp>
      <p:sp>
        <p:nvSpPr>
          <p:cNvPr id="41" name="TextBox 40">
            <a:extLst>
              <a:ext uri="{FF2B5EF4-FFF2-40B4-BE49-F238E27FC236}">
                <a16:creationId xmlns:a16="http://schemas.microsoft.com/office/drawing/2014/main" id="{2F74B669-8B9F-6FBB-6859-3D62C1FBFA6C}"/>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246-840</a:t>
            </a:r>
          </a:p>
        </p:txBody>
      </p:sp>
      <p:sp>
        <p:nvSpPr>
          <p:cNvPr id="42" name="TextBox 41">
            <a:extLst>
              <a:ext uri="{FF2B5EF4-FFF2-40B4-BE49-F238E27FC236}">
                <a16:creationId xmlns:a16="http://schemas.microsoft.com/office/drawing/2014/main" id="{352B9156-F2A7-3575-A129-2733BF524FD3}"/>
              </a:ext>
            </a:extLst>
          </p:cNvPr>
          <p:cNvSpPr txBox="1"/>
          <p:nvPr/>
        </p:nvSpPr>
        <p:spPr>
          <a:xfrm>
            <a:off x="8832644"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49" name="TextBox 48">
            <a:extLst>
              <a:ext uri="{FF2B5EF4-FFF2-40B4-BE49-F238E27FC236}">
                <a16:creationId xmlns:a16="http://schemas.microsoft.com/office/drawing/2014/main" id="{390C6842-CC76-0021-FA48-F53BBD464EB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50" name="TextBox 49">
            <a:extLst>
              <a:ext uri="{FF2B5EF4-FFF2-40B4-BE49-F238E27FC236}">
                <a16:creationId xmlns:a16="http://schemas.microsoft.com/office/drawing/2014/main" id="{27AD9F64-CC2A-8E94-A36B-6CD37B4A5096}"/>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54" name="TextBox 53">
            <a:extLst>
              <a:ext uri="{FF2B5EF4-FFF2-40B4-BE49-F238E27FC236}">
                <a16:creationId xmlns:a16="http://schemas.microsoft.com/office/drawing/2014/main" id="{7A1928D2-C704-7A73-0C0F-5E25AC63193A}"/>
              </a:ext>
            </a:extLst>
          </p:cNvPr>
          <p:cNvSpPr txBox="1"/>
          <p:nvPr/>
        </p:nvSpPr>
        <p:spPr>
          <a:xfrm>
            <a:off x="8771221" y="6047988"/>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2-50</a:t>
            </a:r>
          </a:p>
        </p:txBody>
      </p:sp>
      <p:sp>
        <p:nvSpPr>
          <p:cNvPr id="55" name="TextBox 54">
            <a:extLst>
              <a:ext uri="{FF2B5EF4-FFF2-40B4-BE49-F238E27FC236}">
                <a16:creationId xmlns:a16="http://schemas.microsoft.com/office/drawing/2014/main" id="{378A4214-8176-16E7-62DC-F35ABFC597D4}"/>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543-555</a:t>
            </a:r>
          </a:p>
        </p:txBody>
      </p:sp>
      <p:sp>
        <p:nvSpPr>
          <p:cNvPr id="60" name="TextBox 59">
            <a:extLst>
              <a:ext uri="{FF2B5EF4-FFF2-40B4-BE49-F238E27FC236}">
                <a16:creationId xmlns:a16="http://schemas.microsoft.com/office/drawing/2014/main" id="{1D7F4047-72F2-5314-2087-46A1ECF407B6}"/>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E8085B42-C68B-2921-0792-17594AE253E8}"/>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32B094EC-6E5F-2A80-7843-BE26F1F22371}"/>
              </a:ext>
            </a:extLst>
          </p:cNvPr>
          <p:cNvSpPr txBox="1"/>
          <p:nvPr/>
        </p:nvSpPr>
        <p:spPr>
          <a:xfrm>
            <a:off x="209193" y="-347835"/>
            <a:ext cx="3238259" cy="369332"/>
          </a:xfrm>
          <a:prstGeom prst="rect">
            <a:avLst/>
          </a:prstGeom>
          <a:noFill/>
        </p:spPr>
        <p:txBody>
          <a:bodyPr wrap="none" rtlCol="0">
            <a:spAutoFit/>
          </a:bodyPr>
          <a:lstStyle/>
          <a:p>
            <a:r>
              <a:rPr lang="en-US" b="1" dirty="0"/>
              <a:t>Figure SX – alternative filtering</a:t>
            </a:r>
          </a:p>
        </p:txBody>
      </p:sp>
      <p:sp>
        <p:nvSpPr>
          <p:cNvPr id="66" name="TextBox 65">
            <a:extLst>
              <a:ext uri="{FF2B5EF4-FFF2-40B4-BE49-F238E27FC236}">
                <a16:creationId xmlns:a16="http://schemas.microsoft.com/office/drawing/2014/main" id="{48752220-E5B7-D1B1-C4D7-DCDD63773EE0}"/>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EAD38E62-AB82-743F-69AA-FA0C466DD926}"/>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63F6CC6B-8902-F730-AED1-F0CB0B4EF094}"/>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5669</a:t>
            </a:r>
          </a:p>
        </p:txBody>
      </p:sp>
      <p:sp>
        <p:nvSpPr>
          <p:cNvPr id="83" name="TextBox 82">
            <a:extLst>
              <a:ext uri="{FF2B5EF4-FFF2-40B4-BE49-F238E27FC236}">
                <a16:creationId xmlns:a16="http://schemas.microsoft.com/office/drawing/2014/main" id="{9354EA0E-FF4C-2020-0CC7-3ACD366AAB53}"/>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4680</a:t>
            </a:r>
          </a:p>
        </p:txBody>
      </p:sp>
      <p:sp>
        <p:nvSpPr>
          <p:cNvPr id="84" name="TextBox 83">
            <a:extLst>
              <a:ext uri="{FF2B5EF4-FFF2-40B4-BE49-F238E27FC236}">
                <a16:creationId xmlns:a16="http://schemas.microsoft.com/office/drawing/2014/main" id="{EB479EBB-8BE9-D121-68D7-2B99EB90C589}"/>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4261</a:t>
            </a:r>
          </a:p>
        </p:txBody>
      </p:sp>
      <p:sp>
        <p:nvSpPr>
          <p:cNvPr id="86" name="TextBox 85">
            <a:extLst>
              <a:ext uri="{FF2B5EF4-FFF2-40B4-BE49-F238E27FC236}">
                <a16:creationId xmlns:a16="http://schemas.microsoft.com/office/drawing/2014/main" id="{5B02A2B9-2952-ABDB-BE75-A693B2C8008C}"/>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4132</a:t>
            </a:r>
          </a:p>
        </p:txBody>
      </p:sp>
      <p:sp>
        <p:nvSpPr>
          <p:cNvPr id="93" name="TextBox 92">
            <a:extLst>
              <a:ext uri="{FF2B5EF4-FFF2-40B4-BE49-F238E27FC236}">
                <a16:creationId xmlns:a16="http://schemas.microsoft.com/office/drawing/2014/main" id="{51E4E6C4-DB13-8F4E-5258-8E2121056A2E}"/>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5260</a:t>
            </a:r>
          </a:p>
        </p:txBody>
      </p:sp>
      <p:sp>
        <p:nvSpPr>
          <p:cNvPr id="97" name="TextBox 96">
            <a:extLst>
              <a:ext uri="{FF2B5EF4-FFF2-40B4-BE49-F238E27FC236}">
                <a16:creationId xmlns:a16="http://schemas.microsoft.com/office/drawing/2014/main" id="{46D46E44-766A-74FB-F425-944B1E10E1C4}"/>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4492</a:t>
            </a:r>
          </a:p>
        </p:txBody>
      </p:sp>
      <p:sp>
        <p:nvSpPr>
          <p:cNvPr id="98" name="TextBox 97">
            <a:extLst>
              <a:ext uri="{FF2B5EF4-FFF2-40B4-BE49-F238E27FC236}">
                <a16:creationId xmlns:a16="http://schemas.microsoft.com/office/drawing/2014/main" id="{D59F3520-8148-0E72-FFF9-C39DB1CC4083}"/>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4690</a:t>
            </a:r>
          </a:p>
        </p:txBody>
      </p:sp>
      <p:sp>
        <p:nvSpPr>
          <p:cNvPr id="101" name="TextBox 100">
            <a:extLst>
              <a:ext uri="{FF2B5EF4-FFF2-40B4-BE49-F238E27FC236}">
                <a16:creationId xmlns:a16="http://schemas.microsoft.com/office/drawing/2014/main" id="{2127453A-1048-2C9D-1BE3-ABC273B9B834}"/>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3283</a:t>
            </a:r>
          </a:p>
        </p:txBody>
      </p:sp>
      <p:sp>
        <p:nvSpPr>
          <p:cNvPr id="103" name="TextBox 102">
            <a:extLst>
              <a:ext uri="{FF2B5EF4-FFF2-40B4-BE49-F238E27FC236}">
                <a16:creationId xmlns:a16="http://schemas.microsoft.com/office/drawing/2014/main" id="{6D5A5448-E979-2647-A646-68F256A8A4B9}"/>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3056</a:t>
            </a:r>
          </a:p>
        </p:txBody>
      </p:sp>
      <p:sp>
        <p:nvSpPr>
          <p:cNvPr id="104" name="TextBox 103">
            <a:extLst>
              <a:ext uri="{FF2B5EF4-FFF2-40B4-BE49-F238E27FC236}">
                <a16:creationId xmlns:a16="http://schemas.microsoft.com/office/drawing/2014/main" id="{15BDFC37-AA27-221B-5AD8-B9A763FC2EC0}"/>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1741</a:t>
            </a:r>
          </a:p>
        </p:txBody>
      </p:sp>
      <p:sp>
        <p:nvSpPr>
          <p:cNvPr id="105" name="TextBox 104">
            <a:extLst>
              <a:ext uri="{FF2B5EF4-FFF2-40B4-BE49-F238E27FC236}">
                <a16:creationId xmlns:a16="http://schemas.microsoft.com/office/drawing/2014/main" id="{B1A791DD-10A6-42C1-3325-DB5D6F96B7FA}"/>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1802</a:t>
            </a:r>
          </a:p>
        </p:txBody>
      </p:sp>
      <p:sp>
        <p:nvSpPr>
          <p:cNvPr id="106" name="TextBox 105">
            <a:extLst>
              <a:ext uri="{FF2B5EF4-FFF2-40B4-BE49-F238E27FC236}">
                <a16:creationId xmlns:a16="http://schemas.microsoft.com/office/drawing/2014/main" id="{BD49BA32-9C1A-AAAB-8E77-ECF7A72C24C4}"/>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839</a:t>
            </a:r>
          </a:p>
        </p:txBody>
      </p:sp>
      <p:sp>
        <p:nvSpPr>
          <p:cNvPr id="109" name="TextBox 108">
            <a:extLst>
              <a:ext uri="{FF2B5EF4-FFF2-40B4-BE49-F238E27FC236}">
                <a16:creationId xmlns:a16="http://schemas.microsoft.com/office/drawing/2014/main" id="{5DFD3C96-CD21-4275-85E4-9536AC963E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226-793</a:t>
            </a:r>
          </a:p>
        </p:txBody>
      </p:sp>
      <p:sp>
        <p:nvSpPr>
          <p:cNvPr id="110" name="TextBox 109">
            <a:extLst>
              <a:ext uri="{FF2B5EF4-FFF2-40B4-BE49-F238E27FC236}">
                <a16:creationId xmlns:a16="http://schemas.microsoft.com/office/drawing/2014/main" id="{D86C142C-FC6E-3E00-92A1-0F57CBAFDC7F}"/>
              </a:ext>
            </a:extLst>
          </p:cNvPr>
          <p:cNvSpPr txBox="1"/>
          <p:nvPr/>
        </p:nvSpPr>
        <p:spPr>
          <a:xfrm>
            <a:off x="9666713"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113" name="TextBox 112">
            <a:extLst>
              <a:ext uri="{FF2B5EF4-FFF2-40B4-BE49-F238E27FC236}">
                <a16:creationId xmlns:a16="http://schemas.microsoft.com/office/drawing/2014/main" id="{DC3BE455-4E38-C548-FDDD-DF9FA0110EFE}"/>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131" name="TextBox 130">
            <a:extLst>
              <a:ext uri="{FF2B5EF4-FFF2-40B4-BE49-F238E27FC236}">
                <a16:creationId xmlns:a16="http://schemas.microsoft.com/office/drawing/2014/main" id="{F50BF239-D270-2F78-FD13-437074E7DFF0}"/>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133" name="TextBox 132">
            <a:extLst>
              <a:ext uri="{FF2B5EF4-FFF2-40B4-BE49-F238E27FC236}">
                <a16:creationId xmlns:a16="http://schemas.microsoft.com/office/drawing/2014/main" id="{0D2337F8-751D-5352-7818-69D3DE3CBD4B}"/>
              </a:ext>
            </a:extLst>
          </p:cNvPr>
          <p:cNvSpPr txBox="1"/>
          <p:nvPr/>
        </p:nvSpPr>
        <p:spPr>
          <a:xfrm>
            <a:off x="9579600"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2-42</a:t>
            </a:r>
          </a:p>
        </p:txBody>
      </p:sp>
      <p:sp>
        <p:nvSpPr>
          <p:cNvPr id="134" name="TextBox 133">
            <a:extLst>
              <a:ext uri="{FF2B5EF4-FFF2-40B4-BE49-F238E27FC236}">
                <a16:creationId xmlns:a16="http://schemas.microsoft.com/office/drawing/2014/main" id="{B586C24B-58D8-D888-DFB6-4EFFA3C2BAFA}"/>
              </a:ext>
            </a:extLst>
          </p:cNvPr>
          <p:cNvSpPr txBox="1"/>
          <p:nvPr/>
        </p:nvSpPr>
        <p:spPr>
          <a:xfrm>
            <a:off x="9443742"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517-526</a:t>
            </a:r>
          </a:p>
        </p:txBody>
      </p:sp>
      <p:cxnSp>
        <p:nvCxnSpPr>
          <p:cNvPr id="136" name="Straight Connector 135">
            <a:extLst>
              <a:ext uri="{FF2B5EF4-FFF2-40B4-BE49-F238E27FC236}">
                <a16:creationId xmlns:a16="http://schemas.microsoft.com/office/drawing/2014/main" id="{41D2A6CE-69AC-6E7E-B4C0-CC9178146B2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39672EB-7C5E-D46D-02CF-E28A61A29C02}"/>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438C5702-2A29-164B-1170-81EE055EB7AF}"/>
              </a:ext>
            </a:extLst>
          </p:cNvPr>
          <p:cNvCxnSpPr/>
          <p:nvPr/>
        </p:nvCxnSpPr>
        <p:spPr>
          <a:xfrm>
            <a:off x="7199140"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F2C85FF8-0D79-566F-F65C-00ADA3B7D802}"/>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A8037CBF-841E-14E4-68C6-7358D5CDFC4B}"/>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24846FC5-CE1A-4A0D-317F-16FD743D8973}"/>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66255218-86D4-3880-853F-A2774C560D38}"/>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C3EE3D83-651A-9C02-8789-884426F8E2E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8FBF547-69CB-A2E1-4C0C-BF12CF48E149}"/>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A89871B0-CD05-E2FD-57E2-FEED9731E2EB}"/>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65896CA5-7319-E238-CE5F-B2B5C53CA444}"/>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9B0B4B0-6362-909C-5D26-9C5BF68B6E63}"/>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6B64CEAC-BBC7-A180-0FFC-D205C7AE2A31}"/>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5931100B-2395-9959-6E2E-9C75866BA756}"/>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75141F65-D444-72BA-3677-0704204471CF}"/>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69F85024-EDD5-6541-376F-622E10E98A44}"/>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BE7ABA6-1C68-B763-B524-3813A0865691}"/>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7E30C245-BA49-D191-ADFC-5C71C34546D0}"/>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C21E867A-EA52-ED7E-B7AA-63B529105BF2}"/>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82153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C6153D3-1799-784C-846D-B000A5DA5BCD}"/>
              </a:ext>
            </a:extLst>
          </p:cNvPr>
          <p:cNvPicPr>
            <a:picLocks noChangeAspect="1"/>
          </p:cNvPicPr>
          <p:nvPr/>
        </p:nvPicPr>
        <p:blipFill>
          <a:blip r:embed="rId2"/>
          <a:stretch>
            <a:fillRect/>
          </a:stretch>
        </p:blipFill>
        <p:spPr>
          <a:xfrm>
            <a:off x="1527717" y="402587"/>
            <a:ext cx="9938587" cy="6332750"/>
          </a:xfrm>
          <a:prstGeom prst="rect">
            <a:avLst/>
          </a:prstGeom>
        </p:spPr>
      </p:pic>
    </p:spTree>
    <p:extLst>
      <p:ext uri="{BB962C8B-B14F-4D97-AF65-F5344CB8AC3E}">
        <p14:creationId xmlns:p14="http://schemas.microsoft.com/office/powerpoint/2010/main" val="3165115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5B1D71C-67AA-784B-92E9-20FDD554F8B9}"/>
              </a:ext>
            </a:extLst>
          </p:cNvPr>
          <p:cNvPicPr>
            <a:picLocks noChangeAspect="1"/>
          </p:cNvPicPr>
          <p:nvPr/>
        </p:nvPicPr>
        <p:blipFill>
          <a:blip r:embed="rId2"/>
          <a:stretch>
            <a:fillRect/>
          </a:stretch>
        </p:blipFill>
        <p:spPr>
          <a:xfrm>
            <a:off x="0" y="200722"/>
            <a:ext cx="6256422" cy="3830184"/>
          </a:xfrm>
          <a:prstGeom prst="rect">
            <a:avLst/>
          </a:prstGeom>
        </p:spPr>
      </p:pic>
      <p:pic>
        <p:nvPicPr>
          <p:cNvPr id="9" name="Picture 8">
            <a:extLst>
              <a:ext uri="{FF2B5EF4-FFF2-40B4-BE49-F238E27FC236}">
                <a16:creationId xmlns:a16="http://schemas.microsoft.com/office/drawing/2014/main" id="{3E6404C9-B53D-364A-B2E6-797D97491AA6}"/>
              </a:ext>
            </a:extLst>
          </p:cNvPr>
          <p:cNvPicPr>
            <a:picLocks noChangeAspect="1"/>
          </p:cNvPicPr>
          <p:nvPr/>
        </p:nvPicPr>
        <p:blipFill>
          <a:blip r:embed="rId3"/>
          <a:stretch>
            <a:fillRect/>
          </a:stretch>
        </p:blipFill>
        <p:spPr>
          <a:xfrm>
            <a:off x="6590369" y="208371"/>
            <a:ext cx="5060437" cy="3822535"/>
          </a:xfrm>
          <a:prstGeom prst="rect">
            <a:avLst/>
          </a:prstGeom>
        </p:spPr>
      </p:pic>
      <p:sp>
        <p:nvSpPr>
          <p:cNvPr id="10" name="TextBox 9">
            <a:extLst>
              <a:ext uri="{FF2B5EF4-FFF2-40B4-BE49-F238E27FC236}">
                <a16:creationId xmlns:a16="http://schemas.microsoft.com/office/drawing/2014/main" id="{149E6A7B-4E51-2143-9C88-87F26BD65396}"/>
              </a:ext>
            </a:extLst>
          </p:cNvPr>
          <p:cNvSpPr txBox="1"/>
          <p:nvPr/>
        </p:nvSpPr>
        <p:spPr>
          <a:xfrm>
            <a:off x="7292898" y="4030906"/>
            <a:ext cx="3989234" cy="369332"/>
          </a:xfrm>
          <a:prstGeom prst="rect">
            <a:avLst/>
          </a:prstGeom>
          <a:noFill/>
        </p:spPr>
        <p:txBody>
          <a:bodyPr wrap="none" rtlCol="0">
            <a:spAutoFit/>
          </a:bodyPr>
          <a:lstStyle/>
          <a:p>
            <a:r>
              <a:rPr lang="en-US" dirty="0"/>
              <a:t>Filtered lengths &lt;2500 </a:t>
            </a:r>
            <a:r>
              <a:rPr lang="en-US" dirty="0" err="1"/>
              <a:t>bp</a:t>
            </a:r>
            <a:r>
              <a:rPr lang="en-US" dirty="0"/>
              <a:t>, and &lt;1.5 Mb</a:t>
            </a:r>
          </a:p>
        </p:txBody>
      </p:sp>
    </p:spTree>
    <p:extLst>
      <p:ext uri="{BB962C8B-B14F-4D97-AF65-F5344CB8AC3E}">
        <p14:creationId xmlns:p14="http://schemas.microsoft.com/office/powerpoint/2010/main" val="3086575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67FFF69-4F62-BBB3-7E34-44DA3883BE27}"/>
              </a:ext>
            </a:extLst>
          </p:cNvPr>
          <p:cNvPicPr>
            <a:picLocks noChangeAspect="1"/>
          </p:cNvPicPr>
          <p:nvPr/>
        </p:nvPicPr>
        <p:blipFill>
          <a:blip r:embed="rId3"/>
          <a:stretch>
            <a:fillRect/>
          </a:stretch>
        </p:blipFill>
        <p:spPr>
          <a:xfrm>
            <a:off x="737191" y="574831"/>
            <a:ext cx="9370828" cy="5008545"/>
          </a:xfrm>
          <a:prstGeom prst="rect">
            <a:avLst/>
          </a:prstGeom>
        </p:spPr>
      </p:pic>
    </p:spTree>
    <p:extLst>
      <p:ext uri="{BB962C8B-B14F-4D97-AF65-F5344CB8AC3E}">
        <p14:creationId xmlns:p14="http://schemas.microsoft.com/office/powerpoint/2010/main" val="233210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F103247-7C81-0D48-AE16-4683CDEE6718}"/>
              </a:ext>
            </a:extLst>
          </p:cNvPr>
          <p:cNvSpPr txBox="1"/>
          <p:nvPr/>
        </p:nvSpPr>
        <p:spPr>
          <a:xfrm>
            <a:off x="1076446" y="486137"/>
            <a:ext cx="5185137" cy="369332"/>
          </a:xfrm>
          <a:prstGeom prst="rect">
            <a:avLst/>
          </a:prstGeom>
          <a:noFill/>
        </p:spPr>
        <p:txBody>
          <a:bodyPr wrap="none" rtlCol="0">
            <a:spAutoFit/>
          </a:bodyPr>
          <a:lstStyle/>
          <a:p>
            <a:r>
              <a:rPr lang="en-US" dirty="0"/>
              <a:t>Marker length distribution with: inserts_lengths_v3.R</a:t>
            </a:r>
          </a:p>
        </p:txBody>
      </p:sp>
      <p:pic>
        <p:nvPicPr>
          <p:cNvPr id="7" name="Picture 6">
            <a:extLst>
              <a:ext uri="{FF2B5EF4-FFF2-40B4-BE49-F238E27FC236}">
                <a16:creationId xmlns:a16="http://schemas.microsoft.com/office/drawing/2014/main" id="{07443F26-38F1-0844-B722-ABAA9831C0E0}"/>
              </a:ext>
            </a:extLst>
          </p:cNvPr>
          <p:cNvPicPr>
            <a:picLocks noChangeAspect="1"/>
          </p:cNvPicPr>
          <p:nvPr/>
        </p:nvPicPr>
        <p:blipFill>
          <a:blip r:embed="rId2"/>
          <a:stretch>
            <a:fillRect/>
          </a:stretch>
        </p:blipFill>
        <p:spPr>
          <a:xfrm>
            <a:off x="1076446" y="855469"/>
            <a:ext cx="10172700" cy="5638800"/>
          </a:xfrm>
          <a:prstGeom prst="rect">
            <a:avLst/>
          </a:prstGeom>
        </p:spPr>
      </p:pic>
    </p:spTree>
    <p:extLst>
      <p:ext uri="{BB962C8B-B14F-4D97-AF65-F5344CB8AC3E}">
        <p14:creationId xmlns:p14="http://schemas.microsoft.com/office/powerpoint/2010/main" val="3240909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3B51C-B7D4-1A44-8250-3B09C2C353FD}"/>
              </a:ext>
            </a:extLst>
          </p:cNvPr>
          <p:cNvSpPr>
            <a:spLocks noGrp="1"/>
          </p:cNvSpPr>
          <p:nvPr>
            <p:ph type="title"/>
          </p:nvPr>
        </p:nvSpPr>
        <p:spPr>
          <a:xfrm>
            <a:off x="259466" y="-572424"/>
            <a:ext cx="10515600" cy="1325563"/>
          </a:xfrm>
        </p:spPr>
        <p:txBody>
          <a:bodyPr/>
          <a:lstStyle/>
          <a:p>
            <a:r>
              <a:rPr lang="en-US" dirty="0"/>
              <a:t>Insert origins</a:t>
            </a:r>
          </a:p>
        </p:txBody>
      </p:sp>
      <p:pic>
        <p:nvPicPr>
          <p:cNvPr id="7" name="Picture 6">
            <a:extLst>
              <a:ext uri="{FF2B5EF4-FFF2-40B4-BE49-F238E27FC236}">
                <a16:creationId xmlns:a16="http://schemas.microsoft.com/office/drawing/2014/main" id="{229A0A07-263F-F143-80BA-F0AE938BAA42}"/>
              </a:ext>
            </a:extLst>
          </p:cNvPr>
          <p:cNvPicPr>
            <a:picLocks noChangeAspect="1"/>
          </p:cNvPicPr>
          <p:nvPr/>
        </p:nvPicPr>
        <p:blipFill>
          <a:blip r:embed="rId2"/>
          <a:stretch>
            <a:fillRect/>
          </a:stretch>
        </p:blipFill>
        <p:spPr>
          <a:xfrm>
            <a:off x="1809750" y="0"/>
            <a:ext cx="8572500" cy="6858000"/>
          </a:xfrm>
          <a:prstGeom prst="rect">
            <a:avLst/>
          </a:prstGeom>
        </p:spPr>
      </p:pic>
    </p:spTree>
    <p:extLst>
      <p:ext uri="{BB962C8B-B14F-4D97-AF65-F5344CB8AC3E}">
        <p14:creationId xmlns:p14="http://schemas.microsoft.com/office/powerpoint/2010/main" val="12841147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45A0E29-9F21-FC4B-A4F5-B53517A41FC2}"/>
              </a:ext>
            </a:extLst>
          </p:cNvPr>
          <p:cNvPicPr>
            <a:picLocks noChangeAspect="1"/>
          </p:cNvPicPr>
          <p:nvPr/>
        </p:nvPicPr>
        <p:blipFill>
          <a:blip r:embed="rId3"/>
          <a:stretch>
            <a:fillRect/>
          </a:stretch>
        </p:blipFill>
        <p:spPr>
          <a:xfrm>
            <a:off x="75050" y="454968"/>
            <a:ext cx="6561506" cy="4396430"/>
          </a:xfrm>
          <a:prstGeom prst="rect">
            <a:avLst/>
          </a:prstGeom>
        </p:spPr>
      </p:pic>
      <p:sp>
        <p:nvSpPr>
          <p:cNvPr id="5" name="TextBox 4">
            <a:extLst>
              <a:ext uri="{FF2B5EF4-FFF2-40B4-BE49-F238E27FC236}">
                <a16:creationId xmlns:a16="http://schemas.microsoft.com/office/drawing/2014/main" id="{4F756E17-FE9E-4DC6-F3CF-AABBBF0B49DD}"/>
              </a:ext>
            </a:extLst>
          </p:cNvPr>
          <p:cNvSpPr txBox="1"/>
          <p:nvPr/>
        </p:nvSpPr>
        <p:spPr>
          <a:xfrm>
            <a:off x="7856065" y="3519340"/>
            <a:ext cx="3343468" cy="830997"/>
          </a:xfrm>
          <a:prstGeom prst="rect">
            <a:avLst/>
          </a:prstGeom>
          <a:noFill/>
        </p:spPr>
        <p:txBody>
          <a:bodyPr wrap="square" rtlCol="0">
            <a:spAutoFit/>
          </a:bodyPr>
          <a:lstStyle/>
          <a:p>
            <a:pPr algn="ctr"/>
            <a:r>
              <a:rPr lang="en-US" sz="1600" b="1" dirty="0">
                <a:solidFill>
                  <a:srgbClr val="FF0000"/>
                </a:solidFill>
              </a:rPr>
              <a:t>C. </a:t>
            </a:r>
            <a:r>
              <a:rPr lang="en-US" sz="1600" dirty="0">
                <a:solidFill>
                  <a:srgbClr val="FF0000"/>
                </a:solidFill>
              </a:rPr>
              <a:t>Placeholder: depiction of the origin of the insert around the </a:t>
            </a:r>
            <a:r>
              <a:rPr lang="en-US" sz="1600" dirty="0" err="1">
                <a:solidFill>
                  <a:srgbClr val="FF0000"/>
                </a:solidFill>
              </a:rPr>
              <a:t>Blatta</a:t>
            </a:r>
            <a:r>
              <a:rPr lang="en-US" sz="1600" dirty="0">
                <a:solidFill>
                  <a:srgbClr val="FF0000"/>
                </a:solidFill>
              </a:rPr>
              <a:t> genome (waiting on Leo)</a:t>
            </a:r>
          </a:p>
        </p:txBody>
      </p:sp>
      <p:sp>
        <p:nvSpPr>
          <p:cNvPr id="7" name="TextBox 6">
            <a:extLst>
              <a:ext uri="{FF2B5EF4-FFF2-40B4-BE49-F238E27FC236}">
                <a16:creationId xmlns:a16="http://schemas.microsoft.com/office/drawing/2014/main" id="{1C0E847B-8FC5-0867-7196-259B77611FF8}"/>
              </a:ext>
            </a:extLst>
          </p:cNvPr>
          <p:cNvSpPr txBox="1"/>
          <p:nvPr/>
        </p:nvSpPr>
        <p:spPr>
          <a:xfrm>
            <a:off x="215683" y="425302"/>
            <a:ext cx="324128" cy="369332"/>
          </a:xfrm>
          <a:prstGeom prst="rect">
            <a:avLst/>
          </a:prstGeom>
          <a:noFill/>
        </p:spPr>
        <p:txBody>
          <a:bodyPr wrap="none" rtlCol="0">
            <a:spAutoFit/>
          </a:bodyPr>
          <a:lstStyle/>
          <a:p>
            <a:r>
              <a:rPr lang="en-US" b="1" dirty="0"/>
              <a:t>A</a:t>
            </a:r>
          </a:p>
        </p:txBody>
      </p:sp>
      <p:pic>
        <p:nvPicPr>
          <p:cNvPr id="13" name="Picture 12">
            <a:extLst>
              <a:ext uri="{FF2B5EF4-FFF2-40B4-BE49-F238E27FC236}">
                <a16:creationId xmlns:a16="http://schemas.microsoft.com/office/drawing/2014/main" id="{DC883A01-AA48-044E-76DC-460544A87194}"/>
              </a:ext>
            </a:extLst>
          </p:cNvPr>
          <p:cNvPicPr>
            <a:picLocks noChangeAspect="1"/>
          </p:cNvPicPr>
          <p:nvPr/>
        </p:nvPicPr>
        <p:blipFill>
          <a:blip r:embed="rId4"/>
          <a:srcRect t="5172"/>
          <a:stretch>
            <a:fillRect/>
          </a:stretch>
        </p:blipFill>
        <p:spPr>
          <a:xfrm>
            <a:off x="7048374" y="496730"/>
            <a:ext cx="5104657" cy="2587255"/>
          </a:xfrm>
          <a:prstGeom prst="rect">
            <a:avLst/>
          </a:prstGeom>
        </p:spPr>
      </p:pic>
      <p:sp>
        <p:nvSpPr>
          <p:cNvPr id="14" name="TextBox 13">
            <a:extLst>
              <a:ext uri="{FF2B5EF4-FFF2-40B4-BE49-F238E27FC236}">
                <a16:creationId xmlns:a16="http://schemas.microsoft.com/office/drawing/2014/main" id="{2C6B5942-B39C-46A8-0714-63EF48E22894}"/>
              </a:ext>
            </a:extLst>
          </p:cNvPr>
          <p:cNvSpPr txBox="1"/>
          <p:nvPr/>
        </p:nvSpPr>
        <p:spPr>
          <a:xfrm>
            <a:off x="6720534" y="425302"/>
            <a:ext cx="314510" cy="369332"/>
          </a:xfrm>
          <a:prstGeom prst="rect">
            <a:avLst/>
          </a:prstGeom>
          <a:noFill/>
        </p:spPr>
        <p:txBody>
          <a:bodyPr wrap="none" rtlCol="0">
            <a:spAutoFit/>
          </a:bodyPr>
          <a:lstStyle/>
          <a:p>
            <a:r>
              <a:rPr lang="en-US" b="1" dirty="0"/>
              <a:t>B</a:t>
            </a:r>
          </a:p>
        </p:txBody>
      </p:sp>
    </p:spTree>
    <p:extLst>
      <p:ext uri="{BB962C8B-B14F-4D97-AF65-F5344CB8AC3E}">
        <p14:creationId xmlns:p14="http://schemas.microsoft.com/office/powerpoint/2010/main" val="2560380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BCCAAD-C40A-0540-A342-CC95BED36479}"/>
              </a:ext>
            </a:extLst>
          </p:cNvPr>
          <p:cNvSpPr txBox="1"/>
          <p:nvPr/>
        </p:nvSpPr>
        <p:spPr>
          <a:xfrm>
            <a:off x="152327" y="-28505"/>
            <a:ext cx="943528" cy="369332"/>
          </a:xfrm>
          <a:prstGeom prst="rect">
            <a:avLst/>
          </a:prstGeom>
          <a:noFill/>
        </p:spPr>
        <p:txBody>
          <a:bodyPr wrap="none" rtlCol="0">
            <a:spAutoFit/>
          </a:bodyPr>
          <a:lstStyle/>
          <a:p>
            <a:r>
              <a:rPr lang="en-US" b="1" dirty="0"/>
              <a:t>Figure 2</a:t>
            </a:r>
          </a:p>
        </p:txBody>
      </p:sp>
      <p:pic>
        <p:nvPicPr>
          <p:cNvPr id="6" name="Picture 5">
            <a:extLst>
              <a:ext uri="{FF2B5EF4-FFF2-40B4-BE49-F238E27FC236}">
                <a16:creationId xmlns:a16="http://schemas.microsoft.com/office/drawing/2014/main" id="{D2107C2B-7AD9-0940-814D-542810A3F058}"/>
              </a:ext>
            </a:extLst>
          </p:cNvPr>
          <p:cNvPicPr>
            <a:picLocks noChangeAspect="1"/>
          </p:cNvPicPr>
          <p:nvPr/>
        </p:nvPicPr>
        <p:blipFill rotWithShape="1">
          <a:blip r:embed="rId3"/>
          <a:srcRect t="52525"/>
          <a:stretch/>
        </p:blipFill>
        <p:spPr>
          <a:xfrm>
            <a:off x="6369518" y="1648788"/>
            <a:ext cx="5689283" cy="3981303"/>
          </a:xfrm>
          <a:prstGeom prst="rect">
            <a:avLst/>
          </a:prstGeom>
        </p:spPr>
      </p:pic>
      <p:pic>
        <p:nvPicPr>
          <p:cNvPr id="7" name="Picture 6">
            <a:extLst>
              <a:ext uri="{FF2B5EF4-FFF2-40B4-BE49-F238E27FC236}">
                <a16:creationId xmlns:a16="http://schemas.microsoft.com/office/drawing/2014/main" id="{4D1CA6F0-055A-C240-A4FC-6BEFEB8FFA56}"/>
              </a:ext>
            </a:extLst>
          </p:cNvPr>
          <p:cNvPicPr>
            <a:picLocks noChangeAspect="1"/>
          </p:cNvPicPr>
          <p:nvPr/>
        </p:nvPicPr>
        <p:blipFill rotWithShape="1">
          <a:blip r:embed="rId4"/>
          <a:srcRect l="2701" t="7745" r="2136" b="6008"/>
          <a:stretch/>
        </p:blipFill>
        <p:spPr>
          <a:xfrm>
            <a:off x="936970" y="1852864"/>
            <a:ext cx="5423723" cy="3433730"/>
          </a:xfrm>
          <a:prstGeom prst="rect">
            <a:avLst/>
          </a:prstGeom>
        </p:spPr>
      </p:pic>
      <p:sp>
        <p:nvSpPr>
          <p:cNvPr id="2" name="TextBox 1">
            <a:extLst>
              <a:ext uri="{FF2B5EF4-FFF2-40B4-BE49-F238E27FC236}">
                <a16:creationId xmlns:a16="http://schemas.microsoft.com/office/drawing/2014/main" id="{633D4B2A-37ED-CE4F-938D-1864D4E6B025}"/>
              </a:ext>
            </a:extLst>
          </p:cNvPr>
          <p:cNvSpPr txBox="1"/>
          <p:nvPr/>
        </p:nvSpPr>
        <p:spPr>
          <a:xfrm>
            <a:off x="2094074" y="4445366"/>
            <a:ext cx="1241562" cy="430887"/>
          </a:xfrm>
          <a:prstGeom prst="rect">
            <a:avLst/>
          </a:prstGeom>
          <a:noFill/>
        </p:spPr>
        <p:txBody>
          <a:bodyPr wrap="square" rtlCol="0">
            <a:spAutoFit/>
          </a:bodyPr>
          <a:lstStyle/>
          <a:p>
            <a:r>
              <a:rPr lang="en-US" sz="1100" dirty="0"/>
              <a:t>Putative ancestral inserts</a:t>
            </a:r>
          </a:p>
        </p:txBody>
      </p:sp>
      <p:sp>
        <p:nvSpPr>
          <p:cNvPr id="8" name="TextBox 7">
            <a:extLst>
              <a:ext uri="{FF2B5EF4-FFF2-40B4-BE49-F238E27FC236}">
                <a16:creationId xmlns:a16="http://schemas.microsoft.com/office/drawing/2014/main" id="{C1A254C8-E221-074A-8EC7-674BF6886A40}"/>
              </a:ext>
            </a:extLst>
          </p:cNvPr>
          <p:cNvSpPr txBox="1"/>
          <p:nvPr/>
        </p:nvSpPr>
        <p:spPr>
          <a:xfrm>
            <a:off x="3862937" y="2027575"/>
            <a:ext cx="1528056" cy="430887"/>
          </a:xfrm>
          <a:prstGeom prst="rect">
            <a:avLst/>
          </a:prstGeom>
          <a:noFill/>
        </p:spPr>
        <p:txBody>
          <a:bodyPr wrap="square" rtlCol="0">
            <a:spAutoFit/>
          </a:bodyPr>
          <a:lstStyle/>
          <a:p>
            <a:pPr algn="r"/>
            <a:r>
              <a:rPr lang="en-US" sz="1100" dirty="0"/>
              <a:t>Putative contemporary inserts</a:t>
            </a:r>
          </a:p>
        </p:txBody>
      </p:sp>
      <p:sp>
        <p:nvSpPr>
          <p:cNvPr id="9" name="TextBox 8">
            <a:extLst>
              <a:ext uri="{FF2B5EF4-FFF2-40B4-BE49-F238E27FC236}">
                <a16:creationId xmlns:a16="http://schemas.microsoft.com/office/drawing/2014/main" id="{A1AB082A-F420-0C48-91D5-4F7BF95C306D}"/>
              </a:ext>
            </a:extLst>
          </p:cNvPr>
          <p:cNvSpPr txBox="1"/>
          <p:nvPr/>
        </p:nvSpPr>
        <p:spPr>
          <a:xfrm>
            <a:off x="4082441" y="3736051"/>
            <a:ext cx="1281120" cy="261610"/>
          </a:xfrm>
          <a:prstGeom prst="rect">
            <a:avLst/>
          </a:prstGeom>
          <a:noFill/>
        </p:spPr>
        <p:txBody>
          <a:bodyPr wrap="none" rtlCol="0">
            <a:spAutoFit/>
          </a:bodyPr>
          <a:lstStyle/>
          <a:p>
            <a:r>
              <a:rPr lang="en-US" sz="1100" dirty="0"/>
              <a:t>Unable to infer age</a:t>
            </a:r>
          </a:p>
        </p:txBody>
      </p:sp>
      <p:sp>
        <p:nvSpPr>
          <p:cNvPr id="3" name="TextBox 2">
            <a:extLst>
              <a:ext uri="{FF2B5EF4-FFF2-40B4-BE49-F238E27FC236}">
                <a16:creationId xmlns:a16="http://schemas.microsoft.com/office/drawing/2014/main" id="{56561D6C-B0AC-0E48-A749-34E5EC08CA93}"/>
              </a:ext>
            </a:extLst>
          </p:cNvPr>
          <p:cNvSpPr txBox="1"/>
          <p:nvPr/>
        </p:nvSpPr>
        <p:spPr>
          <a:xfrm>
            <a:off x="3177302" y="5230862"/>
            <a:ext cx="1064779" cy="307777"/>
          </a:xfrm>
          <a:prstGeom prst="rect">
            <a:avLst/>
          </a:prstGeom>
          <a:noFill/>
        </p:spPr>
        <p:txBody>
          <a:bodyPr wrap="none" rtlCol="0">
            <a:spAutoFit/>
          </a:bodyPr>
          <a:lstStyle/>
          <a:p>
            <a:r>
              <a:rPr lang="en-US" sz="1400" dirty="0"/>
              <a:t>Insert count</a:t>
            </a:r>
          </a:p>
        </p:txBody>
      </p:sp>
      <p:sp>
        <p:nvSpPr>
          <p:cNvPr id="10" name="TextBox 9">
            <a:extLst>
              <a:ext uri="{FF2B5EF4-FFF2-40B4-BE49-F238E27FC236}">
                <a16:creationId xmlns:a16="http://schemas.microsoft.com/office/drawing/2014/main" id="{90AA9167-B2F4-DB40-8978-942B5407BF84}"/>
              </a:ext>
            </a:extLst>
          </p:cNvPr>
          <p:cNvSpPr txBox="1"/>
          <p:nvPr/>
        </p:nvSpPr>
        <p:spPr>
          <a:xfrm rot="16200000">
            <a:off x="-308369" y="3261666"/>
            <a:ext cx="2290755" cy="307777"/>
          </a:xfrm>
          <a:prstGeom prst="rect">
            <a:avLst/>
          </a:prstGeom>
          <a:noFill/>
        </p:spPr>
        <p:txBody>
          <a:bodyPr wrap="none" rtlCol="0">
            <a:spAutoFit/>
          </a:bodyPr>
          <a:lstStyle/>
          <a:p>
            <a:r>
              <a:rPr lang="en-US" sz="1400" dirty="0"/>
              <a:t>BLAST identity (%) difference</a:t>
            </a:r>
          </a:p>
        </p:txBody>
      </p:sp>
      <p:sp>
        <p:nvSpPr>
          <p:cNvPr id="11" name="TextBox 10">
            <a:extLst>
              <a:ext uri="{FF2B5EF4-FFF2-40B4-BE49-F238E27FC236}">
                <a16:creationId xmlns:a16="http://schemas.microsoft.com/office/drawing/2014/main" id="{FDFFE04B-D070-864B-B8B8-CEADF928B4A8}"/>
              </a:ext>
            </a:extLst>
          </p:cNvPr>
          <p:cNvSpPr txBox="1"/>
          <p:nvPr/>
        </p:nvSpPr>
        <p:spPr>
          <a:xfrm>
            <a:off x="563825" y="1753280"/>
            <a:ext cx="324128" cy="369332"/>
          </a:xfrm>
          <a:prstGeom prst="rect">
            <a:avLst/>
          </a:prstGeom>
          <a:noFill/>
        </p:spPr>
        <p:txBody>
          <a:bodyPr wrap="none" rtlCol="0">
            <a:spAutoFit/>
          </a:bodyPr>
          <a:lstStyle/>
          <a:p>
            <a:r>
              <a:rPr lang="en-US" b="1" dirty="0"/>
              <a:t>A</a:t>
            </a:r>
          </a:p>
        </p:txBody>
      </p:sp>
      <p:sp>
        <p:nvSpPr>
          <p:cNvPr id="12" name="TextBox 11">
            <a:extLst>
              <a:ext uri="{FF2B5EF4-FFF2-40B4-BE49-F238E27FC236}">
                <a16:creationId xmlns:a16="http://schemas.microsoft.com/office/drawing/2014/main" id="{276F2C94-E046-8F49-A92D-49719149D358}"/>
              </a:ext>
            </a:extLst>
          </p:cNvPr>
          <p:cNvSpPr txBox="1"/>
          <p:nvPr/>
        </p:nvSpPr>
        <p:spPr>
          <a:xfrm>
            <a:off x="6360693" y="1753280"/>
            <a:ext cx="314510" cy="369332"/>
          </a:xfrm>
          <a:prstGeom prst="rect">
            <a:avLst/>
          </a:prstGeom>
          <a:noFill/>
        </p:spPr>
        <p:txBody>
          <a:bodyPr wrap="none" rtlCol="0">
            <a:spAutoFit/>
          </a:bodyPr>
          <a:lstStyle/>
          <a:p>
            <a:r>
              <a:rPr lang="en-US" b="1" dirty="0"/>
              <a:t>B</a:t>
            </a:r>
          </a:p>
        </p:txBody>
      </p:sp>
      <p:sp>
        <p:nvSpPr>
          <p:cNvPr id="13" name="Oval 12">
            <a:extLst>
              <a:ext uri="{FF2B5EF4-FFF2-40B4-BE49-F238E27FC236}">
                <a16:creationId xmlns:a16="http://schemas.microsoft.com/office/drawing/2014/main" id="{E421327E-452A-CD40-9CB2-DCE4DADC7EB8}"/>
              </a:ext>
            </a:extLst>
          </p:cNvPr>
          <p:cNvSpPr/>
          <p:nvPr/>
        </p:nvSpPr>
        <p:spPr>
          <a:xfrm rot="20764211">
            <a:off x="1270899" y="4637079"/>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AD5DDC-8234-0745-83AA-125A34ABC016}"/>
              </a:ext>
            </a:extLst>
          </p:cNvPr>
          <p:cNvSpPr/>
          <p:nvPr/>
        </p:nvSpPr>
        <p:spPr>
          <a:xfrm rot="20764211">
            <a:off x="5332359" y="2021240"/>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8A2940A-50E2-9E4E-B45B-7E8B51C98C89}"/>
              </a:ext>
            </a:extLst>
          </p:cNvPr>
          <p:cNvSpPr/>
          <p:nvPr/>
        </p:nvSpPr>
        <p:spPr>
          <a:xfrm rot="21257093">
            <a:off x="1828726" y="3163471"/>
            <a:ext cx="3824834" cy="642507"/>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629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8AC1BD0-7DA5-E9BF-1323-A48980C680F0}"/>
              </a:ext>
            </a:extLst>
          </p:cNvPr>
          <p:cNvPicPr>
            <a:picLocks noChangeAspect="1"/>
          </p:cNvPicPr>
          <p:nvPr/>
        </p:nvPicPr>
        <p:blipFill>
          <a:blip r:embed="rId3"/>
          <a:stretch>
            <a:fillRect/>
          </a:stretch>
        </p:blipFill>
        <p:spPr>
          <a:xfrm>
            <a:off x="3699510" y="-103505"/>
            <a:ext cx="4617303" cy="6806057"/>
          </a:xfrm>
          <a:prstGeom prst="rect">
            <a:avLst/>
          </a:prstGeom>
        </p:spPr>
      </p:pic>
    </p:spTree>
    <p:extLst>
      <p:ext uri="{BB962C8B-B14F-4D97-AF65-F5344CB8AC3E}">
        <p14:creationId xmlns:p14="http://schemas.microsoft.com/office/powerpoint/2010/main" val="41999593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a:blip r:embed="rId3"/>
          <a:stretch>
            <a:fillRect/>
          </a:stretch>
        </p:blipFill>
        <p:spPr>
          <a:xfrm>
            <a:off x="3230245" y="428307"/>
            <a:ext cx="5731510" cy="6001385"/>
          </a:xfrm>
          <a:prstGeom prst="rect">
            <a:avLst/>
          </a:prstGeom>
        </p:spPr>
      </p:pic>
    </p:spTree>
    <p:extLst>
      <p:ext uri="{BB962C8B-B14F-4D97-AF65-F5344CB8AC3E}">
        <p14:creationId xmlns:p14="http://schemas.microsoft.com/office/powerpoint/2010/main" val="28153346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65D913-7192-374F-8DD8-295EDAC76DD3}"/>
              </a:ext>
            </a:extLst>
          </p:cNvPr>
          <p:cNvPicPr>
            <a:picLocks noChangeAspect="1"/>
          </p:cNvPicPr>
          <p:nvPr/>
        </p:nvPicPr>
        <p:blipFill>
          <a:blip r:embed="rId2"/>
          <a:stretch>
            <a:fillRect/>
          </a:stretch>
        </p:blipFill>
        <p:spPr>
          <a:xfrm>
            <a:off x="1689107" y="211874"/>
            <a:ext cx="8985383" cy="6276794"/>
          </a:xfrm>
          <a:prstGeom prst="rect">
            <a:avLst/>
          </a:prstGeom>
        </p:spPr>
      </p:pic>
      <p:sp>
        <p:nvSpPr>
          <p:cNvPr id="6" name="TextBox 5">
            <a:extLst>
              <a:ext uri="{FF2B5EF4-FFF2-40B4-BE49-F238E27FC236}">
                <a16:creationId xmlns:a16="http://schemas.microsoft.com/office/drawing/2014/main" id="{4247A41C-BF5A-F64D-ABE3-09583767864B}"/>
              </a:ext>
            </a:extLst>
          </p:cNvPr>
          <p:cNvSpPr txBox="1"/>
          <p:nvPr/>
        </p:nvSpPr>
        <p:spPr>
          <a:xfrm>
            <a:off x="624468" y="6488668"/>
            <a:ext cx="3591689" cy="369332"/>
          </a:xfrm>
          <a:prstGeom prst="rect">
            <a:avLst/>
          </a:prstGeom>
          <a:noFill/>
        </p:spPr>
        <p:txBody>
          <a:bodyPr wrap="none" rtlCol="0">
            <a:spAutoFit/>
          </a:bodyPr>
          <a:lstStyle/>
          <a:p>
            <a:r>
              <a:rPr lang="en-US" dirty="0"/>
              <a:t>P-</a:t>
            </a:r>
            <a:r>
              <a:rPr lang="en-US" dirty="0" err="1"/>
              <a:t>tryoni</a:t>
            </a:r>
            <a:r>
              <a:rPr lang="en-US" dirty="0"/>
              <a:t>-</a:t>
            </a:r>
            <a:r>
              <a:rPr lang="en-US" dirty="0" err="1"/>
              <a:t>tryoni</a:t>
            </a:r>
            <a:r>
              <a:rPr lang="en-US" dirty="0"/>
              <a:t>-</a:t>
            </a:r>
            <a:r>
              <a:rPr lang="en-US" dirty="0" err="1"/>
              <a:t>Eungella_ageing</a:t>
            </a:r>
            <a:r>
              <a:rPr lang="en-US" dirty="0"/>
              <a:t>-plot</a:t>
            </a:r>
          </a:p>
        </p:txBody>
      </p:sp>
    </p:spTree>
    <p:extLst>
      <p:ext uri="{BB962C8B-B14F-4D97-AF65-F5344CB8AC3E}">
        <p14:creationId xmlns:p14="http://schemas.microsoft.com/office/powerpoint/2010/main" val="822455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rotWithShape="1">
          <a:blip r:embed="rId3"/>
          <a:srcRect t="4855"/>
          <a:stretch/>
        </p:blipFill>
        <p:spPr>
          <a:xfrm>
            <a:off x="3230245" y="719667"/>
            <a:ext cx="5731510" cy="5710025"/>
          </a:xfrm>
          <a:prstGeom prst="rect">
            <a:avLst/>
          </a:prstGeom>
        </p:spPr>
      </p:pic>
      <p:sp>
        <p:nvSpPr>
          <p:cNvPr id="2" name="TextBox 1">
            <a:extLst>
              <a:ext uri="{FF2B5EF4-FFF2-40B4-BE49-F238E27FC236}">
                <a16:creationId xmlns:a16="http://schemas.microsoft.com/office/drawing/2014/main" id="{FAC75DAA-4E26-9941-B0F2-5BE6D09F93CE}"/>
              </a:ext>
            </a:extLst>
          </p:cNvPr>
          <p:cNvSpPr txBox="1"/>
          <p:nvPr/>
        </p:nvSpPr>
        <p:spPr>
          <a:xfrm>
            <a:off x="4944535" y="3124201"/>
            <a:ext cx="2142066" cy="523220"/>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Blattabacterium cuenoti </a:t>
            </a:r>
            <a:r>
              <a:rPr lang="en-US" sz="1400" dirty="0">
                <a:latin typeface="Arial" panose="020B0604020202020204" pitchFamily="34" charset="0"/>
                <a:cs typeface="Arial" panose="020B0604020202020204" pitchFamily="34" charset="0"/>
              </a:rPr>
              <a:t>genome </a:t>
            </a:r>
          </a:p>
        </p:txBody>
      </p:sp>
      <p:sp>
        <p:nvSpPr>
          <p:cNvPr id="5" name="TextBox 4">
            <a:extLst>
              <a:ext uri="{FF2B5EF4-FFF2-40B4-BE49-F238E27FC236}">
                <a16:creationId xmlns:a16="http://schemas.microsoft.com/office/drawing/2014/main" id="{1A655766-8F62-3C48-830A-8A34D4AC274A}"/>
              </a:ext>
            </a:extLst>
          </p:cNvPr>
          <p:cNvSpPr txBox="1"/>
          <p:nvPr/>
        </p:nvSpPr>
        <p:spPr>
          <a:xfrm>
            <a:off x="4351868" y="523443"/>
            <a:ext cx="3191932" cy="307777"/>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contig</a:t>
            </a:r>
          </a:p>
        </p:txBody>
      </p:sp>
    </p:spTree>
    <p:extLst>
      <p:ext uri="{BB962C8B-B14F-4D97-AF65-F5344CB8AC3E}">
        <p14:creationId xmlns:p14="http://schemas.microsoft.com/office/powerpoint/2010/main" val="1535606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1239</TotalTime>
  <Words>1188</Words>
  <Application>Microsoft Macintosh PowerPoint</Application>
  <PresentationFormat>Widescreen</PresentationFormat>
  <Paragraphs>259</Paragraphs>
  <Slides>14</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Insert origins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Nathan Lo</dc:creator>
  <cp:lastModifiedBy>Microsoft Office User</cp:lastModifiedBy>
  <cp:revision>36</cp:revision>
  <dcterms:created xsi:type="dcterms:W3CDTF">2024-11-11T06:16:46Z</dcterms:created>
  <dcterms:modified xsi:type="dcterms:W3CDTF">2025-11-12T16:17:58Z</dcterms:modified>
</cp:coreProperties>
</file>