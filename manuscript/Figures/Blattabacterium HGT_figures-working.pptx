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9" r:id="rId3"/>
    <p:sldId id="262" r:id="rId4"/>
    <p:sldId id="258" r:id="rId5"/>
    <p:sldId id="257" r:id="rId6"/>
    <p:sldId id="263" r:id="rId7"/>
    <p:sldId id="268" r:id="rId8"/>
    <p:sldId id="269" r:id="rId9"/>
    <p:sldId id="271" r:id="rId10"/>
    <p:sldId id="261" r:id="rId11"/>
    <p:sldId id="270" r:id="rId12"/>
    <p:sldId id="260" r:id="rId13"/>
    <p:sldId id="264" r:id="rId14"/>
    <p:sldId id="265" r:id="rId15"/>
    <p:sldId id="266" r:id="rId16"/>
    <p:sldId id="2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5734"/>
    <p:restoredTop sz="96208"/>
  </p:normalViewPr>
  <p:slideViewPr>
    <p:cSldViewPr snapToGrid="0">
      <p:cViewPr>
        <p:scale>
          <a:sx n="150" d="100"/>
          <a:sy n="150" d="100"/>
        </p:scale>
        <p:origin x="5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FC65C6-6085-4244-82B2-63B076D03E9C}" type="datetimeFigureOut">
              <a:rPr lang="en-US" smtClean="0"/>
              <a:t>11/13/25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CB7D11-0DA4-4649-ACEB-1F19D5C36BF9}" type="slidenum">
              <a:rPr lang="en-US" smtClean="0"/>
              <a:t>‹#›</a:t>
            </a:fld>
            <a:endParaRPr lang="en-US"/>
          </a:p>
        </p:txBody>
      </p:sp>
    </p:spTree>
    <p:extLst>
      <p:ext uri="{BB962C8B-B14F-4D97-AF65-F5344CB8AC3E}">
        <p14:creationId xmlns:p14="http://schemas.microsoft.com/office/powerpoint/2010/main" val="4147835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Cladogram of taxa </a:t>
            </a:r>
            <a:r>
              <a:rPr lang="en-US" dirty="0" err="1"/>
              <a:t>analysed</a:t>
            </a:r>
            <a:r>
              <a:rPr lang="en-US" dirty="0"/>
              <a:t> for Blattabacterium HGT events</a:t>
            </a:r>
          </a:p>
          <a:p>
            <a:endParaRPr lang="en-US" dirty="0"/>
          </a:p>
          <a:p>
            <a:r>
              <a:rPr lang="en-US" dirty="0"/>
              <a:t>Nodes show divergence times (Ma) from Beasley-Hall et al (2021: for nodes internal to top 12 taxa) and Evangelista et al (2019: for nodes internal to remaining 6 taxa). One exception is value between P. lata</a:t>
            </a:r>
          </a:p>
          <a:p>
            <a:endParaRPr lang="en-US" dirty="0"/>
          </a:p>
          <a:p>
            <a:r>
              <a:rPr lang="en-US" dirty="0"/>
              <a:t>and P. cribrata, which is from Adams et al 2024. </a:t>
            </a:r>
          </a:p>
          <a:p>
            <a:endParaRPr lang="en-US" dirty="0"/>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2</a:t>
            </a:fld>
            <a:endParaRPr lang="en-US"/>
          </a:p>
        </p:txBody>
      </p:sp>
    </p:spTree>
    <p:extLst>
      <p:ext uri="{BB962C8B-B14F-4D97-AF65-F5344CB8AC3E}">
        <p14:creationId xmlns:p14="http://schemas.microsoft.com/office/powerpoint/2010/main" val="34230670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B5CCD-D693-F38E-9CF8-5D831007E2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A172F1-1942-2C2F-DEC5-636B8813E9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9E7AC47-B96C-DF39-BE46-3D1C3CEF4F03}"/>
              </a:ext>
            </a:extLst>
          </p:cNvPr>
          <p:cNvSpPr>
            <a:spLocks noGrp="1"/>
          </p:cNvSpPr>
          <p:nvPr>
            <p:ph type="body" idx="1"/>
          </p:nvPr>
        </p:nvSpPr>
        <p:spPr/>
        <p:txBody>
          <a:bodyPr/>
          <a:lstStyle/>
          <a:p>
            <a:r>
              <a:rPr lang="en-US" dirty="0"/>
              <a:t>Cladogram of taxa </a:t>
            </a:r>
            <a:r>
              <a:rPr lang="en-US" dirty="0" err="1"/>
              <a:t>analysed</a:t>
            </a:r>
            <a:r>
              <a:rPr lang="en-US" dirty="0"/>
              <a:t> for Blattabacterium HGT events</a:t>
            </a:r>
          </a:p>
          <a:p>
            <a:r>
              <a:rPr lang="en-US" dirty="0"/>
              <a:t>Nodes show divergence times (Ma) from Beasley-Hall et al (2021: for nodes internal to top 12 taxa) and Evangelista et al (2019: for nodes internal to remaining 6 taxa). One exception is value between P. lata and P. cribrata, which is from Adams et al 2024. </a:t>
            </a:r>
          </a:p>
          <a:p>
            <a:endParaRPr lang="en-US" dirty="0"/>
          </a:p>
          <a:p>
            <a:endParaRPr lang="en-US" dirty="0"/>
          </a:p>
        </p:txBody>
      </p:sp>
      <p:sp>
        <p:nvSpPr>
          <p:cNvPr id="4" name="Slide Number Placeholder 3">
            <a:extLst>
              <a:ext uri="{FF2B5EF4-FFF2-40B4-BE49-F238E27FC236}">
                <a16:creationId xmlns:a16="http://schemas.microsoft.com/office/drawing/2014/main" id="{91E251CD-9ADC-FD54-9DE6-F9DA4AED88FA}"/>
              </a:ext>
            </a:extLst>
          </p:cNvPr>
          <p:cNvSpPr>
            <a:spLocks noGrp="1"/>
          </p:cNvSpPr>
          <p:nvPr>
            <p:ph type="sldNum" sz="quarter" idx="5"/>
          </p:nvPr>
        </p:nvSpPr>
        <p:spPr/>
        <p:txBody>
          <a:bodyPr/>
          <a:lstStyle/>
          <a:p>
            <a:fld id="{AFCB7D11-0DA4-4649-ACEB-1F19D5C36BF9}" type="slidenum">
              <a:rPr lang="en-US" smtClean="0"/>
              <a:t>3</a:t>
            </a:fld>
            <a:endParaRPr lang="en-US"/>
          </a:p>
        </p:txBody>
      </p:sp>
    </p:spTree>
    <p:extLst>
      <p:ext uri="{BB962C8B-B14F-4D97-AF65-F5344CB8AC3E}">
        <p14:creationId xmlns:p14="http://schemas.microsoft.com/office/powerpoint/2010/main" val="3922232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 with “inserts_lengths_v2.R”</a:t>
            </a:r>
          </a:p>
          <a:p>
            <a:r>
              <a:rPr lang="en-US" dirty="0"/>
              <a:t>The plot starts at 50 bp, as this was the minimum. I have a maximum cutoff of 1000 bp (75 of the 41103 markers have been excluded).</a:t>
            </a:r>
          </a:p>
          <a:p>
            <a:r>
              <a:rPr lang="en-US" dirty="0"/>
              <a:t>Comment 1: I’m not sure why there are 2 peaks… I can of course fiddle around with the resolution of this graph and flatten out the 2 peaks (not to be dodgy, but just a more coarse summary of the lengths)</a:t>
            </a:r>
          </a:p>
          <a:p>
            <a:r>
              <a:rPr lang="en-US" dirty="0"/>
              <a:t>Comment 2: I’m hoping to add 2 additional curves to the plot (or as additional plots) – 1 for genic and 1 for intergenic.</a:t>
            </a:r>
          </a:p>
        </p:txBody>
      </p:sp>
      <p:sp>
        <p:nvSpPr>
          <p:cNvPr id="4" name="Slide Number Placeholder 3"/>
          <p:cNvSpPr>
            <a:spLocks noGrp="1"/>
          </p:cNvSpPr>
          <p:nvPr>
            <p:ph type="sldNum" sz="quarter" idx="5"/>
          </p:nvPr>
        </p:nvSpPr>
        <p:spPr/>
        <p:txBody>
          <a:bodyPr/>
          <a:lstStyle/>
          <a:p>
            <a:fld id="{AFCB7D11-0DA4-4649-ACEB-1F19D5C36BF9}" type="slidenum">
              <a:rPr lang="en-US" smtClean="0"/>
              <a:t>6</a:t>
            </a:fld>
            <a:endParaRPr lang="en-US"/>
          </a:p>
        </p:txBody>
      </p:sp>
    </p:spTree>
    <p:extLst>
      <p:ext uri="{BB962C8B-B14F-4D97-AF65-F5344CB8AC3E}">
        <p14:creationId xmlns:p14="http://schemas.microsoft.com/office/powerpoint/2010/main" val="23425926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Cladogram of taxa </a:t>
            </a:r>
            <a:r>
              <a:rPr lang="en-US" dirty="0" err="1"/>
              <a:t>analysed</a:t>
            </a:r>
            <a:r>
              <a:rPr lang="en-US" dirty="0"/>
              <a:t> for Blattabacterium HGT events</a:t>
            </a:r>
          </a:p>
          <a:p>
            <a:r>
              <a:rPr lang="en-US" dirty="0"/>
              <a:t>Nodes show divergence times (Ma) from Beasley-Hall et al (2021: for nodes internal to top 12 taxa) and Evangelista et al (2019: for nodes internal to remaining 6 taxa). One exception is value between P. lata and P. cribrata, which is from Adams et al 2024. </a:t>
            </a:r>
          </a:p>
          <a:p>
            <a:r>
              <a:rPr lang="en-US" dirty="0"/>
              <a:t>Comment 1: Could add numbers of genic vs intergenic to (A)</a:t>
            </a:r>
          </a:p>
          <a:p>
            <a:endParaRPr lang="en-US" dirty="0"/>
          </a:p>
          <a:p>
            <a:r>
              <a:rPr lang="en-US" dirty="0"/>
              <a:t>B. The plot starts at 50 bp, as this was the minimum. I have a maximum cutoff of 1000 bp (75 of the 41103 markers have been excluded).</a:t>
            </a:r>
          </a:p>
          <a:p>
            <a:endParaRPr lang="en-US" dirty="0"/>
          </a:p>
          <a:p>
            <a:r>
              <a:rPr lang="en-US" dirty="0"/>
              <a:t>C. Placeholder for Leo figure</a:t>
            </a:r>
          </a:p>
        </p:txBody>
      </p:sp>
      <p:sp>
        <p:nvSpPr>
          <p:cNvPr id="4" name="Slide Number Placeholder 3"/>
          <p:cNvSpPr>
            <a:spLocks noGrp="1"/>
          </p:cNvSpPr>
          <p:nvPr>
            <p:ph type="sldNum" sz="quarter" idx="5"/>
          </p:nvPr>
        </p:nvSpPr>
        <p:spPr/>
        <p:txBody>
          <a:bodyPr/>
          <a:lstStyle/>
          <a:p>
            <a:fld id="{AFCB7D11-0DA4-4649-ACEB-1F19D5C36BF9}" type="slidenum">
              <a:rPr lang="en-US" smtClean="0"/>
              <a:t>10</a:t>
            </a:fld>
            <a:endParaRPr lang="en-US"/>
          </a:p>
        </p:txBody>
      </p:sp>
    </p:spTree>
    <p:extLst>
      <p:ext uri="{BB962C8B-B14F-4D97-AF65-F5344CB8AC3E}">
        <p14:creationId xmlns:p14="http://schemas.microsoft.com/office/powerpoint/2010/main" val="25649321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lphaUcPeriod"/>
            </a:pPr>
            <a:r>
              <a:rPr lang="en-US" dirty="0"/>
              <a:t>P-</a:t>
            </a:r>
            <a:r>
              <a:rPr lang="en-US" dirty="0" err="1"/>
              <a:t>tryoni</a:t>
            </a:r>
            <a:r>
              <a:rPr lang="en-US" dirty="0"/>
              <a:t>-</a:t>
            </a:r>
            <a:r>
              <a:rPr lang="en-US" dirty="0" err="1"/>
              <a:t>tryoni</a:t>
            </a:r>
            <a:r>
              <a:rPr lang="en-US" dirty="0"/>
              <a:t>-</a:t>
            </a:r>
            <a:r>
              <a:rPr lang="en-US" dirty="0" err="1"/>
              <a:t>Eungella_ageing</a:t>
            </a:r>
            <a:r>
              <a:rPr lang="en-US" dirty="0"/>
              <a:t>-plot. BLAST %ID against Blattabacterium database - BLAST %ID against insert database </a:t>
            </a:r>
          </a:p>
          <a:p>
            <a:r>
              <a:rPr lang="en-US" dirty="0"/>
              <a:t>B. Examples of one HGT insertions used for ‘aging’ analysis. The right panel shows homology of each insertion and its 5 kb flanking regions across species: green denotes HGT inserts, blue flanking regions, with red and blue bands indicating forward and inverted homology (darker shades = higher similarity). The left phylogeny is based on Chapter 3; species lacking the insertion are shown as a dashed line. Red arrows indicate the inferred timing of HGT insertions.</a:t>
            </a:r>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12</a:t>
            </a:fld>
            <a:endParaRPr lang="en-US"/>
          </a:p>
        </p:txBody>
      </p:sp>
    </p:spTree>
    <p:extLst>
      <p:ext uri="{BB962C8B-B14F-4D97-AF65-F5344CB8AC3E}">
        <p14:creationId xmlns:p14="http://schemas.microsoft.com/office/powerpoint/2010/main" val="14278055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1" kern="1200" dirty="0">
                <a:solidFill>
                  <a:schemeClr val="tx1"/>
                </a:solidFill>
                <a:effectLst/>
                <a:latin typeface="+mn-lt"/>
                <a:ea typeface="+mn-ea"/>
                <a:cs typeface="+mn-cs"/>
              </a:rPr>
              <a:t>Figure 4.3</a:t>
            </a:r>
            <a:r>
              <a:rPr lang="en-AU" sz="1200" kern="1200" dirty="0">
                <a:solidFill>
                  <a:schemeClr val="tx1"/>
                </a:solidFill>
                <a:effectLst/>
                <a:latin typeface="+mn-lt"/>
                <a:ea typeface="+mn-ea"/>
                <a:cs typeface="+mn-cs"/>
              </a:rPr>
              <a:t>. Examples of two HGT insertions used for ‘aging’ analysis. The right panel shows homology of each insertion and its 5 kb flanking regions across species: green denotes HGT inserts, blue flanking regions, with red and blue bands indicating forward and inverted homology (darker shades = higher similarity). The left phylogeny is based on Chapter 3; species lacking the insertion are shown as a dashed line. Red arrows indicate the inferred timing of HGT insertions.</a:t>
            </a:r>
            <a:endParaRPr lang="en-GB"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13</a:t>
            </a:fld>
            <a:endParaRPr lang="en-US"/>
          </a:p>
        </p:txBody>
      </p:sp>
    </p:spTree>
    <p:extLst>
      <p:ext uri="{BB962C8B-B14F-4D97-AF65-F5344CB8AC3E}">
        <p14:creationId xmlns:p14="http://schemas.microsoft.com/office/powerpoint/2010/main" val="5783563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a chimeric HGT insertion from P. tryoni tegminifera. The top sequence is divided into seven segments, while the circular map below represents the source genome of Blattabacterium cuenoti (CP142624.1). Numbers below the insertion indicate the corresponding genomic positions, with yellow labels marking specific coordinates.</a:t>
            </a:r>
          </a:p>
        </p:txBody>
      </p:sp>
      <p:sp>
        <p:nvSpPr>
          <p:cNvPr id="4" name="Slide Number Placeholder 3"/>
          <p:cNvSpPr>
            <a:spLocks noGrp="1"/>
          </p:cNvSpPr>
          <p:nvPr>
            <p:ph type="sldNum" sz="quarter" idx="5"/>
          </p:nvPr>
        </p:nvSpPr>
        <p:spPr/>
        <p:txBody>
          <a:bodyPr/>
          <a:lstStyle/>
          <a:p>
            <a:fld id="{AFCB7D11-0DA4-4649-ACEB-1F19D5C36BF9}" type="slidenum">
              <a:rPr lang="en-US" smtClean="0"/>
              <a:t>14</a:t>
            </a:fld>
            <a:endParaRPr lang="en-US"/>
          </a:p>
        </p:txBody>
      </p:sp>
    </p:spTree>
    <p:extLst>
      <p:ext uri="{BB962C8B-B14F-4D97-AF65-F5344CB8AC3E}">
        <p14:creationId xmlns:p14="http://schemas.microsoft.com/office/powerpoint/2010/main" val="2973060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a chimeric HGT insertion from P. tryoni tegminifera. The top sequence is divided into seven segments, while the circular map below represents the source genome of Blattabacterium cuenoti (CP142624.1). Numbers below the insertion indicate the corresponding genomic positions, with yellow labels marking specific coordinates.</a:t>
            </a:r>
          </a:p>
        </p:txBody>
      </p:sp>
      <p:sp>
        <p:nvSpPr>
          <p:cNvPr id="4" name="Slide Number Placeholder 3"/>
          <p:cNvSpPr>
            <a:spLocks noGrp="1"/>
          </p:cNvSpPr>
          <p:nvPr>
            <p:ph type="sldNum" sz="quarter" idx="5"/>
          </p:nvPr>
        </p:nvSpPr>
        <p:spPr/>
        <p:txBody>
          <a:bodyPr/>
          <a:lstStyle/>
          <a:p>
            <a:fld id="{AFCB7D11-0DA4-4649-ACEB-1F19D5C36BF9}" type="slidenum">
              <a:rPr lang="en-US" smtClean="0"/>
              <a:t>16</a:t>
            </a:fld>
            <a:endParaRPr lang="en-US"/>
          </a:p>
        </p:txBody>
      </p:sp>
    </p:spTree>
    <p:extLst>
      <p:ext uri="{BB962C8B-B14F-4D97-AF65-F5344CB8AC3E}">
        <p14:creationId xmlns:p14="http://schemas.microsoft.com/office/powerpoint/2010/main" val="1015573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CC5EA-9DAF-AACF-1419-D291D7841F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D690EB-E812-B4F0-B1CE-A583D74FBC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A0C1FCF-86FC-EF8D-0AED-8292E36D58A2}"/>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5" name="Footer Placeholder 4">
            <a:extLst>
              <a:ext uri="{FF2B5EF4-FFF2-40B4-BE49-F238E27FC236}">
                <a16:creationId xmlns:a16="http://schemas.microsoft.com/office/drawing/2014/main" id="{5B14A176-F829-9DB0-1F40-2CF211CB5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E10B39-EED2-0D52-DEC5-885DA181508D}"/>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653709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94C15-87D6-5517-7322-4CAEB0B5DD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932308-FDA6-D4EB-EAA8-19EFCD82157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91826C-7B89-5DEE-F845-91CD47468630}"/>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5" name="Footer Placeholder 4">
            <a:extLst>
              <a:ext uri="{FF2B5EF4-FFF2-40B4-BE49-F238E27FC236}">
                <a16:creationId xmlns:a16="http://schemas.microsoft.com/office/drawing/2014/main" id="{848AD301-8AA6-4C75-F896-3E846BDF0D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0D0F58-43CF-A605-C912-456A54EA35DC}"/>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4044350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E9AA1-E19D-B7D4-A9A4-705363ADF9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21B5B83-3459-3069-8A0B-2DC0A6C784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B6C11A-14DE-19C9-95EC-1A566AD492E2}"/>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5" name="Footer Placeholder 4">
            <a:extLst>
              <a:ext uri="{FF2B5EF4-FFF2-40B4-BE49-F238E27FC236}">
                <a16:creationId xmlns:a16="http://schemas.microsoft.com/office/drawing/2014/main" id="{1A36D86E-3FEE-E4D8-F386-AEDCCBC0B3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AAD0D9-3497-F134-E3FF-D101AF6F45B1}"/>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1518669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4423-50A9-B9A4-3E32-8D3607F450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6FAA479-5A6C-FAF4-D983-3C069A803D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B3A145-79E5-4E3C-A332-A677BD5767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C156CF7-5A57-6614-9813-FF9881840CED}"/>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6" name="Footer Placeholder 5">
            <a:extLst>
              <a:ext uri="{FF2B5EF4-FFF2-40B4-BE49-F238E27FC236}">
                <a16:creationId xmlns:a16="http://schemas.microsoft.com/office/drawing/2014/main" id="{26A84C2E-C279-85A2-C82D-B0BC502B2C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AB0653-ED73-B419-CC3A-23B285B200B9}"/>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1066899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400D-166D-B5AA-9FF3-3A8CE554E4D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AC418B-14A9-BA41-645E-F99A02F499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2DB0B2-619E-3DB9-EEE3-0FCBCDABF8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72FFD0B-53B5-13CF-0FD6-DDB4BA289D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800C3F-2A1D-A814-8CCA-6371E85A1C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795A93-EEA0-E73E-87AB-A74BCB0F33BE}"/>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8" name="Footer Placeholder 7">
            <a:extLst>
              <a:ext uri="{FF2B5EF4-FFF2-40B4-BE49-F238E27FC236}">
                <a16:creationId xmlns:a16="http://schemas.microsoft.com/office/drawing/2014/main" id="{4AF27BBD-591A-0366-07AF-27EF72C6FBD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1C6C555-AFB5-6E47-0CD5-BC74D714A6E2}"/>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33060877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BEA2B-40CA-A90A-CB7B-F94FA283790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9723E47-7F34-EDD9-7C3F-5B8099150FD7}"/>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4" name="Footer Placeholder 3">
            <a:extLst>
              <a:ext uri="{FF2B5EF4-FFF2-40B4-BE49-F238E27FC236}">
                <a16:creationId xmlns:a16="http://schemas.microsoft.com/office/drawing/2014/main" id="{C2304B3A-74E2-3B93-CE16-99C7585A934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A53F696-6E74-D5D0-FA3A-76A1A4ADC825}"/>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3004343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EB77A33-D20C-BA98-E24C-8B1692DFFABC}"/>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3" name="Footer Placeholder 2">
            <a:extLst>
              <a:ext uri="{FF2B5EF4-FFF2-40B4-BE49-F238E27FC236}">
                <a16:creationId xmlns:a16="http://schemas.microsoft.com/office/drawing/2014/main" id="{6548135E-5E12-1699-8169-7C5D4DA49A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3D3938F-0AD3-A238-2272-583E413418DE}"/>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2039351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743DE-F253-B27C-3FFD-7E2C0E1181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D826A8C-EB72-A207-A81A-94F3732FD9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8A68EB-88DD-0D87-E861-BBF40E326A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8065729-D340-0C4A-1343-FB7A167BDAEE}"/>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6" name="Footer Placeholder 5">
            <a:extLst>
              <a:ext uri="{FF2B5EF4-FFF2-40B4-BE49-F238E27FC236}">
                <a16:creationId xmlns:a16="http://schemas.microsoft.com/office/drawing/2014/main" id="{9D0DD2EE-414A-26FA-3915-CA0E7DD9F5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F21F5A-3E33-2EBC-3F2B-1DF7E8BDFB10}"/>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5680687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0A6469-AF0C-9074-6512-0C76C497D31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6F76899-896C-1C8C-2778-371DFBD28D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44279B2-77F2-8F27-788C-05534D27C9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5C8051-4015-A29D-A713-0FC3F5B3030A}"/>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6" name="Footer Placeholder 5">
            <a:extLst>
              <a:ext uri="{FF2B5EF4-FFF2-40B4-BE49-F238E27FC236}">
                <a16:creationId xmlns:a16="http://schemas.microsoft.com/office/drawing/2014/main" id="{135E2AD8-74A7-04D1-D844-0A538F307D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02AA30-2D86-08CD-2F85-BC80348B8D8E}"/>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13371765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0D734-0B25-BDAD-29CD-89F2EEC3240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D7769AA-441D-62A6-3FFF-0CD509FE7E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5AA11F-4464-A3C1-00AA-769B190C544D}"/>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5" name="Footer Placeholder 4">
            <a:extLst>
              <a:ext uri="{FF2B5EF4-FFF2-40B4-BE49-F238E27FC236}">
                <a16:creationId xmlns:a16="http://schemas.microsoft.com/office/drawing/2014/main" id="{2E199A28-534F-A589-3EA3-485A79B5FA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C547CE-174A-02B6-E01D-3CBF430137CD}"/>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9110715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B78D49-CA24-C4D0-316D-854CF4E5B1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99FE7A1-648A-573E-A0BE-5745DD0548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65EDDD-0066-2E3E-9C69-D6B4FA2D9EE7}"/>
              </a:ext>
            </a:extLst>
          </p:cNvPr>
          <p:cNvSpPr>
            <a:spLocks noGrp="1"/>
          </p:cNvSpPr>
          <p:nvPr>
            <p:ph type="dt" sz="half" idx="10"/>
          </p:nvPr>
        </p:nvSpPr>
        <p:spPr/>
        <p:txBody>
          <a:bodyPr/>
          <a:lstStyle/>
          <a:p>
            <a:fld id="{C2B98897-90D8-9D4D-95EE-51EF37A9743C}" type="datetimeFigureOut">
              <a:rPr lang="en-US" smtClean="0"/>
              <a:t>11/13/25</a:t>
            </a:fld>
            <a:endParaRPr lang="en-US"/>
          </a:p>
        </p:txBody>
      </p:sp>
      <p:sp>
        <p:nvSpPr>
          <p:cNvPr id="5" name="Footer Placeholder 4">
            <a:extLst>
              <a:ext uri="{FF2B5EF4-FFF2-40B4-BE49-F238E27FC236}">
                <a16:creationId xmlns:a16="http://schemas.microsoft.com/office/drawing/2014/main" id="{F15F3DDE-1D62-0B8E-A46E-0BF312D442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4931A7-F7FF-8FC4-F38D-2D112B984C4C}"/>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4227331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390DF2-9748-CC0D-92B9-628A4AA393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D22E95-AB9C-AE09-C66A-B5488E2BDF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EC2841-62F8-FB86-5B13-3E2561FC46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B98897-90D8-9D4D-95EE-51EF37A9743C}" type="datetimeFigureOut">
              <a:rPr lang="en-US" smtClean="0"/>
              <a:t>11/13/25</a:t>
            </a:fld>
            <a:endParaRPr lang="en-US"/>
          </a:p>
        </p:txBody>
      </p:sp>
      <p:sp>
        <p:nvSpPr>
          <p:cNvPr id="5" name="Footer Placeholder 4">
            <a:extLst>
              <a:ext uri="{FF2B5EF4-FFF2-40B4-BE49-F238E27FC236}">
                <a16:creationId xmlns:a16="http://schemas.microsoft.com/office/drawing/2014/main" id="{A4C7C055-237F-6071-E858-D3F12514D9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B04C4F8-BEC6-644B-A400-0E608084B3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F6C30A1-0BE9-3241-A452-4C1F7161A2A6}" type="slidenum">
              <a:rPr lang="en-US" smtClean="0"/>
              <a:t>‹#›</a:t>
            </a:fld>
            <a:endParaRPr lang="en-US"/>
          </a:p>
        </p:txBody>
      </p:sp>
    </p:spTree>
    <p:extLst>
      <p:ext uri="{BB962C8B-B14F-4D97-AF65-F5344CB8AC3E}">
        <p14:creationId xmlns:p14="http://schemas.microsoft.com/office/powerpoint/2010/main" val="1561312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836DD86-B9DF-36C9-A98F-CA5E1FB96A50}"/>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 </a:t>
            </a:r>
            <a:r>
              <a:rPr lang="en-US" sz="1400" dirty="0">
                <a:latin typeface="Arial" panose="020B0604020202020204" pitchFamily="34" charset="0"/>
                <a:cs typeface="Arial" panose="020B0604020202020204" pitchFamily="34" charset="0"/>
              </a:rPr>
              <a:t>Z004 (</a:t>
            </a:r>
            <a:r>
              <a:rPr lang="en-US" sz="1400" dirty="0" err="1">
                <a:latin typeface="Arial" panose="020B0604020202020204" pitchFamily="34" charset="0"/>
                <a:cs typeface="Arial" panose="020B0604020202020204" pitchFamily="34" charset="0"/>
              </a:rPr>
              <a:t>Murgon</a:t>
            </a:r>
            <a:r>
              <a:rPr lang="en-US" sz="1400" dirty="0">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685EC0A9-B9BD-963F-C5A6-E62991557B95}"/>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Z005</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FEB833C6-5059-3F2B-0656-649BB2D62B48}"/>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gigantea </a:t>
            </a:r>
            <a:r>
              <a:rPr lang="en-US" sz="1400" dirty="0">
                <a:latin typeface="Arial" panose="020B0604020202020204" pitchFamily="34" charset="0"/>
                <a:cs typeface="Arial" panose="020B0604020202020204" pitchFamily="34" charset="0"/>
              </a:rPr>
              <a:t>Z020</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(location TBD)</a:t>
            </a:r>
          </a:p>
        </p:txBody>
      </p:sp>
      <p:sp>
        <p:nvSpPr>
          <p:cNvPr id="13" name="TextBox 12">
            <a:extLst>
              <a:ext uri="{FF2B5EF4-FFF2-40B4-BE49-F238E27FC236}">
                <a16:creationId xmlns:a16="http://schemas.microsoft.com/office/drawing/2014/main" id="{096740E5-743E-5429-BBA3-695337967929}"/>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 </a:t>
            </a:r>
            <a:r>
              <a:rPr lang="en-US" sz="1400" dirty="0">
                <a:latin typeface="Arial" panose="020B0604020202020204" pitchFamily="34" charset="0"/>
                <a:cs typeface="Arial" panose="020B0604020202020204" pitchFamily="34" charset="0"/>
              </a:rPr>
              <a:t>Z011 (Washpool)</a:t>
            </a:r>
          </a:p>
        </p:txBody>
      </p:sp>
      <p:sp>
        <p:nvSpPr>
          <p:cNvPr id="14" name="TextBox 13">
            <a:extLst>
              <a:ext uri="{FF2B5EF4-FFF2-40B4-BE49-F238E27FC236}">
                <a16:creationId xmlns:a16="http://schemas.microsoft.com/office/drawing/2014/main" id="{10F5AD9C-C18A-14DD-6E16-FC6090ABF16E}"/>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 </a:t>
            </a:r>
            <a:r>
              <a:rPr lang="en-US" sz="1400" dirty="0">
                <a:latin typeface="Arial" panose="020B0604020202020204" pitchFamily="34" charset="0"/>
                <a:cs typeface="Arial" panose="020B0604020202020204" pitchFamily="34" charset="0"/>
              </a:rPr>
              <a:t>Z014 (location TBD)</a:t>
            </a:r>
          </a:p>
        </p:txBody>
      </p:sp>
      <p:sp>
        <p:nvSpPr>
          <p:cNvPr id="15" name="TextBox 14">
            <a:extLst>
              <a:ext uri="{FF2B5EF4-FFF2-40B4-BE49-F238E27FC236}">
                <a16:creationId xmlns:a16="http://schemas.microsoft.com/office/drawing/2014/main" id="{817760B7-E7B6-A6CC-CB23-02C2A3B68B86}"/>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Z012 (Eungella)</a:t>
            </a:r>
          </a:p>
        </p:txBody>
      </p:sp>
      <p:sp>
        <p:nvSpPr>
          <p:cNvPr id="17" name="TextBox 16">
            <a:extLst>
              <a:ext uri="{FF2B5EF4-FFF2-40B4-BE49-F238E27FC236}">
                <a16:creationId xmlns:a16="http://schemas.microsoft.com/office/drawing/2014/main" id="{BE564D44-043D-94C7-F6C3-1DEF21E8E660}"/>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 </a:t>
            </a:r>
            <a:r>
              <a:rPr lang="en-US" sz="1400" dirty="0">
                <a:latin typeface="Arial" panose="020B0604020202020204" pitchFamily="34" charset="0"/>
                <a:cs typeface="Arial" panose="020B0604020202020204" pitchFamily="34" charset="0"/>
              </a:rPr>
              <a:t>(</a:t>
            </a:r>
            <a:r>
              <a:rPr lang="en-US" sz="1400" dirty="0" err="1">
                <a:latin typeface="Arial" panose="020B0604020202020204" pitchFamily="34" charset="0"/>
                <a:cs typeface="Arial" panose="020B0604020202020204" pitchFamily="34" charset="0"/>
              </a:rPr>
              <a:t>Gilgandra</a:t>
            </a:r>
            <a:r>
              <a:rPr lang="en-US" sz="1400" dirty="0">
                <a:latin typeface="Arial" panose="020B0604020202020204" pitchFamily="34" charset="0"/>
                <a:cs typeface="Arial" panose="020B0604020202020204" pitchFamily="34" charset="0"/>
              </a:rPr>
              <a:t>)</a:t>
            </a:r>
          </a:p>
        </p:txBody>
      </p:sp>
      <p:sp>
        <p:nvSpPr>
          <p:cNvPr id="18" name="TextBox 17">
            <a:extLst>
              <a:ext uri="{FF2B5EF4-FFF2-40B4-BE49-F238E27FC236}">
                <a16:creationId xmlns:a16="http://schemas.microsoft.com/office/drawing/2014/main" id="{D39F0262-3654-66DD-1C1E-3D0830C06A7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 </a:t>
            </a:r>
            <a:r>
              <a:rPr lang="en-US" sz="1400" dirty="0">
                <a:latin typeface="Arial" panose="020B0604020202020204" pitchFamily="34" charset="0"/>
                <a:cs typeface="Arial" panose="020B0604020202020204" pitchFamily="34" charset="0"/>
              </a:rPr>
              <a:t>Z001</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(Mt Baldy)</a:t>
            </a:r>
          </a:p>
        </p:txBody>
      </p:sp>
      <p:sp>
        <p:nvSpPr>
          <p:cNvPr id="19" name="TextBox 18">
            <a:extLst>
              <a:ext uri="{FF2B5EF4-FFF2-40B4-BE49-F238E27FC236}">
                <a16:creationId xmlns:a16="http://schemas.microsoft.com/office/drawing/2014/main" id="{15F0AD8B-8964-B84F-96E9-2261FEEA69BE}"/>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 </a:t>
            </a:r>
            <a:r>
              <a:rPr lang="en-US" sz="1400" dirty="0">
                <a:latin typeface="Arial" panose="020B0604020202020204" pitchFamily="34" charset="0"/>
                <a:cs typeface="Arial" panose="020B0604020202020204" pitchFamily="34" charset="0"/>
              </a:rPr>
              <a:t>(Mt Molloy)</a:t>
            </a:r>
          </a:p>
        </p:txBody>
      </p:sp>
      <p:sp>
        <p:nvSpPr>
          <p:cNvPr id="20" name="TextBox 19">
            <a:extLst>
              <a:ext uri="{FF2B5EF4-FFF2-40B4-BE49-F238E27FC236}">
                <a16:creationId xmlns:a16="http://schemas.microsoft.com/office/drawing/2014/main" id="{82CB6B5D-5983-112E-8D51-3581BE2E0683}"/>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 </a:t>
            </a:r>
            <a:r>
              <a:rPr lang="en-US" sz="1400" dirty="0">
                <a:latin typeface="Arial" panose="020B0604020202020204" pitchFamily="34" charset="0"/>
                <a:cs typeface="Arial" panose="020B0604020202020204" pitchFamily="34" charset="0"/>
              </a:rPr>
              <a:t>M001</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(Lord Howe Island)</a:t>
            </a:r>
          </a:p>
        </p:txBody>
      </p:sp>
      <p:sp>
        <p:nvSpPr>
          <p:cNvPr id="21" name="TextBox 20">
            <a:extLst>
              <a:ext uri="{FF2B5EF4-FFF2-40B4-BE49-F238E27FC236}">
                <a16:creationId xmlns:a16="http://schemas.microsoft.com/office/drawing/2014/main" id="{FCEC9C75-BCC4-4F7F-6F62-1CF25357A90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 </a:t>
            </a:r>
            <a:r>
              <a:rPr lang="en-US" sz="1400" dirty="0">
                <a:latin typeface="Arial" panose="020B0604020202020204" pitchFamily="34" charset="0"/>
                <a:cs typeface="Arial" panose="020B0604020202020204" pitchFamily="34" charset="0"/>
              </a:rPr>
              <a:t>(North Manly)</a:t>
            </a:r>
          </a:p>
        </p:txBody>
      </p:sp>
      <p:sp>
        <p:nvSpPr>
          <p:cNvPr id="22" name="TextBox 21">
            <a:extLst>
              <a:ext uri="{FF2B5EF4-FFF2-40B4-BE49-F238E27FC236}">
                <a16:creationId xmlns:a16="http://schemas.microsoft.com/office/drawing/2014/main" id="{57CB6A99-6B82-8092-E383-80A2B09639C6}"/>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28B647CD-7360-2693-9879-0191701FE355}"/>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7F774CDA-2EB5-1A9F-0EE1-84B0F338E848}"/>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2A4EB622-B3AA-5B0D-366F-31EC8D2C1CB9}"/>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B4480A82-EF6D-319E-1593-C6D1CB86013C}"/>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94FF59-47EB-CB15-6976-165828DFD83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B26547CA-71D1-6886-0C25-B7C568AE066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BEC0EF28-979B-A325-8EF5-2B8B7233AB03}"/>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2AFD39-E062-0327-60C0-F2E3CF01D924}"/>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0BB347D-BC4E-BCE2-3003-14AB1293F5FB}"/>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1EE4A04-0AD1-3FFA-73FD-35E40215007A}"/>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51A284F-D12D-72B4-03C2-5080BAF0D390}"/>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F9DC3AF-162E-2E3F-9A7F-1411BA44DF34}"/>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09F4B79F-5516-BEDC-F3E2-4B0970DC5272}"/>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8E464AB-0C35-26A0-8F2C-8E556D6BFD02}"/>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0FF1D81-4360-3F84-3DAF-D419ECBC0138}"/>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4DD19CB-F4D7-0B3C-80FC-DC20B48FA646}"/>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48D676EA-4B4E-2412-A8EE-E31F19D83A4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2BD446E-FADC-A4E0-C092-817AAD48CEF1}"/>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CF9093DC-3D88-C855-C957-B287579F821F}"/>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1609972-DE50-51F8-D08D-392401806B7C}"/>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76F46BB5-826D-E702-24A5-8F66D2F89E87}"/>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771BCD0-F7CE-9EEB-6846-49F9866014A2}"/>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0634F2E-ABC4-1387-E3C1-3ADFBDB69D87}"/>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41CB6D0-DF9D-C0C2-6593-C2536D00B09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8FAC41C-615E-9A97-2E08-134AE68ABF9E}"/>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7D43172-B944-DF61-7AE0-EABF62F9ED59}"/>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BC36FF4A-164D-5627-D50A-16FD2C519317}"/>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E435C8FB-DC79-6634-2F94-B51B10DBA040}"/>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2B7B06D-09C7-F07B-8F08-4845A8F9F37A}"/>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BA1BA2D-A026-D535-ACE9-F88774FC17D5}"/>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702F7CA6-C30A-2736-8139-446CCFE792C6}"/>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0B4BC79-6D06-931F-79C3-CC53482DF973}"/>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A4AC5993-92EA-B716-6AD6-28691C19AACE}"/>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C17F5E15-7D22-FC85-663F-5F8E38234C7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404950D-1D25-E336-A20E-524FDF884E5D}"/>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F2063E2C-C3CB-730E-7B36-D7AB54ECEE57}"/>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DD71891-6A15-7877-8A6C-09F1DB597682}"/>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357020FE-85EF-F134-AF78-9CF3837A95E9}"/>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5F7048F2-19EC-B963-A9F3-EB8770954137}"/>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3AD06155-6E2D-D8F1-D1A8-EB74A306C7AD}"/>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AB16C56B-E46B-BC0E-8C75-D22EBDD4DBDB}"/>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D2F9639B-8589-0084-4BAB-BB29A8D66B12}"/>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1474AF74-865C-DEE2-A374-01251A4416D8}"/>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CFD81DDE-CD97-878C-B298-5A162696F8DB}"/>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DE57728D-04DE-0987-5245-C2A8D9F733A4}"/>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304B9634-BDB8-B137-B404-F1942C836A75}"/>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71F5DCE3-8768-DFE2-6F19-54519C387E2F}"/>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5CBC75E-3CD8-8E7A-118E-286EFEDA63F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1D278E5-6C0C-EB8C-1BF2-B7603E3547DA}"/>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36C4EB4-C78B-22A1-4E53-72B620B7E145}"/>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79538B3-F42F-BFCD-E1D4-4C515262C169}"/>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0E79C8B-2315-6E07-8204-ACEF3EDA95B6}"/>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3684046-E32F-8066-8337-52CF82A91F7F}"/>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1635BDDC-03E0-94B7-6BA7-083DA9CA0E08}"/>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9746A96F-4B32-9DFA-196C-19CD864CA964}"/>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24314760-2F49-D9B2-A82A-2F86248E0347}"/>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FE1773A-A3F9-7385-20E7-4D068293FFD7}"/>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51A0027-F4C3-1FC6-3B52-1D6C1D0143CB}"/>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630C6443-0896-4C49-73E9-F75271C8BA4B}"/>
              </a:ext>
            </a:extLst>
          </p:cNvPr>
          <p:cNvSpPr txBox="1"/>
          <p:nvPr/>
        </p:nvSpPr>
        <p:spPr>
          <a:xfrm>
            <a:off x="9533551" y="226381"/>
            <a:ext cx="2021644"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Number of HGT inserts</a:t>
            </a:r>
          </a:p>
        </p:txBody>
      </p:sp>
      <p:sp>
        <p:nvSpPr>
          <p:cNvPr id="113" name="TextBox 112">
            <a:extLst>
              <a:ext uri="{FF2B5EF4-FFF2-40B4-BE49-F238E27FC236}">
                <a16:creationId xmlns:a16="http://schemas.microsoft.com/office/drawing/2014/main" id="{8B4ACE0D-344D-95A1-95D1-F601362B0758}"/>
              </a:ext>
            </a:extLst>
          </p:cNvPr>
          <p:cNvSpPr txBox="1"/>
          <p:nvPr/>
        </p:nvSpPr>
        <p:spPr>
          <a:xfrm>
            <a:off x="202979" y="669612"/>
            <a:ext cx="2764481" cy="156966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Nodes show divergence times (Ma) from Beasley-Hall et al (2021: for nodes internal to top 12 taxa) and Evangelista et al (2019: for nodes internal to remaining 6 taxa). One exception is value between </a:t>
            </a:r>
            <a:r>
              <a:rPr lang="en-US" sz="1200" i="1" dirty="0">
                <a:latin typeface="Arial" panose="020B0604020202020204" pitchFamily="34" charset="0"/>
                <a:cs typeface="Arial" panose="020B0604020202020204" pitchFamily="34" charset="0"/>
              </a:rPr>
              <a:t>P. lata</a:t>
            </a:r>
          </a:p>
          <a:p>
            <a:r>
              <a:rPr lang="en-US" sz="1200" dirty="0">
                <a:latin typeface="Arial" panose="020B0604020202020204" pitchFamily="34" charset="0"/>
                <a:cs typeface="Arial" panose="020B0604020202020204" pitchFamily="34" charset="0"/>
              </a:rPr>
              <a:t>and </a:t>
            </a:r>
            <a:r>
              <a:rPr lang="en-US" sz="1200" i="1" dirty="0">
                <a:latin typeface="Arial" panose="020B0604020202020204" pitchFamily="34" charset="0"/>
                <a:cs typeface="Arial" panose="020B0604020202020204" pitchFamily="34" charset="0"/>
              </a:rPr>
              <a:t>P. cribrata</a:t>
            </a:r>
            <a:r>
              <a:rPr lang="en-US" sz="1200" dirty="0">
                <a:latin typeface="Arial" panose="020B0604020202020204" pitchFamily="34" charset="0"/>
                <a:cs typeface="Arial" panose="020B0604020202020204" pitchFamily="34" charset="0"/>
              </a:rPr>
              <a:t>, which is from Adams et al 2024. </a:t>
            </a:r>
          </a:p>
        </p:txBody>
      </p:sp>
      <p:sp>
        <p:nvSpPr>
          <p:cNvPr id="114" name="TextBox 113">
            <a:extLst>
              <a:ext uri="{FF2B5EF4-FFF2-40B4-BE49-F238E27FC236}">
                <a16:creationId xmlns:a16="http://schemas.microsoft.com/office/drawing/2014/main" id="{8112926F-DA14-AC98-06EF-6990303FCF8D}"/>
              </a:ext>
            </a:extLst>
          </p:cNvPr>
          <p:cNvSpPr txBox="1"/>
          <p:nvPr/>
        </p:nvSpPr>
        <p:spPr>
          <a:xfrm>
            <a:off x="518565" y="4962481"/>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80D04FB6-51C1-8BCF-FAD1-2A973594404A}"/>
              </a:ext>
            </a:extLst>
          </p:cNvPr>
          <p:cNvSpPr txBox="1"/>
          <p:nvPr/>
        </p:nvSpPr>
        <p:spPr>
          <a:xfrm>
            <a:off x="2735087" y="5896332"/>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560ABBCE-4D37-D9C0-DCAB-F4E4092D4E33}"/>
              </a:ext>
            </a:extLst>
          </p:cNvPr>
          <p:cNvSpPr txBox="1"/>
          <p:nvPr/>
        </p:nvSpPr>
        <p:spPr>
          <a:xfrm>
            <a:off x="3788875" y="5311574"/>
            <a:ext cx="44114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BA3EB86E-713D-689B-FDC9-AB53D1AC3B3D}"/>
              </a:ext>
            </a:extLst>
          </p:cNvPr>
          <p:cNvSpPr txBox="1"/>
          <p:nvPr/>
        </p:nvSpPr>
        <p:spPr>
          <a:xfrm>
            <a:off x="3225717" y="5617493"/>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ACF48875-1ECD-1930-C408-D1A9FA508EE8}"/>
              </a:ext>
            </a:extLst>
          </p:cNvPr>
          <p:cNvSpPr txBox="1"/>
          <p:nvPr/>
        </p:nvSpPr>
        <p:spPr>
          <a:xfrm>
            <a:off x="4249207" y="5048861"/>
            <a:ext cx="44114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F8DBAF0C-DE1B-5940-1730-CECA87CE20F3}"/>
              </a:ext>
            </a:extLst>
          </p:cNvPr>
          <p:cNvSpPr txBox="1"/>
          <p:nvPr/>
        </p:nvSpPr>
        <p:spPr>
          <a:xfrm>
            <a:off x="924853" y="4058527"/>
            <a:ext cx="569387" cy="369332"/>
          </a:xfrm>
          <a:prstGeom prst="rect">
            <a:avLst/>
          </a:prstGeom>
          <a:noFill/>
        </p:spPr>
        <p:txBody>
          <a:bodyPr wrap="none" rtlCol="0">
            <a:spAutoFit/>
          </a:bodyPr>
          <a:lstStyle/>
          <a:p>
            <a:r>
              <a:rPr lang="en-US">
                <a:latin typeface="Arial" panose="020B0604020202020204" pitchFamily="34" charset="0"/>
                <a:cs typeface="Arial" panose="020B0604020202020204" pitchFamily="34" charset="0"/>
              </a:rPr>
              <a:t>145</a:t>
            </a:r>
            <a:endParaRPr lang="en-US" dirty="0">
              <a:latin typeface="Arial" panose="020B0604020202020204" pitchFamily="34" charset="0"/>
              <a:cs typeface="Arial" panose="020B0604020202020204" pitchFamily="34" charset="0"/>
            </a:endParaRPr>
          </a:p>
        </p:txBody>
      </p:sp>
      <p:sp>
        <p:nvSpPr>
          <p:cNvPr id="120" name="TextBox 119">
            <a:extLst>
              <a:ext uri="{FF2B5EF4-FFF2-40B4-BE49-F238E27FC236}">
                <a16:creationId xmlns:a16="http://schemas.microsoft.com/office/drawing/2014/main" id="{5D4F1E75-FE1A-B5AE-4A29-EE9E22E56670}"/>
              </a:ext>
            </a:extLst>
          </p:cNvPr>
          <p:cNvSpPr txBox="1"/>
          <p:nvPr/>
        </p:nvSpPr>
        <p:spPr>
          <a:xfrm>
            <a:off x="1240558" y="3625546"/>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42EB31E3-F3A2-193E-E951-57CD17B1D19A}"/>
              </a:ext>
            </a:extLst>
          </p:cNvPr>
          <p:cNvSpPr txBox="1"/>
          <p:nvPr/>
        </p:nvSpPr>
        <p:spPr>
          <a:xfrm>
            <a:off x="1704005" y="3071084"/>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5E1F08CF-B2EC-5AAD-46A7-3DF09BB2E71E}"/>
              </a:ext>
            </a:extLst>
          </p:cNvPr>
          <p:cNvSpPr txBox="1"/>
          <p:nvPr/>
        </p:nvSpPr>
        <p:spPr>
          <a:xfrm>
            <a:off x="2167252" y="2468599"/>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767B46F5-F5BC-6F41-7DE8-51BF156964F2}"/>
              </a:ext>
            </a:extLst>
          </p:cNvPr>
          <p:cNvSpPr txBox="1"/>
          <p:nvPr/>
        </p:nvSpPr>
        <p:spPr>
          <a:xfrm>
            <a:off x="3897845" y="2979995"/>
            <a:ext cx="1015279"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35830280-30EE-CDCD-DC54-E266E4F845BA}"/>
              </a:ext>
            </a:extLst>
          </p:cNvPr>
          <p:cNvSpPr txBox="1"/>
          <p:nvPr/>
        </p:nvSpPr>
        <p:spPr>
          <a:xfrm>
            <a:off x="2627323" y="1967415"/>
            <a:ext cx="946010"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9B6760DB-3A75-08BC-0811-66EF473E2A03}"/>
              </a:ext>
            </a:extLst>
          </p:cNvPr>
          <p:cNvSpPr txBox="1"/>
          <p:nvPr/>
        </p:nvSpPr>
        <p:spPr>
          <a:xfrm>
            <a:off x="3046635" y="1416298"/>
            <a:ext cx="848111"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007731A2-076A-D072-05B2-9021E0300168}"/>
              </a:ext>
            </a:extLst>
          </p:cNvPr>
          <p:cNvSpPr txBox="1"/>
          <p:nvPr/>
        </p:nvSpPr>
        <p:spPr>
          <a:xfrm>
            <a:off x="3903836" y="1948261"/>
            <a:ext cx="914487"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D6F1794A-4466-00E7-27F9-25EEE6AFF812}"/>
              </a:ext>
            </a:extLst>
          </p:cNvPr>
          <p:cNvSpPr txBox="1"/>
          <p:nvPr/>
        </p:nvSpPr>
        <p:spPr>
          <a:xfrm>
            <a:off x="4132940" y="1272527"/>
            <a:ext cx="794253"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506C3FF6-BBE2-2617-F185-86A592661691}"/>
              </a:ext>
            </a:extLst>
          </p:cNvPr>
          <p:cNvSpPr txBox="1"/>
          <p:nvPr/>
        </p:nvSpPr>
        <p:spPr>
          <a:xfrm>
            <a:off x="4110248" y="614046"/>
            <a:ext cx="899536"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56CBF744-6F90-77DF-92DB-750E7F4E6A0A}"/>
              </a:ext>
            </a:extLst>
          </p:cNvPr>
          <p:cNvSpPr txBox="1"/>
          <p:nvPr/>
        </p:nvSpPr>
        <p:spPr>
          <a:xfrm>
            <a:off x="3447118" y="916436"/>
            <a:ext cx="777088"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12.73</a:t>
            </a:r>
          </a:p>
        </p:txBody>
      </p:sp>
      <p:sp>
        <p:nvSpPr>
          <p:cNvPr id="131" name="TextBox 130">
            <a:extLst>
              <a:ext uri="{FF2B5EF4-FFF2-40B4-BE49-F238E27FC236}">
                <a16:creationId xmlns:a16="http://schemas.microsoft.com/office/drawing/2014/main" id="{E89EA4DE-2304-269F-C9C2-87D6D5FA8C83}"/>
              </a:ext>
            </a:extLst>
          </p:cNvPr>
          <p:cNvSpPr txBox="1"/>
          <p:nvPr/>
        </p:nvSpPr>
        <p:spPr>
          <a:xfrm>
            <a:off x="310773" y="105804"/>
            <a:ext cx="8975534" cy="461665"/>
          </a:xfrm>
          <a:prstGeom prst="rect">
            <a:avLst/>
          </a:prstGeom>
          <a:noFill/>
        </p:spPr>
        <p:txBody>
          <a:bodyPr wrap="none" rtlCol="0">
            <a:spAutoFit/>
          </a:bodyPr>
          <a:lstStyle/>
          <a:p>
            <a:r>
              <a:rPr lang="en-US" sz="2400" b="1" dirty="0">
                <a:latin typeface="Arial" panose="020B0604020202020204" pitchFamily="34" charset="0"/>
                <a:cs typeface="Arial" panose="020B0604020202020204" pitchFamily="34" charset="0"/>
              </a:rPr>
              <a:t>Cladogram of taxa </a:t>
            </a:r>
            <a:r>
              <a:rPr lang="en-US" sz="2400" b="1" dirty="0" err="1">
                <a:latin typeface="Arial" panose="020B0604020202020204" pitchFamily="34" charset="0"/>
                <a:cs typeface="Arial" panose="020B0604020202020204" pitchFamily="34" charset="0"/>
              </a:rPr>
              <a:t>analysed</a:t>
            </a:r>
            <a:r>
              <a:rPr lang="en-US" sz="2400" b="1" dirty="0">
                <a:latin typeface="Arial" panose="020B0604020202020204" pitchFamily="34" charset="0"/>
                <a:cs typeface="Arial" panose="020B0604020202020204" pitchFamily="34" charset="0"/>
              </a:rPr>
              <a:t> for </a:t>
            </a:r>
            <a:r>
              <a:rPr lang="en-US" sz="2400" b="1" i="1" dirty="0">
                <a:latin typeface="Arial" panose="020B0604020202020204" pitchFamily="34" charset="0"/>
                <a:cs typeface="Arial" panose="020B0604020202020204" pitchFamily="34" charset="0"/>
              </a:rPr>
              <a:t>Blattabacterium</a:t>
            </a:r>
            <a:r>
              <a:rPr lang="en-US" sz="2400" b="1" dirty="0">
                <a:latin typeface="Arial" panose="020B0604020202020204" pitchFamily="34" charset="0"/>
                <a:cs typeface="Arial" panose="020B0604020202020204" pitchFamily="34" charset="0"/>
              </a:rPr>
              <a:t> HGT events</a:t>
            </a:r>
          </a:p>
        </p:txBody>
      </p:sp>
      <p:sp>
        <p:nvSpPr>
          <p:cNvPr id="2" name="TextBox 1">
            <a:extLst>
              <a:ext uri="{FF2B5EF4-FFF2-40B4-BE49-F238E27FC236}">
                <a16:creationId xmlns:a16="http://schemas.microsoft.com/office/drawing/2014/main" id="{68764550-166B-E5A4-F2E5-A30016FD82E6}"/>
              </a:ext>
            </a:extLst>
          </p:cNvPr>
          <p:cNvSpPr txBox="1"/>
          <p:nvPr/>
        </p:nvSpPr>
        <p:spPr>
          <a:xfrm>
            <a:off x="10364264" y="61404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5037</a:t>
            </a:r>
          </a:p>
        </p:txBody>
      </p:sp>
      <p:sp>
        <p:nvSpPr>
          <p:cNvPr id="3" name="TextBox 2">
            <a:extLst>
              <a:ext uri="{FF2B5EF4-FFF2-40B4-BE49-F238E27FC236}">
                <a16:creationId xmlns:a16="http://schemas.microsoft.com/office/drawing/2014/main" id="{4355DFB3-F47C-F92A-D6E7-835912EB4AB5}"/>
              </a:ext>
            </a:extLst>
          </p:cNvPr>
          <p:cNvSpPr txBox="1"/>
          <p:nvPr/>
        </p:nvSpPr>
        <p:spPr>
          <a:xfrm>
            <a:off x="10364264" y="95504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4252</a:t>
            </a:r>
          </a:p>
        </p:txBody>
      </p:sp>
      <p:sp>
        <p:nvSpPr>
          <p:cNvPr id="4" name="TextBox 3">
            <a:extLst>
              <a:ext uri="{FF2B5EF4-FFF2-40B4-BE49-F238E27FC236}">
                <a16:creationId xmlns:a16="http://schemas.microsoft.com/office/drawing/2014/main" id="{8A310815-8202-F883-DDD1-68D008A082C2}"/>
              </a:ext>
            </a:extLst>
          </p:cNvPr>
          <p:cNvSpPr txBox="1"/>
          <p:nvPr/>
        </p:nvSpPr>
        <p:spPr>
          <a:xfrm>
            <a:off x="10364264" y="1296048"/>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3852</a:t>
            </a:r>
          </a:p>
        </p:txBody>
      </p:sp>
      <p:sp>
        <p:nvSpPr>
          <p:cNvPr id="5" name="TextBox 4">
            <a:extLst>
              <a:ext uri="{FF2B5EF4-FFF2-40B4-BE49-F238E27FC236}">
                <a16:creationId xmlns:a16="http://schemas.microsoft.com/office/drawing/2014/main" id="{C6080BCB-E65A-ABC2-0CD5-1DB2C1558CDF}"/>
              </a:ext>
            </a:extLst>
          </p:cNvPr>
          <p:cNvSpPr txBox="1"/>
          <p:nvPr/>
        </p:nvSpPr>
        <p:spPr>
          <a:xfrm>
            <a:off x="10369521" y="1637049"/>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3702</a:t>
            </a:r>
          </a:p>
        </p:txBody>
      </p:sp>
      <p:sp>
        <p:nvSpPr>
          <p:cNvPr id="6" name="TextBox 5">
            <a:extLst>
              <a:ext uri="{FF2B5EF4-FFF2-40B4-BE49-F238E27FC236}">
                <a16:creationId xmlns:a16="http://schemas.microsoft.com/office/drawing/2014/main" id="{4008A9A4-0E16-64AB-B929-DFF119DB3382}"/>
              </a:ext>
            </a:extLst>
          </p:cNvPr>
          <p:cNvSpPr txBox="1"/>
          <p:nvPr/>
        </p:nvSpPr>
        <p:spPr>
          <a:xfrm>
            <a:off x="10369521" y="1978050"/>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4716</a:t>
            </a:r>
          </a:p>
        </p:txBody>
      </p:sp>
      <p:sp>
        <p:nvSpPr>
          <p:cNvPr id="8" name="TextBox 7">
            <a:extLst>
              <a:ext uri="{FF2B5EF4-FFF2-40B4-BE49-F238E27FC236}">
                <a16:creationId xmlns:a16="http://schemas.microsoft.com/office/drawing/2014/main" id="{39A1408E-19EF-E791-3B84-B5617B71BAFF}"/>
              </a:ext>
            </a:extLst>
          </p:cNvPr>
          <p:cNvSpPr txBox="1"/>
          <p:nvPr/>
        </p:nvSpPr>
        <p:spPr>
          <a:xfrm>
            <a:off x="10369521" y="231905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4086</a:t>
            </a:r>
          </a:p>
        </p:txBody>
      </p:sp>
      <p:sp>
        <p:nvSpPr>
          <p:cNvPr id="9" name="TextBox 8">
            <a:extLst>
              <a:ext uri="{FF2B5EF4-FFF2-40B4-BE49-F238E27FC236}">
                <a16:creationId xmlns:a16="http://schemas.microsoft.com/office/drawing/2014/main" id="{02D5CA33-643F-ECC4-D25E-7F0EA2AEBBC2}"/>
              </a:ext>
            </a:extLst>
          </p:cNvPr>
          <p:cNvSpPr txBox="1"/>
          <p:nvPr/>
        </p:nvSpPr>
        <p:spPr>
          <a:xfrm>
            <a:off x="10380031" y="266005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4396</a:t>
            </a:r>
          </a:p>
        </p:txBody>
      </p:sp>
      <p:sp>
        <p:nvSpPr>
          <p:cNvPr id="11" name="TextBox 10">
            <a:extLst>
              <a:ext uri="{FF2B5EF4-FFF2-40B4-BE49-F238E27FC236}">
                <a16:creationId xmlns:a16="http://schemas.microsoft.com/office/drawing/2014/main" id="{E021EB57-3141-35C9-C4C3-3B4BF946BE22}"/>
              </a:ext>
            </a:extLst>
          </p:cNvPr>
          <p:cNvSpPr txBox="1"/>
          <p:nvPr/>
        </p:nvSpPr>
        <p:spPr>
          <a:xfrm>
            <a:off x="10380031" y="3001053"/>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2964</a:t>
            </a:r>
          </a:p>
        </p:txBody>
      </p:sp>
      <p:sp>
        <p:nvSpPr>
          <p:cNvPr id="16" name="TextBox 15">
            <a:extLst>
              <a:ext uri="{FF2B5EF4-FFF2-40B4-BE49-F238E27FC236}">
                <a16:creationId xmlns:a16="http://schemas.microsoft.com/office/drawing/2014/main" id="{D67027FF-DEB3-B4F8-66B9-C16B533C434C}"/>
              </a:ext>
            </a:extLst>
          </p:cNvPr>
          <p:cNvSpPr txBox="1"/>
          <p:nvPr/>
        </p:nvSpPr>
        <p:spPr>
          <a:xfrm>
            <a:off x="10380031" y="3342054"/>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2797</a:t>
            </a:r>
          </a:p>
        </p:txBody>
      </p:sp>
      <p:sp>
        <p:nvSpPr>
          <p:cNvPr id="29" name="TextBox 28">
            <a:extLst>
              <a:ext uri="{FF2B5EF4-FFF2-40B4-BE49-F238E27FC236}">
                <a16:creationId xmlns:a16="http://schemas.microsoft.com/office/drawing/2014/main" id="{7AB6F2E4-61BD-EB2F-B497-0C1C1DAD77C8}"/>
              </a:ext>
            </a:extLst>
          </p:cNvPr>
          <p:cNvSpPr txBox="1"/>
          <p:nvPr/>
        </p:nvSpPr>
        <p:spPr>
          <a:xfrm>
            <a:off x="10374777" y="3683055"/>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1543</a:t>
            </a:r>
          </a:p>
        </p:txBody>
      </p:sp>
      <p:sp>
        <p:nvSpPr>
          <p:cNvPr id="33" name="TextBox 32">
            <a:extLst>
              <a:ext uri="{FF2B5EF4-FFF2-40B4-BE49-F238E27FC236}">
                <a16:creationId xmlns:a16="http://schemas.microsoft.com/office/drawing/2014/main" id="{78540F7A-759B-9668-82F3-137090497E69}"/>
              </a:ext>
            </a:extLst>
          </p:cNvPr>
          <p:cNvSpPr txBox="1"/>
          <p:nvPr/>
        </p:nvSpPr>
        <p:spPr>
          <a:xfrm>
            <a:off x="10374777" y="402405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1601</a:t>
            </a:r>
          </a:p>
        </p:txBody>
      </p:sp>
      <p:sp>
        <p:nvSpPr>
          <p:cNvPr id="34" name="TextBox 33">
            <a:extLst>
              <a:ext uri="{FF2B5EF4-FFF2-40B4-BE49-F238E27FC236}">
                <a16:creationId xmlns:a16="http://schemas.microsoft.com/office/drawing/2014/main" id="{E0A2A43B-A3C8-475A-7EC5-4035FF4E4DEB}"/>
              </a:ext>
            </a:extLst>
          </p:cNvPr>
          <p:cNvSpPr txBox="1"/>
          <p:nvPr/>
        </p:nvSpPr>
        <p:spPr>
          <a:xfrm>
            <a:off x="10374777" y="436505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532</a:t>
            </a:r>
          </a:p>
        </p:txBody>
      </p:sp>
      <p:sp>
        <p:nvSpPr>
          <p:cNvPr id="41" name="TextBox 40">
            <a:extLst>
              <a:ext uri="{FF2B5EF4-FFF2-40B4-BE49-F238E27FC236}">
                <a16:creationId xmlns:a16="http://schemas.microsoft.com/office/drawing/2014/main" id="{5E7F21F6-25C5-17DE-33FC-A094B06F7BED}"/>
              </a:ext>
            </a:extLst>
          </p:cNvPr>
          <p:cNvSpPr txBox="1"/>
          <p:nvPr/>
        </p:nvSpPr>
        <p:spPr>
          <a:xfrm>
            <a:off x="10369523" y="4706058"/>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527–609</a:t>
            </a:r>
          </a:p>
        </p:txBody>
      </p:sp>
      <p:sp>
        <p:nvSpPr>
          <p:cNvPr id="42" name="TextBox 41">
            <a:extLst>
              <a:ext uri="{FF2B5EF4-FFF2-40B4-BE49-F238E27FC236}">
                <a16:creationId xmlns:a16="http://schemas.microsoft.com/office/drawing/2014/main" id="{F317A4F7-715A-4E78-DDF8-75EAB4ED0117}"/>
              </a:ext>
            </a:extLst>
          </p:cNvPr>
          <p:cNvSpPr txBox="1"/>
          <p:nvPr/>
        </p:nvSpPr>
        <p:spPr>
          <a:xfrm>
            <a:off x="10369523" y="5047059"/>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49" name="TextBox 48">
            <a:extLst>
              <a:ext uri="{FF2B5EF4-FFF2-40B4-BE49-F238E27FC236}">
                <a16:creationId xmlns:a16="http://schemas.microsoft.com/office/drawing/2014/main" id="{56497100-B62C-FECA-CE7A-3FA11331A621}"/>
              </a:ext>
            </a:extLst>
          </p:cNvPr>
          <p:cNvSpPr txBox="1"/>
          <p:nvPr/>
        </p:nvSpPr>
        <p:spPr>
          <a:xfrm>
            <a:off x="10369523" y="5388060"/>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0" name="TextBox 49">
            <a:extLst>
              <a:ext uri="{FF2B5EF4-FFF2-40B4-BE49-F238E27FC236}">
                <a16:creationId xmlns:a16="http://schemas.microsoft.com/office/drawing/2014/main" id="{DCA320E7-04CA-A040-D39E-E90F14204468}"/>
              </a:ext>
            </a:extLst>
          </p:cNvPr>
          <p:cNvSpPr txBox="1"/>
          <p:nvPr/>
        </p:nvSpPr>
        <p:spPr>
          <a:xfrm>
            <a:off x="10364269" y="572906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4" name="TextBox 53">
            <a:extLst>
              <a:ext uri="{FF2B5EF4-FFF2-40B4-BE49-F238E27FC236}">
                <a16:creationId xmlns:a16="http://schemas.microsoft.com/office/drawing/2014/main" id="{474A3AA8-7FE3-7A0B-FEF1-AEC257E19918}"/>
              </a:ext>
            </a:extLst>
          </p:cNvPr>
          <p:cNvSpPr txBox="1"/>
          <p:nvPr/>
        </p:nvSpPr>
        <p:spPr>
          <a:xfrm>
            <a:off x="10364269" y="607006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a:t>
            </a:r>
          </a:p>
        </p:txBody>
      </p:sp>
      <p:sp>
        <p:nvSpPr>
          <p:cNvPr id="55" name="TextBox 54">
            <a:extLst>
              <a:ext uri="{FF2B5EF4-FFF2-40B4-BE49-F238E27FC236}">
                <a16:creationId xmlns:a16="http://schemas.microsoft.com/office/drawing/2014/main" id="{1EFBBB06-33EB-6975-D787-7B77B9CD0AEC}"/>
              </a:ext>
            </a:extLst>
          </p:cNvPr>
          <p:cNvSpPr txBox="1"/>
          <p:nvPr/>
        </p:nvSpPr>
        <p:spPr>
          <a:xfrm>
            <a:off x="10364269" y="641106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106-647</a:t>
            </a:r>
          </a:p>
        </p:txBody>
      </p:sp>
      <p:sp>
        <p:nvSpPr>
          <p:cNvPr id="60" name="TextBox 59">
            <a:extLst>
              <a:ext uri="{FF2B5EF4-FFF2-40B4-BE49-F238E27FC236}">
                <a16:creationId xmlns:a16="http://schemas.microsoft.com/office/drawing/2014/main" id="{3CD61EAF-89DA-8EF3-3EFE-22F6D26AA683}"/>
              </a:ext>
            </a:extLst>
          </p:cNvPr>
          <p:cNvSpPr txBox="1"/>
          <p:nvPr/>
        </p:nvSpPr>
        <p:spPr>
          <a:xfrm>
            <a:off x="7393762" y="555854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CA0D268C-885A-4446-8B3C-4318EABB3FE9}"/>
              </a:ext>
            </a:extLst>
          </p:cNvPr>
          <p:cNvSpPr txBox="1"/>
          <p:nvPr/>
        </p:nvSpPr>
        <p:spPr>
          <a:xfrm>
            <a:off x="4041437" y="3663513"/>
            <a:ext cx="1015279"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1.81</a:t>
            </a:r>
          </a:p>
        </p:txBody>
      </p:sp>
      <p:cxnSp>
        <p:nvCxnSpPr>
          <p:cNvPr id="65" name="Straight Connector 64">
            <a:extLst>
              <a:ext uri="{FF2B5EF4-FFF2-40B4-BE49-F238E27FC236}">
                <a16:creationId xmlns:a16="http://schemas.microsoft.com/office/drawing/2014/main" id="{0BF97B18-9077-6349-93EF-9C6C224D3524}"/>
              </a:ext>
            </a:extLst>
          </p:cNvPr>
          <p:cNvCxnSpPr/>
          <p:nvPr/>
        </p:nvCxnSpPr>
        <p:spPr>
          <a:xfrm>
            <a:off x="7383252" y="5171960"/>
            <a:ext cx="0" cy="1152000"/>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1C7ED951-012B-C345-90EB-9AEF09A480F2}"/>
              </a:ext>
            </a:extLst>
          </p:cNvPr>
          <p:cNvSpPr txBox="1"/>
          <p:nvPr/>
        </p:nvSpPr>
        <p:spPr>
          <a:xfrm>
            <a:off x="8178838" y="5156368"/>
            <a:ext cx="2314845" cy="1015663"/>
          </a:xfrm>
          <a:prstGeom prst="rect">
            <a:avLst/>
          </a:prstGeom>
          <a:noFill/>
        </p:spPr>
        <p:txBody>
          <a:bodyPr wrap="square" rtlCol="0">
            <a:spAutoFit/>
          </a:bodyPr>
          <a:lstStyle/>
          <a:p>
            <a:r>
              <a:rPr lang="en-US" sz="1200" dirty="0">
                <a:solidFill>
                  <a:srgbClr val="FF0000"/>
                </a:solidFill>
              </a:rPr>
              <a:t>Kyle and Maxim:</a:t>
            </a:r>
          </a:p>
          <a:p>
            <a:r>
              <a:rPr lang="en-US" sz="1200" dirty="0">
                <a:solidFill>
                  <a:srgbClr val="FF0000"/>
                </a:solidFill>
              </a:rPr>
              <a:t>Are these termite numbers </a:t>
            </a:r>
          </a:p>
          <a:p>
            <a:r>
              <a:rPr lang="en-US" sz="1200" dirty="0">
                <a:solidFill>
                  <a:srgbClr val="FF0000"/>
                </a:solidFill>
              </a:rPr>
              <a:t>right? When I did an audit in early 2025 I found none were Blattabacterium?</a:t>
            </a:r>
          </a:p>
        </p:txBody>
      </p:sp>
    </p:spTree>
    <p:extLst>
      <p:ext uri="{BB962C8B-B14F-4D97-AF65-F5344CB8AC3E}">
        <p14:creationId xmlns:p14="http://schemas.microsoft.com/office/powerpoint/2010/main" val="5711742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836DD86-B9DF-36C9-A98F-CA5E1FB96A50}"/>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a:t>
            </a:r>
            <a:endParaRPr lang="en-US" sz="14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685EC0A9-B9BD-963F-C5A6-E62991557B95}"/>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FEB833C6-5059-3F2B-0656-649BB2D62B48}"/>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Parapanesthia gigantea</a:t>
            </a:r>
            <a:endParaRPr lang="en-US" sz="14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096740E5-743E-5429-BBA3-695337967929}"/>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a:t>
            </a:r>
            <a:endParaRPr lang="en-US" sz="14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10F5AD9C-C18A-14DD-6E16-FC6090ABF16E}"/>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a:t>
            </a:r>
            <a:endParaRPr lang="en-US" sz="14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817760B7-E7B6-A6CC-CB23-02C2A3B68B86}"/>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(Eungella)</a:t>
            </a:r>
          </a:p>
        </p:txBody>
      </p:sp>
      <p:sp>
        <p:nvSpPr>
          <p:cNvPr id="17" name="TextBox 16">
            <a:extLst>
              <a:ext uri="{FF2B5EF4-FFF2-40B4-BE49-F238E27FC236}">
                <a16:creationId xmlns:a16="http://schemas.microsoft.com/office/drawing/2014/main" id="{BE564D44-043D-94C7-F6C3-1DEF21E8E660}"/>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a:t>
            </a:r>
            <a:endParaRPr lang="en-US" sz="14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D39F0262-3654-66DD-1C1E-3D0830C06A7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a:t>
            </a:r>
            <a:endParaRPr lang="en-US" sz="14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15F0AD8B-8964-B84F-96E9-2261FEEA69BE}"/>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a:t>
            </a:r>
            <a:endParaRPr lang="en-US" sz="14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82CB6B5D-5983-112E-8D51-3581BE2E0683}"/>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a:t>
            </a:r>
            <a:endParaRPr lang="en-US" sz="14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FCEC9C75-BCC4-4F7F-6F62-1CF25357A90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a:t>
            </a:r>
            <a:endParaRPr lang="en-US" sz="1400"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57CB6A99-6B82-8092-E383-80A2B09639C6}"/>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28B647CD-7360-2693-9879-0191701FE355}"/>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7F774CDA-2EB5-1A9F-0EE1-84B0F338E848}"/>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2A4EB622-B3AA-5B0D-366F-31EC8D2C1CB9}"/>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B4480A82-EF6D-319E-1593-C6D1CB86013C}"/>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94FF59-47EB-CB15-6976-165828DFD83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B26547CA-71D1-6886-0C25-B7C568AE066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BEC0EF28-979B-A325-8EF5-2B8B7233AB03}"/>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2AFD39-E062-0327-60C0-F2E3CF01D924}"/>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0BB347D-BC4E-BCE2-3003-14AB1293F5FB}"/>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1EE4A04-0AD1-3FFA-73FD-35E40215007A}"/>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51A284F-D12D-72B4-03C2-5080BAF0D390}"/>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F9DC3AF-162E-2E3F-9A7F-1411BA44DF34}"/>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09F4B79F-5516-BEDC-F3E2-4B0970DC5272}"/>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8E464AB-0C35-26A0-8F2C-8E556D6BFD02}"/>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0FF1D81-4360-3F84-3DAF-D419ECBC0138}"/>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4DD19CB-F4D7-0B3C-80FC-DC20B48FA646}"/>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48D676EA-4B4E-2412-A8EE-E31F19D83A4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2BD446E-FADC-A4E0-C092-817AAD48CEF1}"/>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CF9093DC-3D88-C855-C957-B287579F821F}"/>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1609972-DE50-51F8-D08D-392401806B7C}"/>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76F46BB5-826D-E702-24A5-8F66D2F89E87}"/>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771BCD0-F7CE-9EEB-6846-49F9866014A2}"/>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0634F2E-ABC4-1387-E3C1-3ADFBDB69D87}"/>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41CB6D0-DF9D-C0C2-6593-C2536D00B09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8FAC41C-615E-9A97-2E08-134AE68ABF9E}"/>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7D43172-B944-DF61-7AE0-EABF62F9ED59}"/>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BC36FF4A-164D-5627-D50A-16FD2C519317}"/>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E435C8FB-DC79-6634-2F94-B51B10DBA040}"/>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2B7B06D-09C7-F07B-8F08-4845A8F9F37A}"/>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BA1BA2D-A026-D535-ACE9-F88774FC17D5}"/>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702F7CA6-C30A-2736-8139-446CCFE792C6}"/>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0B4BC79-6D06-931F-79C3-CC53482DF973}"/>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A4AC5993-92EA-B716-6AD6-28691C19AACE}"/>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C17F5E15-7D22-FC85-663F-5F8E38234C7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404950D-1D25-E336-A20E-524FDF884E5D}"/>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F2063E2C-C3CB-730E-7B36-D7AB54ECEE57}"/>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DD71891-6A15-7877-8A6C-09F1DB597682}"/>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357020FE-85EF-F134-AF78-9CF3837A95E9}"/>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5F7048F2-19EC-B963-A9F3-EB8770954137}"/>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3AD06155-6E2D-D8F1-D1A8-EB74A306C7AD}"/>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AB16C56B-E46B-BC0E-8C75-D22EBDD4DBDB}"/>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D2F9639B-8589-0084-4BAB-BB29A8D66B12}"/>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1474AF74-865C-DEE2-A374-01251A4416D8}"/>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CFD81DDE-CD97-878C-B298-5A162696F8DB}"/>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DE57728D-04DE-0987-5245-C2A8D9F733A4}"/>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304B9634-BDB8-B137-B404-F1942C836A75}"/>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71F5DCE3-8768-DFE2-6F19-54519C387E2F}"/>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5CBC75E-3CD8-8E7A-118E-286EFEDA63F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1D278E5-6C0C-EB8C-1BF2-B7603E3547DA}"/>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36C4EB4-C78B-22A1-4E53-72B620B7E145}"/>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79538B3-F42F-BFCD-E1D4-4C515262C169}"/>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0E79C8B-2315-6E07-8204-ACEF3EDA95B6}"/>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3684046-E32F-8066-8337-52CF82A91F7F}"/>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1635BDDC-03E0-94B7-6BA7-083DA9CA0E08}"/>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9746A96F-4B32-9DFA-196C-19CD864CA964}"/>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24314760-2F49-D9B2-A82A-2F86248E0347}"/>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FE1773A-A3F9-7385-20E7-4D068293FFD7}"/>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51A0027-F4C3-1FC6-3B52-1D6C1D0143CB}"/>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630C6443-0896-4C49-73E9-F75271C8BA4B}"/>
              </a:ext>
            </a:extLst>
          </p:cNvPr>
          <p:cNvSpPr txBox="1"/>
          <p:nvPr/>
        </p:nvSpPr>
        <p:spPr>
          <a:xfrm>
            <a:off x="8228398" y="-2732"/>
            <a:ext cx="2432076"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Number of HGT inserts</a:t>
            </a:r>
          </a:p>
        </p:txBody>
      </p:sp>
      <p:sp>
        <p:nvSpPr>
          <p:cNvPr id="114" name="TextBox 113">
            <a:extLst>
              <a:ext uri="{FF2B5EF4-FFF2-40B4-BE49-F238E27FC236}">
                <a16:creationId xmlns:a16="http://schemas.microsoft.com/office/drawing/2014/main" id="{8112926F-DA14-AC98-06EF-6990303FCF8D}"/>
              </a:ext>
            </a:extLst>
          </p:cNvPr>
          <p:cNvSpPr txBox="1"/>
          <p:nvPr/>
        </p:nvSpPr>
        <p:spPr>
          <a:xfrm>
            <a:off x="680967" y="506994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80D04FB6-51C1-8BCF-FAD1-2A973594404A}"/>
              </a:ext>
            </a:extLst>
          </p:cNvPr>
          <p:cNvSpPr txBox="1"/>
          <p:nvPr/>
        </p:nvSpPr>
        <p:spPr>
          <a:xfrm>
            <a:off x="2910982" y="59926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560ABBCE-4D37-D9C0-DCAB-F4E4092D4E33}"/>
              </a:ext>
            </a:extLst>
          </p:cNvPr>
          <p:cNvSpPr txBox="1"/>
          <p:nvPr/>
        </p:nvSpPr>
        <p:spPr>
          <a:xfrm>
            <a:off x="3907447" y="5430515"/>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BA3EB86E-713D-689B-FDC9-AB53D1AC3B3D}"/>
              </a:ext>
            </a:extLst>
          </p:cNvPr>
          <p:cNvSpPr txBox="1"/>
          <p:nvPr/>
        </p:nvSpPr>
        <p:spPr>
          <a:xfrm>
            <a:off x="3351681" y="5703188"/>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ACF48875-1ECD-1930-C408-D1A9FA508EE8}"/>
              </a:ext>
            </a:extLst>
          </p:cNvPr>
          <p:cNvSpPr txBox="1"/>
          <p:nvPr/>
        </p:nvSpPr>
        <p:spPr>
          <a:xfrm>
            <a:off x="4359046" y="5156227"/>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F8DBAF0C-DE1B-5940-1730-CECA87CE20F3}"/>
              </a:ext>
            </a:extLst>
          </p:cNvPr>
          <p:cNvSpPr txBox="1"/>
          <p:nvPr/>
        </p:nvSpPr>
        <p:spPr>
          <a:xfrm>
            <a:off x="1145860" y="41905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145</a:t>
            </a:r>
          </a:p>
        </p:txBody>
      </p:sp>
      <p:sp>
        <p:nvSpPr>
          <p:cNvPr id="120" name="TextBox 119">
            <a:extLst>
              <a:ext uri="{FF2B5EF4-FFF2-40B4-BE49-F238E27FC236}">
                <a16:creationId xmlns:a16="http://schemas.microsoft.com/office/drawing/2014/main" id="{5D4F1E75-FE1A-B5AE-4A29-EE9E22E56670}"/>
              </a:ext>
            </a:extLst>
          </p:cNvPr>
          <p:cNvSpPr txBox="1"/>
          <p:nvPr/>
        </p:nvSpPr>
        <p:spPr>
          <a:xfrm>
            <a:off x="1494240" y="3732461"/>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42EB31E3-F3A2-193E-E951-57CD17B1D19A}"/>
              </a:ext>
            </a:extLst>
          </p:cNvPr>
          <p:cNvSpPr txBox="1"/>
          <p:nvPr/>
        </p:nvSpPr>
        <p:spPr>
          <a:xfrm>
            <a:off x="1913081" y="3166990"/>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5E1F08CF-B2EC-5AAD-46A7-3DF09BB2E71E}"/>
              </a:ext>
            </a:extLst>
          </p:cNvPr>
          <p:cNvSpPr txBox="1"/>
          <p:nvPr/>
        </p:nvSpPr>
        <p:spPr>
          <a:xfrm>
            <a:off x="2388264" y="2587057"/>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767B46F5-F5BC-6F41-7DE8-51BF156964F2}"/>
              </a:ext>
            </a:extLst>
          </p:cNvPr>
          <p:cNvSpPr txBox="1"/>
          <p:nvPr/>
        </p:nvSpPr>
        <p:spPr>
          <a:xfrm>
            <a:off x="4170938" y="3098083"/>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35830280-30EE-CDCD-DC54-E266E4F845BA}"/>
              </a:ext>
            </a:extLst>
          </p:cNvPr>
          <p:cNvSpPr txBox="1"/>
          <p:nvPr/>
        </p:nvSpPr>
        <p:spPr>
          <a:xfrm>
            <a:off x="2852498" y="2063278"/>
            <a:ext cx="946010"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9B6760DB-3A75-08BC-0811-66EF473E2A03}"/>
              </a:ext>
            </a:extLst>
          </p:cNvPr>
          <p:cNvSpPr txBox="1"/>
          <p:nvPr/>
        </p:nvSpPr>
        <p:spPr>
          <a:xfrm>
            <a:off x="3292023" y="1548275"/>
            <a:ext cx="848111"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007731A2-076A-D072-05B2-9021E0300168}"/>
              </a:ext>
            </a:extLst>
          </p:cNvPr>
          <p:cNvSpPr txBox="1"/>
          <p:nvPr/>
        </p:nvSpPr>
        <p:spPr>
          <a:xfrm>
            <a:off x="4176419" y="2044197"/>
            <a:ext cx="914487"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D6F1794A-4466-00E7-27F9-25EEE6AFF812}"/>
              </a:ext>
            </a:extLst>
          </p:cNvPr>
          <p:cNvSpPr txBox="1"/>
          <p:nvPr/>
        </p:nvSpPr>
        <p:spPr>
          <a:xfrm>
            <a:off x="4249207" y="1389855"/>
            <a:ext cx="794253"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506C3FF6-BBE2-2617-F185-86A592661691}"/>
              </a:ext>
            </a:extLst>
          </p:cNvPr>
          <p:cNvSpPr txBox="1"/>
          <p:nvPr/>
        </p:nvSpPr>
        <p:spPr>
          <a:xfrm>
            <a:off x="4240899" y="698765"/>
            <a:ext cx="899536"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56CBF744-6F90-77DF-92DB-750E7F4E6A0A}"/>
              </a:ext>
            </a:extLst>
          </p:cNvPr>
          <p:cNvSpPr txBox="1"/>
          <p:nvPr/>
        </p:nvSpPr>
        <p:spPr>
          <a:xfrm>
            <a:off x="3742830" y="1010920"/>
            <a:ext cx="777088"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12.73</a:t>
            </a:r>
          </a:p>
        </p:txBody>
      </p:sp>
      <p:sp>
        <p:nvSpPr>
          <p:cNvPr id="2" name="TextBox 1">
            <a:extLst>
              <a:ext uri="{FF2B5EF4-FFF2-40B4-BE49-F238E27FC236}">
                <a16:creationId xmlns:a16="http://schemas.microsoft.com/office/drawing/2014/main" id="{68764550-166B-E5A4-F2E5-A30016FD82E6}"/>
              </a:ext>
            </a:extLst>
          </p:cNvPr>
          <p:cNvSpPr txBox="1"/>
          <p:nvPr/>
        </p:nvSpPr>
        <p:spPr>
          <a:xfrm>
            <a:off x="8691531" y="610260"/>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4955</a:t>
            </a:r>
          </a:p>
        </p:txBody>
      </p:sp>
      <p:sp>
        <p:nvSpPr>
          <p:cNvPr id="3" name="TextBox 2">
            <a:extLst>
              <a:ext uri="{FF2B5EF4-FFF2-40B4-BE49-F238E27FC236}">
                <a16:creationId xmlns:a16="http://schemas.microsoft.com/office/drawing/2014/main" id="{4355DFB3-F47C-F92A-D6E7-835912EB4AB5}"/>
              </a:ext>
            </a:extLst>
          </p:cNvPr>
          <p:cNvSpPr txBox="1"/>
          <p:nvPr/>
        </p:nvSpPr>
        <p:spPr>
          <a:xfrm>
            <a:off x="8691531" y="951261"/>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4193</a:t>
            </a:r>
          </a:p>
        </p:txBody>
      </p:sp>
      <p:sp>
        <p:nvSpPr>
          <p:cNvPr id="4" name="TextBox 3">
            <a:extLst>
              <a:ext uri="{FF2B5EF4-FFF2-40B4-BE49-F238E27FC236}">
                <a16:creationId xmlns:a16="http://schemas.microsoft.com/office/drawing/2014/main" id="{8A310815-8202-F883-DDD1-68D008A082C2}"/>
              </a:ext>
            </a:extLst>
          </p:cNvPr>
          <p:cNvSpPr txBox="1"/>
          <p:nvPr/>
        </p:nvSpPr>
        <p:spPr>
          <a:xfrm>
            <a:off x="8691531" y="1292262"/>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3794</a:t>
            </a:r>
          </a:p>
        </p:txBody>
      </p:sp>
      <p:sp>
        <p:nvSpPr>
          <p:cNvPr id="5" name="TextBox 4">
            <a:extLst>
              <a:ext uri="{FF2B5EF4-FFF2-40B4-BE49-F238E27FC236}">
                <a16:creationId xmlns:a16="http://schemas.microsoft.com/office/drawing/2014/main" id="{C6080BCB-E65A-ABC2-0CD5-1DB2C1558CDF}"/>
              </a:ext>
            </a:extLst>
          </p:cNvPr>
          <p:cNvSpPr txBox="1"/>
          <p:nvPr/>
        </p:nvSpPr>
        <p:spPr>
          <a:xfrm>
            <a:off x="8696788" y="1633263"/>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3673</a:t>
            </a:r>
          </a:p>
        </p:txBody>
      </p:sp>
      <p:sp>
        <p:nvSpPr>
          <p:cNvPr id="6" name="TextBox 5">
            <a:extLst>
              <a:ext uri="{FF2B5EF4-FFF2-40B4-BE49-F238E27FC236}">
                <a16:creationId xmlns:a16="http://schemas.microsoft.com/office/drawing/2014/main" id="{4008A9A4-0E16-64AB-B929-DFF119DB3382}"/>
              </a:ext>
            </a:extLst>
          </p:cNvPr>
          <p:cNvSpPr txBox="1"/>
          <p:nvPr/>
        </p:nvSpPr>
        <p:spPr>
          <a:xfrm>
            <a:off x="8696788" y="1974264"/>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4619</a:t>
            </a:r>
          </a:p>
        </p:txBody>
      </p:sp>
      <p:sp>
        <p:nvSpPr>
          <p:cNvPr id="8" name="TextBox 7">
            <a:extLst>
              <a:ext uri="{FF2B5EF4-FFF2-40B4-BE49-F238E27FC236}">
                <a16:creationId xmlns:a16="http://schemas.microsoft.com/office/drawing/2014/main" id="{39A1408E-19EF-E791-3B84-B5617B71BAFF}"/>
              </a:ext>
            </a:extLst>
          </p:cNvPr>
          <p:cNvSpPr txBox="1"/>
          <p:nvPr/>
        </p:nvSpPr>
        <p:spPr>
          <a:xfrm>
            <a:off x="8696788" y="2315265"/>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4031</a:t>
            </a:r>
          </a:p>
        </p:txBody>
      </p:sp>
      <p:sp>
        <p:nvSpPr>
          <p:cNvPr id="9" name="TextBox 8">
            <a:extLst>
              <a:ext uri="{FF2B5EF4-FFF2-40B4-BE49-F238E27FC236}">
                <a16:creationId xmlns:a16="http://schemas.microsoft.com/office/drawing/2014/main" id="{02D5CA33-643F-ECC4-D25E-7F0EA2AEBBC2}"/>
              </a:ext>
            </a:extLst>
          </p:cNvPr>
          <p:cNvSpPr txBox="1"/>
          <p:nvPr/>
        </p:nvSpPr>
        <p:spPr>
          <a:xfrm>
            <a:off x="8707298" y="2656266"/>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4257</a:t>
            </a:r>
          </a:p>
        </p:txBody>
      </p:sp>
      <p:sp>
        <p:nvSpPr>
          <p:cNvPr id="11" name="TextBox 10">
            <a:extLst>
              <a:ext uri="{FF2B5EF4-FFF2-40B4-BE49-F238E27FC236}">
                <a16:creationId xmlns:a16="http://schemas.microsoft.com/office/drawing/2014/main" id="{E021EB57-3141-35C9-C4C3-3B4BF946BE22}"/>
              </a:ext>
            </a:extLst>
          </p:cNvPr>
          <p:cNvSpPr txBox="1"/>
          <p:nvPr/>
        </p:nvSpPr>
        <p:spPr>
          <a:xfrm>
            <a:off x="8707298" y="2997267"/>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2920</a:t>
            </a:r>
          </a:p>
        </p:txBody>
      </p:sp>
      <p:sp>
        <p:nvSpPr>
          <p:cNvPr id="16" name="TextBox 15">
            <a:extLst>
              <a:ext uri="{FF2B5EF4-FFF2-40B4-BE49-F238E27FC236}">
                <a16:creationId xmlns:a16="http://schemas.microsoft.com/office/drawing/2014/main" id="{D67027FF-DEB3-B4F8-66B9-C16B533C434C}"/>
              </a:ext>
            </a:extLst>
          </p:cNvPr>
          <p:cNvSpPr txBox="1"/>
          <p:nvPr/>
        </p:nvSpPr>
        <p:spPr>
          <a:xfrm>
            <a:off x="8707297" y="3338268"/>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2751</a:t>
            </a:r>
          </a:p>
        </p:txBody>
      </p:sp>
      <p:sp>
        <p:nvSpPr>
          <p:cNvPr id="29" name="TextBox 28">
            <a:extLst>
              <a:ext uri="{FF2B5EF4-FFF2-40B4-BE49-F238E27FC236}">
                <a16:creationId xmlns:a16="http://schemas.microsoft.com/office/drawing/2014/main" id="{7AB6F2E4-61BD-EB2F-B497-0C1C1DAD77C8}"/>
              </a:ext>
            </a:extLst>
          </p:cNvPr>
          <p:cNvSpPr txBox="1"/>
          <p:nvPr/>
        </p:nvSpPr>
        <p:spPr>
          <a:xfrm>
            <a:off x="8702044" y="3679269"/>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1532</a:t>
            </a:r>
          </a:p>
        </p:txBody>
      </p:sp>
      <p:sp>
        <p:nvSpPr>
          <p:cNvPr id="33" name="TextBox 32">
            <a:extLst>
              <a:ext uri="{FF2B5EF4-FFF2-40B4-BE49-F238E27FC236}">
                <a16:creationId xmlns:a16="http://schemas.microsoft.com/office/drawing/2014/main" id="{78540F7A-759B-9668-82F3-137090497E69}"/>
              </a:ext>
            </a:extLst>
          </p:cNvPr>
          <p:cNvSpPr txBox="1"/>
          <p:nvPr/>
        </p:nvSpPr>
        <p:spPr>
          <a:xfrm>
            <a:off x="8702044" y="4020270"/>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1588</a:t>
            </a:r>
          </a:p>
        </p:txBody>
      </p:sp>
      <p:sp>
        <p:nvSpPr>
          <p:cNvPr id="34" name="TextBox 33">
            <a:extLst>
              <a:ext uri="{FF2B5EF4-FFF2-40B4-BE49-F238E27FC236}">
                <a16:creationId xmlns:a16="http://schemas.microsoft.com/office/drawing/2014/main" id="{E0A2A43B-A3C8-475A-7EC5-4035FF4E4DEB}"/>
              </a:ext>
            </a:extLst>
          </p:cNvPr>
          <p:cNvSpPr txBox="1"/>
          <p:nvPr/>
        </p:nvSpPr>
        <p:spPr>
          <a:xfrm>
            <a:off x="8778245" y="4361271"/>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511</a:t>
            </a:r>
          </a:p>
        </p:txBody>
      </p:sp>
      <p:sp>
        <p:nvSpPr>
          <p:cNvPr id="41" name="TextBox 40">
            <a:extLst>
              <a:ext uri="{FF2B5EF4-FFF2-40B4-BE49-F238E27FC236}">
                <a16:creationId xmlns:a16="http://schemas.microsoft.com/office/drawing/2014/main" id="{5E7F21F6-25C5-17DE-33FC-A094B06F7BED}"/>
              </a:ext>
            </a:extLst>
          </p:cNvPr>
          <p:cNvSpPr txBox="1"/>
          <p:nvPr/>
        </p:nvSpPr>
        <p:spPr>
          <a:xfrm>
            <a:off x="8598818" y="470227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278-285</a:t>
            </a:r>
          </a:p>
        </p:txBody>
      </p:sp>
      <p:sp>
        <p:nvSpPr>
          <p:cNvPr id="42" name="TextBox 41">
            <a:extLst>
              <a:ext uri="{FF2B5EF4-FFF2-40B4-BE49-F238E27FC236}">
                <a16:creationId xmlns:a16="http://schemas.microsoft.com/office/drawing/2014/main" id="{F317A4F7-715A-4E78-DDF8-75EAB4ED0117}"/>
              </a:ext>
            </a:extLst>
          </p:cNvPr>
          <p:cNvSpPr txBox="1"/>
          <p:nvPr/>
        </p:nvSpPr>
        <p:spPr>
          <a:xfrm>
            <a:off x="8860076" y="5043273"/>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49" name="TextBox 48">
            <a:extLst>
              <a:ext uri="{FF2B5EF4-FFF2-40B4-BE49-F238E27FC236}">
                <a16:creationId xmlns:a16="http://schemas.microsoft.com/office/drawing/2014/main" id="{56497100-B62C-FECA-CE7A-3FA11331A621}"/>
              </a:ext>
            </a:extLst>
          </p:cNvPr>
          <p:cNvSpPr txBox="1"/>
          <p:nvPr/>
        </p:nvSpPr>
        <p:spPr>
          <a:xfrm>
            <a:off x="8860076" y="5384274"/>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0" name="TextBox 49">
            <a:extLst>
              <a:ext uri="{FF2B5EF4-FFF2-40B4-BE49-F238E27FC236}">
                <a16:creationId xmlns:a16="http://schemas.microsoft.com/office/drawing/2014/main" id="{DCA320E7-04CA-A040-D39E-E90F14204468}"/>
              </a:ext>
            </a:extLst>
          </p:cNvPr>
          <p:cNvSpPr txBox="1"/>
          <p:nvPr/>
        </p:nvSpPr>
        <p:spPr>
          <a:xfrm>
            <a:off x="8854822" y="5725275"/>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4" name="TextBox 53">
            <a:extLst>
              <a:ext uri="{FF2B5EF4-FFF2-40B4-BE49-F238E27FC236}">
                <a16:creationId xmlns:a16="http://schemas.microsoft.com/office/drawing/2014/main" id="{474A3AA8-7FE3-7A0B-FEF1-AEC257E19918}"/>
              </a:ext>
            </a:extLst>
          </p:cNvPr>
          <p:cNvSpPr txBox="1"/>
          <p:nvPr/>
        </p:nvSpPr>
        <p:spPr>
          <a:xfrm>
            <a:off x="8789509" y="6066276"/>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0-1</a:t>
            </a:r>
          </a:p>
        </p:txBody>
      </p:sp>
      <p:sp>
        <p:nvSpPr>
          <p:cNvPr id="55" name="TextBox 54">
            <a:extLst>
              <a:ext uri="{FF2B5EF4-FFF2-40B4-BE49-F238E27FC236}">
                <a16:creationId xmlns:a16="http://schemas.microsoft.com/office/drawing/2014/main" id="{1EFBBB06-33EB-6975-D787-7B77B9CD0AEC}"/>
              </a:ext>
            </a:extLst>
          </p:cNvPr>
          <p:cNvSpPr txBox="1"/>
          <p:nvPr/>
        </p:nvSpPr>
        <p:spPr>
          <a:xfrm>
            <a:off x="8604448" y="640727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101-658</a:t>
            </a:r>
          </a:p>
        </p:txBody>
      </p:sp>
      <p:sp>
        <p:nvSpPr>
          <p:cNvPr id="60" name="TextBox 59">
            <a:extLst>
              <a:ext uri="{FF2B5EF4-FFF2-40B4-BE49-F238E27FC236}">
                <a16:creationId xmlns:a16="http://schemas.microsoft.com/office/drawing/2014/main" id="{3CD61EAF-89DA-8EF3-3EFE-22F6D26AA683}"/>
              </a:ext>
            </a:extLst>
          </p:cNvPr>
          <p:cNvSpPr txBox="1"/>
          <p:nvPr/>
        </p:nvSpPr>
        <p:spPr>
          <a:xfrm>
            <a:off x="7421234" y="5575262"/>
            <a:ext cx="914490" cy="307777"/>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CA0D268C-885A-4446-8B3C-4318EABB3FE9}"/>
              </a:ext>
            </a:extLst>
          </p:cNvPr>
          <p:cNvSpPr txBox="1"/>
          <p:nvPr/>
        </p:nvSpPr>
        <p:spPr>
          <a:xfrm>
            <a:off x="4243627" y="3770067"/>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1.81</a:t>
            </a:r>
          </a:p>
        </p:txBody>
      </p:sp>
      <p:sp>
        <p:nvSpPr>
          <p:cNvPr id="64" name="TextBox 63">
            <a:extLst>
              <a:ext uri="{FF2B5EF4-FFF2-40B4-BE49-F238E27FC236}">
                <a16:creationId xmlns:a16="http://schemas.microsoft.com/office/drawing/2014/main" id="{B2AA615D-7AB6-394F-A7B7-639DCB2479A1}"/>
              </a:ext>
            </a:extLst>
          </p:cNvPr>
          <p:cNvSpPr txBox="1"/>
          <p:nvPr/>
        </p:nvSpPr>
        <p:spPr>
          <a:xfrm>
            <a:off x="209193" y="-347835"/>
            <a:ext cx="936667" cy="369332"/>
          </a:xfrm>
          <a:prstGeom prst="rect">
            <a:avLst/>
          </a:prstGeom>
          <a:noFill/>
        </p:spPr>
        <p:txBody>
          <a:bodyPr wrap="none" rtlCol="0">
            <a:spAutoFit/>
          </a:bodyPr>
          <a:lstStyle/>
          <a:p>
            <a:r>
              <a:rPr lang="en-US" b="1" dirty="0"/>
              <a:t>Figure 1</a:t>
            </a:r>
          </a:p>
        </p:txBody>
      </p:sp>
      <p:sp>
        <p:nvSpPr>
          <p:cNvPr id="66" name="TextBox 65">
            <a:extLst>
              <a:ext uri="{FF2B5EF4-FFF2-40B4-BE49-F238E27FC236}">
                <a16:creationId xmlns:a16="http://schemas.microsoft.com/office/drawing/2014/main" id="{679B2978-4A87-E13A-70C6-5CF84B24F0DE}"/>
              </a:ext>
            </a:extLst>
          </p:cNvPr>
          <p:cNvSpPr txBox="1"/>
          <p:nvPr/>
        </p:nvSpPr>
        <p:spPr>
          <a:xfrm>
            <a:off x="8689582" y="331840"/>
            <a:ext cx="1607876" cy="307777"/>
          </a:xfrm>
          <a:prstGeom prst="rect">
            <a:avLst/>
          </a:prstGeom>
          <a:noFill/>
        </p:spPr>
        <p:txBody>
          <a:bodyPr wrap="none" rtlCol="0">
            <a:spAutoFit/>
          </a:bodyPr>
          <a:lstStyle/>
          <a:p>
            <a:r>
              <a:rPr lang="en-US" sz="1400" b="1" i="1" dirty="0">
                <a:latin typeface="Arial" panose="020B0604020202020204" pitchFamily="34" charset="0"/>
                <a:cs typeface="Arial" panose="020B0604020202020204" pitchFamily="34" charset="0"/>
              </a:rPr>
              <a:t>Total       Unique</a:t>
            </a:r>
          </a:p>
        </p:txBody>
      </p:sp>
      <p:cxnSp>
        <p:nvCxnSpPr>
          <p:cNvPr id="74" name="Straight Connector 73">
            <a:extLst>
              <a:ext uri="{FF2B5EF4-FFF2-40B4-BE49-F238E27FC236}">
                <a16:creationId xmlns:a16="http://schemas.microsoft.com/office/drawing/2014/main" id="{BC0446A1-4C9F-9525-486D-62ABEDAA9494}"/>
              </a:ext>
            </a:extLst>
          </p:cNvPr>
          <p:cNvCxnSpPr>
            <a:cxnSpLocks/>
          </p:cNvCxnSpPr>
          <p:nvPr/>
        </p:nvCxnSpPr>
        <p:spPr>
          <a:xfrm>
            <a:off x="9433248" y="456402"/>
            <a:ext cx="0" cy="6243902"/>
          </a:xfrm>
          <a:prstGeom prst="line">
            <a:avLst/>
          </a:prstGeom>
          <a:ln w="12700">
            <a:solidFill>
              <a:schemeClr val="accent1"/>
            </a:solidFill>
            <a:prstDash val="sysDot"/>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891E2091-3360-F3E6-970A-FDCB784E7A77}"/>
              </a:ext>
            </a:extLst>
          </p:cNvPr>
          <p:cNvSpPr txBox="1"/>
          <p:nvPr/>
        </p:nvSpPr>
        <p:spPr>
          <a:xfrm>
            <a:off x="9556516" y="598559"/>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4900</a:t>
            </a:r>
          </a:p>
        </p:txBody>
      </p:sp>
      <p:sp>
        <p:nvSpPr>
          <p:cNvPr id="83" name="TextBox 82">
            <a:extLst>
              <a:ext uri="{FF2B5EF4-FFF2-40B4-BE49-F238E27FC236}">
                <a16:creationId xmlns:a16="http://schemas.microsoft.com/office/drawing/2014/main" id="{CE31F258-6372-C6EC-2F15-C261DE0FF40A}"/>
              </a:ext>
            </a:extLst>
          </p:cNvPr>
          <p:cNvSpPr txBox="1"/>
          <p:nvPr/>
        </p:nvSpPr>
        <p:spPr>
          <a:xfrm>
            <a:off x="9556516" y="939560"/>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4117</a:t>
            </a:r>
          </a:p>
        </p:txBody>
      </p:sp>
      <p:sp>
        <p:nvSpPr>
          <p:cNvPr id="84" name="TextBox 83">
            <a:extLst>
              <a:ext uri="{FF2B5EF4-FFF2-40B4-BE49-F238E27FC236}">
                <a16:creationId xmlns:a16="http://schemas.microsoft.com/office/drawing/2014/main" id="{13DD459D-A9C9-F07C-FAF9-0B93E6D0A4E4}"/>
              </a:ext>
            </a:extLst>
          </p:cNvPr>
          <p:cNvSpPr txBox="1"/>
          <p:nvPr/>
        </p:nvSpPr>
        <p:spPr>
          <a:xfrm>
            <a:off x="9556516" y="1280561"/>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3766</a:t>
            </a:r>
          </a:p>
        </p:txBody>
      </p:sp>
      <p:sp>
        <p:nvSpPr>
          <p:cNvPr id="86" name="TextBox 85">
            <a:extLst>
              <a:ext uri="{FF2B5EF4-FFF2-40B4-BE49-F238E27FC236}">
                <a16:creationId xmlns:a16="http://schemas.microsoft.com/office/drawing/2014/main" id="{926C908A-7574-C669-8A23-A93AF995A83D}"/>
              </a:ext>
            </a:extLst>
          </p:cNvPr>
          <p:cNvSpPr txBox="1"/>
          <p:nvPr/>
        </p:nvSpPr>
        <p:spPr>
          <a:xfrm>
            <a:off x="9561773" y="1621562"/>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3637</a:t>
            </a:r>
          </a:p>
        </p:txBody>
      </p:sp>
      <p:sp>
        <p:nvSpPr>
          <p:cNvPr id="93" name="TextBox 92">
            <a:extLst>
              <a:ext uri="{FF2B5EF4-FFF2-40B4-BE49-F238E27FC236}">
                <a16:creationId xmlns:a16="http://schemas.microsoft.com/office/drawing/2014/main" id="{C73E358D-3FC0-0CFD-F342-E7256759D513}"/>
              </a:ext>
            </a:extLst>
          </p:cNvPr>
          <p:cNvSpPr txBox="1"/>
          <p:nvPr/>
        </p:nvSpPr>
        <p:spPr>
          <a:xfrm>
            <a:off x="9561773" y="1962563"/>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4561</a:t>
            </a:r>
          </a:p>
        </p:txBody>
      </p:sp>
      <p:sp>
        <p:nvSpPr>
          <p:cNvPr id="97" name="TextBox 96">
            <a:extLst>
              <a:ext uri="{FF2B5EF4-FFF2-40B4-BE49-F238E27FC236}">
                <a16:creationId xmlns:a16="http://schemas.microsoft.com/office/drawing/2014/main" id="{C5578FBB-5963-EC3E-4CF9-6E92EB441321}"/>
              </a:ext>
            </a:extLst>
          </p:cNvPr>
          <p:cNvSpPr txBox="1"/>
          <p:nvPr/>
        </p:nvSpPr>
        <p:spPr>
          <a:xfrm>
            <a:off x="9561773" y="2303564"/>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3926</a:t>
            </a:r>
          </a:p>
        </p:txBody>
      </p:sp>
      <p:sp>
        <p:nvSpPr>
          <p:cNvPr id="98" name="TextBox 97">
            <a:extLst>
              <a:ext uri="{FF2B5EF4-FFF2-40B4-BE49-F238E27FC236}">
                <a16:creationId xmlns:a16="http://schemas.microsoft.com/office/drawing/2014/main" id="{BF51C63F-1EEC-003B-79C0-F7A7B84C39DB}"/>
              </a:ext>
            </a:extLst>
          </p:cNvPr>
          <p:cNvSpPr txBox="1"/>
          <p:nvPr/>
        </p:nvSpPr>
        <p:spPr>
          <a:xfrm>
            <a:off x="9572283" y="2644565"/>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4226</a:t>
            </a:r>
          </a:p>
        </p:txBody>
      </p:sp>
      <p:sp>
        <p:nvSpPr>
          <p:cNvPr id="101" name="TextBox 100">
            <a:extLst>
              <a:ext uri="{FF2B5EF4-FFF2-40B4-BE49-F238E27FC236}">
                <a16:creationId xmlns:a16="http://schemas.microsoft.com/office/drawing/2014/main" id="{778484D5-ABDF-240E-DAAD-5EAACD89DF10}"/>
              </a:ext>
            </a:extLst>
          </p:cNvPr>
          <p:cNvSpPr txBox="1"/>
          <p:nvPr/>
        </p:nvSpPr>
        <p:spPr>
          <a:xfrm>
            <a:off x="9572283" y="2985566"/>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2845</a:t>
            </a:r>
          </a:p>
        </p:txBody>
      </p:sp>
      <p:sp>
        <p:nvSpPr>
          <p:cNvPr id="103" name="TextBox 102">
            <a:extLst>
              <a:ext uri="{FF2B5EF4-FFF2-40B4-BE49-F238E27FC236}">
                <a16:creationId xmlns:a16="http://schemas.microsoft.com/office/drawing/2014/main" id="{BF0CA5AB-7099-E965-C899-2004E76050F5}"/>
              </a:ext>
            </a:extLst>
          </p:cNvPr>
          <p:cNvSpPr txBox="1"/>
          <p:nvPr/>
        </p:nvSpPr>
        <p:spPr>
          <a:xfrm>
            <a:off x="9572282" y="3326567"/>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2705</a:t>
            </a:r>
          </a:p>
        </p:txBody>
      </p:sp>
      <p:sp>
        <p:nvSpPr>
          <p:cNvPr id="104" name="TextBox 103">
            <a:extLst>
              <a:ext uri="{FF2B5EF4-FFF2-40B4-BE49-F238E27FC236}">
                <a16:creationId xmlns:a16="http://schemas.microsoft.com/office/drawing/2014/main" id="{CA1536B8-E4EC-E253-D1EC-74A295E5F9CE}"/>
              </a:ext>
            </a:extLst>
          </p:cNvPr>
          <p:cNvSpPr txBox="1"/>
          <p:nvPr/>
        </p:nvSpPr>
        <p:spPr>
          <a:xfrm>
            <a:off x="9567029" y="3667568"/>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1499</a:t>
            </a:r>
          </a:p>
        </p:txBody>
      </p:sp>
      <p:sp>
        <p:nvSpPr>
          <p:cNvPr id="105" name="TextBox 104">
            <a:extLst>
              <a:ext uri="{FF2B5EF4-FFF2-40B4-BE49-F238E27FC236}">
                <a16:creationId xmlns:a16="http://schemas.microsoft.com/office/drawing/2014/main" id="{6602CE50-EAB2-5491-8447-C83EBD11A2FB}"/>
              </a:ext>
            </a:extLst>
          </p:cNvPr>
          <p:cNvSpPr txBox="1"/>
          <p:nvPr/>
        </p:nvSpPr>
        <p:spPr>
          <a:xfrm>
            <a:off x="9567029" y="4008569"/>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1575</a:t>
            </a:r>
          </a:p>
        </p:txBody>
      </p:sp>
      <p:sp>
        <p:nvSpPr>
          <p:cNvPr id="106" name="TextBox 105">
            <a:extLst>
              <a:ext uri="{FF2B5EF4-FFF2-40B4-BE49-F238E27FC236}">
                <a16:creationId xmlns:a16="http://schemas.microsoft.com/office/drawing/2014/main" id="{E7D102AA-872A-26EC-FA11-029089DAAD9E}"/>
              </a:ext>
            </a:extLst>
          </p:cNvPr>
          <p:cNvSpPr txBox="1"/>
          <p:nvPr/>
        </p:nvSpPr>
        <p:spPr>
          <a:xfrm>
            <a:off x="9632342" y="4349570"/>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506</a:t>
            </a:r>
          </a:p>
        </p:txBody>
      </p:sp>
      <p:sp>
        <p:nvSpPr>
          <p:cNvPr id="109" name="TextBox 108">
            <a:extLst>
              <a:ext uri="{FF2B5EF4-FFF2-40B4-BE49-F238E27FC236}">
                <a16:creationId xmlns:a16="http://schemas.microsoft.com/office/drawing/2014/main" id="{7F563DE4-7687-28E8-B53E-377BCB5A65E4}"/>
              </a:ext>
            </a:extLst>
          </p:cNvPr>
          <p:cNvSpPr txBox="1"/>
          <p:nvPr/>
        </p:nvSpPr>
        <p:spPr>
          <a:xfrm>
            <a:off x="9452915" y="469057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277-280</a:t>
            </a:r>
          </a:p>
        </p:txBody>
      </p:sp>
      <p:sp>
        <p:nvSpPr>
          <p:cNvPr id="110" name="TextBox 109">
            <a:extLst>
              <a:ext uri="{FF2B5EF4-FFF2-40B4-BE49-F238E27FC236}">
                <a16:creationId xmlns:a16="http://schemas.microsoft.com/office/drawing/2014/main" id="{F476B617-0D7D-486E-0FF1-3CA69FC4AADC}"/>
              </a:ext>
            </a:extLst>
          </p:cNvPr>
          <p:cNvSpPr txBox="1"/>
          <p:nvPr/>
        </p:nvSpPr>
        <p:spPr>
          <a:xfrm>
            <a:off x="9703289" y="5031572"/>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13" name="TextBox 112">
            <a:extLst>
              <a:ext uri="{FF2B5EF4-FFF2-40B4-BE49-F238E27FC236}">
                <a16:creationId xmlns:a16="http://schemas.microsoft.com/office/drawing/2014/main" id="{44C1AE19-C43E-E915-34A9-3FAE316A8AD3}"/>
              </a:ext>
            </a:extLst>
          </p:cNvPr>
          <p:cNvSpPr txBox="1"/>
          <p:nvPr/>
        </p:nvSpPr>
        <p:spPr>
          <a:xfrm>
            <a:off x="9703289" y="5372573"/>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31" name="TextBox 130">
            <a:extLst>
              <a:ext uri="{FF2B5EF4-FFF2-40B4-BE49-F238E27FC236}">
                <a16:creationId xmlns:a16="http://schemas.microsoft.com/office/drawing/2014/main" id="{6A256967-B1FF-974D-E8E9-17A2CF86134A}"/>
              </a:ext>
            </a:extLst>
          </p:cNvPr>
          <p:cNvSpPr txBox="1"/>
          <p:nvPr/>
        </p:nvSpPr>
        <p:spPr>
          <a:xfrm>
            <a:off x="9698035" y="5713574"/>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33" name="TextBox 132">
            <a:extLst>
              <a:ext uri="{FF2B5EF4-FFF2-40B4-BE49-F238E27FC236}">
                <a16:creationId xmlns:a16="http://schemas.microsoft.com/office/drawing/2014/main" id="{0C6EA70B-DFC0-A880-691A-44CCD7983927}"/>
              </a:ext>
            </a:extLst>
          </p:cNvPr>
          <p:cNvSpPr txBox="1"/>
          <p:nvPr/>
        </p:nvSpPr>
        <p:spPr>
          <a:xfrm>
            <a:off x="9643608" y="6054575"/>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0-1</a:t>
            </a:r>
          </a:p>
        </p:txBody>
      </p:sp>
      <p:sp>
        <p:nvSpPr>
          <p:cNvPr id="134" name="TextBox 133">
            <a:extLst>
              <a:ext uri="{FF2B5EF4-FFF2-40B4-BE49-F238E27FC236}">
                <a16:creationId xmlns:a16="http://schemas.microsoft.com/office/drawing/2014/main" id="{9903417F-55C4-2278-1033-B6C7FDACFFA9}"/>
              </a:ext>
            </a:extLst>
          </p:cNvPr>
          <p:cNvSpPr txBox="1"/>
          <p:nvPr/>
        </p:nvSpPr>
        <p:spPr>
          <a:xfrm>
            <a:off x="9480318" y="640632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93-644</a:t>
            </a:r>
          </a:p>
        </p:txBody>
      </p:sp>
      <p:cxnSp>
        <p:nvCxnSpPr>
          <p:cNvPr id="136" name="Straight Connector 135">
            <a:extLst>
              <a:ext uri="{FF2B5EF4-FFF2-40B4-BE49-F238E27FC236}">
                <a16:creationId xmlns:a16="http://schemas.microsoft.com/office/drawing/2014/main" id="{A47BAC27-4633-CCDD-D8ED-7A056CA7F0CC}"/>
              </a:ext>
            </a:extLst>
          </p:cNvPr>
          <p:cNvCxnSpPr/>
          <p:nvPr/>
        </p:nvCxnSpPr>
        <p:spPr>
          <a:xfrm>
            <a:off x="7402464" y="777321"/>
            <a:ext cx="1277343"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B016532C-629E-5AD1-CBE3-1CA9425AE050}"/>
              </a:ext>
            </a:extLst>
          </p:cNvPr>
          <p:cNvCxnSpPr/>
          <p:nvPr/>
        </p:nvCxnSpPr>
        <p:spPr>
          <a:xfrm>
            <a:off x="8341041" y="1121964"/>
            <a:ext cx="36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586EB141-1A3E-CE41-F73F-7D4084A01F71}"/>
              </a:ext>
            </a:extLst>
          </p:cNvPr>
          <p:cNvCxnSpPr/>
          <p:nvPr/>
        </p:nvCxnSpPr>
        <p:spPr>
          <a:xfrm>
            <a:off x="7184393" y="1441834"/>
            <a:ext cx="151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AFD0A89D-76AB-577D-D503-E09CA4BC7245}"/>
              </a:ext>
            </a:extLst>
          </p:cNvPr>
          <p:cNvCxnSpPr/>
          <p:nvPr/>
        </p:nvCxnSpPr>
        <p:spPr>
          <a:xfrm>
            <a:off x="7495229" y="1799307"/>
            <a:ext cx="1234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BFF4A8BE-27EA-5F5E-2407-C4FAE950FD39}"/>
              </a:ext>
            </a:extLst>
          </p:cNvPr>
          <p:cNvCxnSpPr/>
          <p:nvPr/>
        </p:nvCxnSpPr>
        <p:spPr>
          <a:xfrm>
            <a:off x="7306387" y="2134494"/>
            <a:ext cx="140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07717904-8B2E-6E2B-4788-18FA794E6D34}"/>
              </a:ext>
            </a:extLst>
          </p:cNvPr>
          <p:cNvCxnSpPr/>
          <p:nvPr/>
        </p:nvCxnSpPr>
        <p:spPr>
          <a:xfrm>
            <a:off x="7906043" y="2485100"/>
            <a:ext cx="802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D73B2FEE-6517-FC27-5497-5DF42F4B4BB5}"/>
              </a:ext>
            </a:extLst>
          </p:cNvPr>
          <p:cNvCxnSpPr/>
          <p:nvPr/>
        </p:nvCxnSpPr>
        <p:spPr>
          <a:xfrm>
            <a:off x="7120861" y="2830226"/>
            <a:ext cx="162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5083A4DD-77CF-2F51-536C-1B54774824DD}"/>
              </a:ext>
            </a:extLst>
          </p:cNvPr>
          <p:cNvCxnSpPr/>
          <p:nvPr/>
        </p:nvCxnSpPr>
        <p:spPr>
          <a:xfrm>
            <a:off x="6690165" y="3168148"/>
            <a:ext cx="205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3E0CFA2C-E1F4-A1F7-8F3E-A2CE405AB172}"/>
              </a:ext>
            </a:extLst>
          </p:cNvPr>
          <p:cNvCxnSpPr/>
          <p:nvPr/>
        </p:nvCxnSpPr>
        <p:spPr>
          <a:xfrm>
            <a:off x="7157307" y="3502767"/>
            <a:ext cx="156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8FF5975B-BE45-DC27-BDD8-D729D298F300}"/>
              </a:ext>
            </a:extLst>
          </p:cNvPr>
          <p:cNvCxnSpPr/>
          <p:nvPr/>
        </p:nvCxnSpPr>
        <p:spPr>
          <a:xfrm>
            <a:off x="6726626" y="3854480"/>
            <a:ext cx="201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DD51CDCF-BED2-5AE8-B297-080E2F76C9EF}"/>
              </a:ext>
            </a:extLst>
          </p:cNvPr>
          <p:cNvCxnSpPr/>
          <p:nvPr/>
        </p:nvCxnSpPr>
        <p:spPr>
          <a:xfrm>
            <a:off x="6413247" y="4190586"/>
            <a:ext cx="23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BF85C512-1FED-A555-A8F2-3A71F6CDA42F}"/>
              </a:ext>
            </a:extLst>
          </p:cNvPr>
          <p:cNvCxnSpPr/>
          <p:nvPr/>
        </p:nvCxnSpPr>
        <p:spPr>
          <a:xfrm>
            <a:off x="6824926" y="4529117"/>
            <a:ext cx="198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F4A51CA4-CD01-EF00-5A39-9DC6E6A03213}"/>
              </a:ext>
            </a:extLst>
          </p:cNvPr>
          <p:cNvCxnSpPr/>
          <p:nvPr/>
        </p:nvCxnSpPr>
        <p:spPr>
          <a:xfrm>
            <a:off x="6818300" y="4871844"/>
            <a:ext cx="180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C217FF9A-6E7E-DAE1-7DDD-B06111C39B4F}"/>
              </a:ext>
            </a:extLst>
          </p:cNvPr>
          <p:cNvCxnSpPr/>
          <p:nvPr/>
        </p:nvCxnSpPr>
        <p:spPr>
          <a:xfrm>
            <a:off x="7421234" y="5207218"/>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A51874E9-A5D6-0102-3E09-68C038FCA432}"/>
              </a:ext>
            </a:extLst>
          </p:cNvPr>
          <p:cNvCxnSpPr/>
          <p:nvPr/>
        </p:nvCxnSpPr>
        <p:spPr>
          <a:xfrm>
            <a:off x="7421234" y="5541534"/>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69F13F4-E857-45EE-DCF4-BBC199A1A343}"/>
              </a:ext>
            </a:extLst>
          </p:cNvPr>
          <p:cNvCxnSpPr/>
          <p:nvPr/>
        </p:nvCxnSpPr>
        <p:spPr>
          <a:xfrm>
            <a:off x="7421234" y="5898041"/>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1A56A286-C003-61DD-05DA-356D548B5266}"/>
              </a:ext>
            </a:extLst>
          </p:cNvPr>
          <p:cNvCxnSpPr/>
          <p:nvPr/>
        </p:nvCxnSpPr>
        <p:spPr>
          <a:xfrm>
            <a:off x="7421234" y="6213722"/>
            <a:ext cx="1386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BF6B8045-D823-28C4-EC53-2E531E9E297A}"/>
              </a:ext>
            </a:extLst>
          </p:cNvPr>
          <p:cNvCxnSpPr/>
          <p:nvPr/>
        </p:nvCxnSpPr>
        <p:spPr>
          <a:xfrm>
            <a:off x="7055637" y="6565199"/>
            <a:ext cx="158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8" name="Right Brace 187">
            <a:extLst>
              <a:ext uri="{FF2B5EF4-FFF2-40B4-BE49-F238E27FC236}">
                <a16:creationId xmlns:a16="http://schemas.microsoft.com/office/drawing/2014/main" id="{037483FA-3B88-B7AD-D1C4-48A157BA61BF}"/>
              </a:ext>
            </a:extLst>
          </p:cNvPr>
          <p:cNvSpPr/>
          <p:nvPr/>
        </p:nvSpPr>
        <p:spPr>
          <a:xfrm>
            <a:off x="7278028" y="5162103"/>
            <a:ext cx="159026" cy="1147712"/>
          </a:xfrm>
          <a:prstGeom prst="rightBrace">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1725700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D0B2C-8997-3B77-D0B7-90194BFA25F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13A08DC-4E7C-ACEA-DA40-79967C6D60F8}"/>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a:t>
            </a:r>
            <a:endParaRPr lang="en-US" sz="14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8E61C15C-82B5-2E78-31DF-44822DA663D1}"/>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C528889B-98CA-AFA7-A53B-3203E07C09B7}"/>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Parapanesthia gigantea</a:t>
            </a:r>
            <a:endParaRPr lang="en-US" sz="14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74F3BDC3-F633-D58E-B70D-EF577AE84AEF}"/>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a:t>
            </a:r>
            <a:endParaRPr lang="en-US" sz="14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1CB949F2-1381-3A14-3019-79CDCF5C5F07}"/>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a:t>
            </a:r>
            <a:endParaRPr lang="en-US" sz="14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70FED22D-A9DF-17E8-8B9B-7560C48FCBBE}"/>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(Eungella)</a:t>
            </a:r>
          </a:p>
        </p:txBody>
      </p:sp>
      <p:sp>
        <p:nvSpPr>
          <p:cNvPr id="17" name="TextBox 16">
            <a:extLst>
              <a:ext uri="{FF2B5EF4-FFF2-40B4-BE49-F238E27FC236}">
                <a16:creationId xmlns:a16="http://schemas.microsoft.com/office/drawing/2014/main" id="{897C47FE-0E36-A0F1-6550-3596011E069C}"/>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a:t>
            </a:r>
            <a:endParaRPr lang="en-US" sz="14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A5625E3F-004A-D57C-21E7-88E8BD591F2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a:t>
            </a:r>
            <a:endParaRPr lang="en-US" sz="14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BDEDAF99-4224-2760-059D-9DFBD97ED5FB}"/>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a:t>
            </a:r>
            <a:endParaRPr lang="en-US" sz="14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9E369BB4-1A07-64BE-D6B0-116521B77B35}"/>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a:t>
            </a:r>
            <a:endParaRPr lang="en-US" sz="14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FF748A0E-1E47-0A80-FF4D-4FBDED16716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a:t>
            </a:r>
            <a:endParaRPr lang="en-US" sz="1400"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737AF6C3-7298-0FBB-4AA5-8C2BEE3FB73B}"/>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E5F6BC6F-E221-7CFF-97DF-9684A33A8A28}"/>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E90BD170-C903-28D4-D5B3-1B16AB98C4B6}"/>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8984C961-DE3F-B544-255C-1297A3FFA4D6}"/>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03ECD054-15C5-5A85-83C3-06246CAC851B}"/>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EF7292-6BF8-C5DE-0A47-396728D0E00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3B106A1F-EB75-5B97-C19B-82161FA148C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5B4488F3-4B61-0DC8-B3BD-4AE9DFBF5431}"/>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C10F5F3B-0A98-0BB0-81E9-CCF66F290560}"/>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6158331-4A06-7029-8493-7B3F837D6B26}"/>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51AC26C-3CFD-237B-C98E-4DB794E17DBE}"/>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C3A23B2-A54A-56F3-EE1F-CF0DC562B1ED}"/>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F92DEDE-D7ED-CF9B-BF99-9B3975C0FFC6}"/>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4F0CB45-CFBC-14B1-499B-C26B1632B145}"/>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15DB561-27DD-F427-43E8-4EBBAA63F639}"/>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06B9502-BAAC-085A-3BD1-B2D1C806E4ED}"/>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A23621A-3D71-65D9-621B-59BB0E79193C}"/>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4438DA0-BFB5-8BA8-CED5-BF85C04153B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BD84C9BE-8B9D-030F-BB51-09462B3033F9}"/>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AC654AD-C5AC-97A3-C714-A34A5AB6EDA6}"/>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B175F652-FAF3-025C-A4D5-7A9E7EB14086}"/>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B49528B7-64EB-6C38-EA7F-865C8E913892}"/>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24DA60D0-0E41-682F-7200-63B37DE41331}"/>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03C978D8-034C-4EEE-D83F-66E281B77DDE}"/>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FD884E1-058D-2A8B-2229-0A05D6AC49F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25B1F79-3192-FA19-9955-3C8CF02BD641}"/>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B2130E16-C93C-E23E-AE85-8ABE80B43C2A}"/>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05A4A48-A68A-203D-8F6F-CCD9D673FE5B}"/>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B81BBBC6-B308-A423-B396-3B1986F3726A}"/>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A5309B1-3A31-A6CC-4F73-41AF20F7703C}"/>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73BFA7E-E807-32DF-6366-02B244FF19EE}"/>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63815ED-7DE3-F882-6BF9-019D0D3CB1FB}"/>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3FA3B94-6669-767F-E862-1B9BA339304C}"/>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99D760D4-E829-BBB1-849C-291465CB01A3}"/>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8F1B0A73-D14B-4786-9545-919CF8ECCE2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02EAB146-2743-BD67-0601-35B1C289273E}"/>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6D27D36-A52B-A441-72CD-0B093F547EC4}"/>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5AD00B48-0462-3621-C1D6-C14D94D7F0BB}"/>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921FA90-82FF-DB66-E822-32FE09F641F6}"/>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F55D08AC-51B9-D6AF-1AC9-3F5B4DFE5BEC}"/>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09BCFD4A-DF6D-2806-6E34-B8CB4B8A4322}"/>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6F91D525-CB91-96E0-245B-EEA55D95222E}"/>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20920C8F-41F8-F428-DCF4-3A2CE07312D6}"/>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A18C39BF-4D33-B1D2-4DF1-DCA4D8F01A76}"/>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159CC616-39DD-F14B-2EDA-291E86106F62}"/>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C464B5E-BC35-1D1C-1055-BD75520AAD9E}"/>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221DD6ED-B922-F381-DCF5-46163CEFDB7F}"/>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0103F4B0-32F0-8B9B-C51A-A56CA7DE0BBA}"/>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42901C0E-5E02-8AD8-AD33-AF0CCC254E5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E025A093-DF4F-11D6-5A6D-6B3B5D249C00}"/>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BB6644B7-0A8A-B943-B93A-ED664547C334}"/>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6CC24827-C025-2F67-0A3E-9AE71150A28A}"/>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1744BCF0-5F50-28C2-06C9-ECBBCB6BCA70}"/>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7D3CC6F8-8581-17C6-4FE9-70433E021743}"/>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60B05CB1-F4DD-6B3E-96FA-8FCE6378742E}"/>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7020005B-6060-6A76-A3AA-1F4F78142F7E}"/>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BDA5D379-F589-1FF5-44C6-4CC9473F6672}"/>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A14098E2-7441-DEF4-959E-999523F0A1C2}"/>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620F5B74-0512-BA2E-0B4A-022F23AED86C}"/>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5DA3C87C-30CA-30A5-AD1B-42671EE8F956}"/>
              </a:ext>
            </a:extLst>
          </p:cNvPr>
          <p:cNvSpPr txBox="1"/>
          <p:nvPr/>
        </p:nvSpPr>
        <p:spPr>
          <a:xfrm>
            <a:off x="8228398" y="-2732"/>
            <a:ext cx="2432076"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Number of HGT inserts</a:t>
            </a:r>
          </a:p>
        </p:txBody>
      </p:sp>
      <p:sp>
        <p:nvSpPr>
          <p:cNvPr id="114" name="TextBox 113">
            <a:extLst>
              <a:ext uri="{FF2B5EF4-FFF2-40B4-BE49-F238E27FC236}">
                <a16:creationId xmlns:a16="http://schemas.microsoft.com/office/drawing/2014/main" id="{06A41598-4DE9-BCC5-7996-C1EA35B5115A}"/>
              </a:ext>
            </a:extLst>
          </p:cNvPr>
          <p:cNvSpPr txBox="1"/>
          <p:nvPr/>
        </p:nvSpPr>
        <p:spPr>
          <a:xfrm>
            <a:off x="680967" y="506994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2C377B3B-1486-C6E1-2762-CF7B96AADD8C}"/>
              </a:ext>
            </a:extLst>
          </p:cNvPr>
          <p:cNvSpPr txBox="1"/>
          <p:nvPr/>
        </p:nvSpPr>
        <p:spPr>
          <a:xfrm>
            <a:off x="2910982" y="59926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ADCEB178-20CD-979F-C8B3-B6DAAC2A7F70}"/>
              </a:ext>
            </a:extLst>
          </p:cNvPr>
          <p:cNvSpPr txBox="1"/>
          <p:nvPr/>
        </p:nvSpPr>
        <p:spPr>
          <a:xfrm>
            <a:off x="3907447" y="5430515"/>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DCD7299A-83E7-9EC1-039F-F8D87C3A735B}"/>
              </a:ext>
            </a:extLst>
          </p:cNvPr>
          <p:cNvSpPr txBox="1"/>
          <p:nvPr/>
        </p:nvSpPr>
        <p:spPr>
          <a:xfrm>
            <a:off x="3351681" y="5703188"/>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77DAD88A-3945-3B4C-CE76-CFA2E8F27CCB}"/>
              </a:ext>
            </a:extLst>
          </p:cNvPr>
          <p:cNvSpPr txBox="1"/>
          <p:nvPr/>
        </p:nvSpPr>
        <p:spPr>
          <a:xfrm>
            <a:off x="4359046" y="5156227"/>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9986365D-9BB7-99CE-7C36-D4E5CB5CDDBA}"/>
              </a:ext>
            </a:extLst>
          </p:cNvPr>
          <p:cNvSpPr txBox="1"/>
          <p:nvPr/>
        </p:nvSpPr>
        <p:spPr>
          <a:xfrm>
            <a:off x="1145860" y="41905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145</a:t>
            </a:r>
          </a:p>
        </p:txBody>
      </p:sp>
      <p:sp>
        <p:nvSpPr>
          <p:cNvPr id="120" name="TextBox 119">
            <a:extLst>
              <a:ext uri="{FF2B5EF4-FFF2-40B4-BE49-F238E27FC236}">
                <a16:creationId xmlns:a16="http://schemas.microsoft.com/office/drawing/2014/main" id="{91C8A452-6953-C976-D23F-7FEE68B2874E}"/>
              </a:ext>
            </a:extLst>
          </p:cNvPr>
          <p:cNvSpPr txBox="1"/>
          <p:nvPr/>
        </p:nvSpPr>
        <p:spPr>
          <a:xfrm>
            <a:off x="1494240" y="3732461"/>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5551D6EB-5E4F-3BB3-7945-BADF6D168600}"/>
              </a:ext>
            </a:extLst>
          </p:cNvPr>
          <p:cNvSpPr txBox="1"/>
          <p:nvPr/>
        </p:nvSpPr>
        <p:spPr>
          <a:xfrm>
            <a:off x="1913081" y="3166990"/>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69CA28E2-F05F-C168-B711-140B7207D47B}"/>
              </a:ext>
            </a:extLst>
          </p:cNvPr>
          <p:cNvSpPr txBox="1"/>
          <p:nvPr/>
        </p:nvSpPr>
        <p:spPr>
          <a:xfrm>
            <a:off x="2388264" y="2587057"/>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67FE8861-D637-4CAC-231C-715F721C0214}"/>
              </a:ext>
            </a:extLst>
          </p:cNvPr>
          <p:cNvSpPr txBox="1"/>
          <p:nvPr/>
        </p:nvSpPr>
        <p:spPr>
          <a:xfrm>
            <a:off x="4170938" y="3098083"/>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8E914DC1-26A1-9A8E-3083-5FCA879463F8}"/>
              </a:ext>
            </a:extLst>
          </p:cNvPr>
          <p:cNvSpPr txBox="1"/>
          <p:nvPr/>
        </p:nvSpPr>
        <p:spPr>
          <a:xfrm>
            <a:off x="2852498" y="2063278"/>
            <a:ext cx="946010"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7E855081-11AA-6EBF-E182-E48283702CFD}"/>
              </a:ext>
            </a:extLst>
          </p:cNvPr>
          <p:cNvSpPr txBox="1"/>
          <p:nvPr/>
        </p:nvSpPr>
        <p:spPr>
          <a:xfrm>
            <a:off x="3292023" y="1548275"/>
            <a:ext cx="848111"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B9E94D1F-F901-9C42-78CE-2ACADC75CA90}"/>
              </a:ext>
            </a:extLst>
          </p:cNvPr>
          <p:cNvSpPr txBox="1"/>
          <p:nvPr/>
        </p:nvSpPr>
        <p:spPr>
          <a:xfrm>
            <a:off x="4176419" y="2044197"/>
            <a:ext cx="914487"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FBBFC1CE-CBE9-0603-03FF-CD078D33FD0F}"/>
              </a:ext>
            </a:extLst>
          </p:cNvPr>
          <p:cNvSpPr txBox="1"/>
          <p:nvPr/>
        </p:nvSpPr>
        <p:spPr>
          <a:xfrm>
            <a:off x="4249207" y="1389855"/>
            <a:ext cx="794253"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EFC1B69B-D697-891C-9039-59CA356E3EB0}"/>
              </a:ext>
            </a:extLst>
          </p:cNvPr>
          <p:cNvSpPr txBox="1"/>
          <p:nvPr/>
        </p:nvSpPr>
        <p:spPr>
          <a:xfrm>
            <a:off x="4240899" y="698765"/>
            <a:ext cx="899536"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870F93D2-7387-C417-90DA-B3A88F0F8C84}"/>
              </a:ext>
            </a:extLst>
          </p:cNvPr>
          <p:cNvSpPr txBox="1"/>
          <p:nvPr/>
        </p:nvSpPr>
        <p:spPr>
          <a:xfrm>
            <a:off x="3742830" y="1010920"/>
            <a:ext cx="777088"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12.73</a:t>
            </a:r>
          </a:p>
        </p:txBody>
      </p:sp>
      <p:sp>
        <p:nvSpPr>
          <p:cNvPr id="2" name="TextBox 1">
            <a:extLst>
              <a:ext uri="{FF2B5EF4-FFF2-40B4-BE49-F238E27FC236}">
                <a16:creationId xmlns:a16="http://schemas.microsoft.com/office/drawing/2014/main" id="{1F9D314B-082E-E091-22F0-B57DCFA77304}"/>
              </a:ext>
            </a:extLst>
          </p:cNvPr>
          <p:cNvSpPr txBox="1"/>
          <p:nvPr/>
        </p:nvSpPr>
        <p:spPr>
          <a:xfrm>
            <a:off x="8691531" y="610260"/>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5841</a:t>
            </a:r>
          </a:p>
        </p:txBody>
      </p:sp>
      <p:sp>
        <p:nvSpPr>
          <p:cNvPr id="3" name="TextBox 2">
            <a:extLst>
              <a:ext uri="{FF2B5EF4-FFF2-40B4-BE49-F238E27FC236}">
                <a16:creationId xmlns:a16="http://schemas.microsoft.com/office/drawing/2014/main" id="{124FA31C-64D4-FD5D-26BF-F783E8893DDF}"/>
              </a:ext>
            </a:extLst>
          </p:cNvPr>
          <p:cNvSpPr txBox="1"/>
          <p:nvPr/>
        </p:nvSpPr>
        <p:spPr>
          <a:xfrm>
            <a:off x="8691531" y="951261"/>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4865</a:t>
            </a:r>
          </a:p>
        </p:txBody>
      </p:sp>
      <p:sp>
        <p:nvSpPr>
          <p:cNvPr id="4" name="TextBox 3">
            <a:extLst>
              <a:ext uri="{FF2B5EF4-FFF2-40B4-BE49-F238E27FC236}">
                <a16:creationId xmlns:a16="http://schemas.microsoft.com/office/drawing/2014/main" id="{F10AAD48-4FDB-59DB-CFDF-B93F3DEFECBE}"/>
              </a:ext>
            </a:extLst>
          </p:cNvPr>
          <p:cNvSpPr txBox="1"/>
          <p:nvPr/>
        </p:nvSpPr>
        <p:spPr>
          <a:xfrm>
            <a:off x="8691531" y="1292262"/>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4378</a:t>
            </a:r>
          </a:p>
        </p:txBody>
      </p:sp>
      <p:sp>
        <p:nvSpPr>
          <p:cNvPr id="5" name="TextBox 4">
            <a:extLst>
              <a:ext uri="{FF2B5EF4-FFF2-40B4-BE49-F238E27FC236}">
                <a16:creationId xmlns:a16="http://schemas.microsoft.com/office/drawing/2014/main" id="{68AD3BC0-9B57-917C-9AA4-CA2FEA1B9257}"/>
              </a:ext>
            </a:extLst>
          </p:cNvPr>
          <p:cNvSpPr txBox="1"/>
          <p:nvPr/>
        </p:nvSpPr>
        <p:spPr>
          <a:xfrm>
            <a:off x="8696788" y="1633263"/>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4248</a:t>
            </a:r>
          </a:p>
        </p:txBody>
      </p:sp>
      <p:sp>
        <p:nvSpPr>
          <p:cNvPr id="6" name="TextBox 5">
            <a:extLst>
              <a:ext uri="{FF2B5EF4-FFF2-40B4-BE49-F238E27FC236}">
                <a16:creationId xmlns:a16="http://schemas.microsoft.com/office/drawing/2014/main" id="{6AFBEC49-6A8A-D8BF-CA1B-13B700AF343C}"/>
              </a:ext>
            </a:extLst>
          </p:cNvPr>
          <p:cNvSpPr txBox="1"/>
          <p:nvPr/>
        </p:nvSpPr>
        <p:spPr>
          <a:xfrm>
            <a:off x="8696788" y="1974264"/>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5389</a:t>
            </a:r>
          </a:p>
        </p:txBody>
      </p:sp>
      <p:sp>
        <p:nvSpPr>
          <p:cNvPr id="8" name="TextBox 7">
            <a:extLst>
              <a:ext uri="{FF2B5EF4-FFF2-40B4-BE49-F238E27FC236}">
                <a16:creationId xmlns:a16="http://schemas.microsoft.com/office/drawing/2014/main" id="{599B3691-7932-62D0-CBB7-76C84D294C87}"/>
              </a:ext>
            </a:extLst>
          </p:cNvPr>
          <p:cNvSpPr txBox="1"/>
          <p:nvPr/>
        </p:nvSpPr>
        <p:spPr>
          <a:xfrm>
            <a:off x="8696788" y="2315265"/>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4621</a:t>
            </a:r>
          </a:p>
        </p:txBody>
      </p:sp>
      <p:sp>
        <p:nvSpPr>
          <p:cNvPr id="9" name="TextBox 8">
            <a:extLst>
              <a:ext uri="{FF2B5EF4-FFF2-40B4-BE49-F238E27FC236}">
                <a16:creationId xmlns:a16="http://schemas.microsoft.com/office/drawing/2014/main" id="{31C2B23F-9B2A-AE53-C554-D2750BAB6420}"/>
              </a:ext>
            </a:extLst>
          </p:cNvPr>
          <p:cNvSpPr txBox="1"/>
          <p:nvPr/>
        </p:nvSpPr>
        <p:spPr>
          <a:xfrm>
            <a:off x="8707298" y="2656266"/>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4822</a:t>
            </a:r>
          </a:p>
        </p:txBody>
      </p:sp>
      <p:sp>
        <p:nvSpPr>
          <p:cNvPr id="11" name="TextBox 10">
            <a:extLst>
              <a:ext uri="{FF2B5EF4-FFF2-40B4-BE49-F238E27FC236}">
                <a16:creationId xmlns:a16="http://schemas.microsoft.com/office/drawing/2014/main" id="{4332AC24-47B7-86A7-9200-9E39EFA1FD41}"/>
              </a:ext>
            </a:extLst>
          </p:cNvPr>
          <p:cNvSpPr txBox="1"/>
          <p:nvPr/>
        </p:nvSpPr>
        <p:spPr>
          <a:xfrm>
            <a:off x="8707298" y="2997267"/>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3414</a:t>
            </a:r>
          </a:p>
        </p:txBody>
      </p:sp>
      <p:sp>
        <p:nvSpPr>
          <p:cNvPr id="16" name="TextBox 15">
            <a:extLst>
              <a:ext uri="{FF2B5EF4-FFF2-40B4-BE49-F238E27FC236}">
                <a16:creationId xmlns:a16="http://schemas.microsoft.com/office/drawing/2014/main" id="{C3A19AB5-7B1F-D0F9-65A0-9740489833AB}"/>
              </a:ext>
            </a:extLst>
          </p:cNvPr>
          <p:cNvSpPr txBox="1"/>
          <p:nvPr/>
        </p:nvSpPr>
        <p:spPr>
          <a:xfrm>
            <a:off x="8707297" y="3338268"/>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3120</a:t>
            </a:r>
          </a:p>
        </p:txBody>
      </p:sp>
      <p:sp>
        <p:nvSpPr>
          <p:cNvPr id="29" name="TextBox 28">
            <a:extLst>
              <a:ext uri="{FF2B5EF4-FFF2-40B4-BE49-F238E27FC236}">
                <a16:creationId xmlns:a16="http://schemas.microsoft.com/office/drawing/2014/main" id="{00256631-0F7E-CEB5-02AA-A97746A50BA3}"/>
              </a:ext>
            </a:extLst>
          </p:cNvPr>
          <p:cNvSpPr txBox="1"/>
          <p:nvPr/>
        </p:nvSpPr>
        <p:spPr>
          <a:xfrm>
            <a:off x="8702044" y="3679269"/>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1814</a:t>
            </a:r>
          </a:p>
        </p:txBody>
      </p:sp>
      <p:sp>
        <p:nvSpPr>
          <p:cNvPr id="33" name="TextBox 32">
            <a:extLst>
              <a:ext uri="{FF2B5EF4-FFF2-40B4-BE49-F238E27FC236}">
                <a16:creationId xmlns:a16="http://schemas.microsoft.com/office/drawing/2014/main" id="{88840D15-C89C-EFB0-6FDE-6B7115BF15EA}"/>
              </a:ext>
            </a:extLst>
          </p:cNvPr>
          <p:cNvSpPr txBox="1"/>
          <p:nvPr/>
        </p:nvSpPr>
        <p:spPr>
          <a:xfrm>
            <a:off x="8702044" y="4020270"/>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1849</a:t>
            </a:r>
          </a:p>
        </p:txBody>
      </p:sp>
      <p:sp>
        <p:nvSpPr>
          <p:cNvPr id="34" name="TextBox 33">
            <a:extLst>
              <a:ext uri="{FF2B5EF4-FFF2-40B4-BE49-F238E27FC236}">
                <a16:creationId xmlns:a16="http://schemas.microsoft.com/office/drawing/2014/main" id="{B48A0F5A-0B18-864D-C7DC-BE3604B93132}"/>
              </a:ext>
            </a:extLst>
          </p:cNvPr>
          <p:cNvSpPr txBox="1"/>
          <p:nvPr/>
        </p:nvSpPr>
        <p:spPr>
          <a:xfrm>
            <a:off x="8778245" y="4361271"/>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875</a:t>
            </a:r>
          </a:p>
        </p:txBody>
      </p:sp>
      <p:sp>
        <p:nvSpPr>
          <p:cNvPr id="41" name="TextBox 40">
            <a:extLst>
              <a:ext uri="{FF2B5EF4-FFF2-40B4-BE49-F238E27FC236}">
                <a16:creationId xmlns:a16="http://schemas.microsoft.com/office/drawing/2014/main" id="{2F74B669-8B9F-6FBB-6859-3D62C1FBFA6C}"/>
              </a:ext>
            </a:extLst>
          </p:cNvPr>
          <p:cNvSpPr txBox="1"/>
          <p:nvPr/>
        </p:nvSpPr>
        <p:spPr>
          <a:xfrm>
            <a:off x="8598818" y="470227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246-840</a:t>
            </a:r>
          </a:p>
        </p:txBody>
      </p:sp>
      <p:sp>
        <p:nvSpPr>
          <p:cNvPr id="42" name="TextBox 41">
            <a:extLst>
              <a:ext uri="{FF2B5EF4-FFF2-40B4-BE49-F238E27FC236}">
                <a16:creationId xmlns:a16="http://schemas.microsoft.com/office/drawing/2014/main" id="{352B9156-F2A7-3575-A129-2733BF524FD3}"/>
              </a:ext>
            </a:extLst>
          </p:cNvPr>
          <p:cNvSpPr txBox="1"/>
          <p:nvPr/>
        </p:nvSpPr>
        <p:spPr>
          <a:xfrm>
            <a:off x="8832644" y="5043273"/>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a:t>
            </a:r>
          </a:p>
        </p:txBody>
      </p:sp>
      <p:sp>
        <p:nvSpPr>
          <p:cNvPr id="49" name="TextBox 48">
            <a:extLst>
              <a:ext uri="{FF2B5EF4-FFF2-40B4-BE49-F238E27FC236}">
                <a16:creationId xmlns:a16="http://schemas.microsoft.com/office/drawing/2014/main" id="{390C6842-CC76-0021-FA48-F53BBD464EB1}"/>
              </a:ext>
            </a:extLst>
          </p:cNvPr>
          <p:cNvSpPr txBox="1"/>
          <p:nvPr/>
        </p:nvSpPr>
        <p:spPr>
          <a:xfrm>
            <a:off x="8860076" y="5384274"/>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6</a:t>
            </a:r>
          </a:p>
        </p:txBody>
      </p:sp>
      <p:sp>
        <p:nvSpPr>
          <p:cNvPr id="50" name="TextBox 49">
            <a:extLst>
              <a:ext uri="{FF2B5EF4-FFF2-40B4-BE49-F238E27FC236}">
                <a16:creationId xmlns:a16="http://schemas.microsoft.com/office/drawing/2014/main" id="{27AD9F64-CC2A-8E94-A36B-6CD37B4A5096}"/>
              </a:ext>
            </a:extLst>
          </p:cNvPr>
          <p:cNvSpPr txBox="1"/>
          <p:nvPr/>
        </p:nvSpPr>
        <p:spPr>
          <a:xfrm>
            <a:off x="8854822" y="5725275"/>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a:t>
            </a:r>
          </a:p>
        </p:txBody>
      </p:sp>
      <p:sp>
        <p:nvSpPr>
          <p:cNvPr id="54" name="TextBox 53">
            <a:extLst>
              <a:ext uri="{FF2B5EF4-FFF2-40B4-BE49-F238E27FC236}">
                <a16:creationId xmlns:a16="http://schemas.microsoft.com/office/drawing/2014/main" id="{7A1928D2-C704-7A73-0C0F-5E25AC63193A}"/>
              </a:ext>
            </a:extLst>
          </p:cNvPr>
          <p:cNvSpPr txBox="1"/>
          <p:nvPr/>
        </p:nvSpPr>
        <p:spPr>
          <a:xfrm>
            <a:off x="8771221" y="6047988"/>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2-50</a:t>
            </a:r>
          </a:p>
        </p:txBody>
      </p:sp>
      <p:sp>
        <p:nvSpPr>
          <p:cNvPr id="55" name="TextBox 54">
            <a:extLst>
              <a:ext uri="{FF2B5EF4-FFF2-40B4-BE49-F238E27FC236}">
                <a16:creationId xmlns:a16="http://schemas.microsoft.com/office/drawing/2014/main" id="{378A4214-8176-16E7-62DC-F35ABFC597D4}"/>
              </a:ext>
            </a:extLst>
          </p:cNvPr>
          <p:cNvSpPr txBox="1"/>
          <p:nvPr/>
        </p:nvSpPr>
        <p:spPr>
          <a:xfrm>
            <a:off x="8604448" y="640727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543-555</a:t>
            </a:r>
          </a:p>
        </p:txBody>
      </p:sp>
      <p:sp>
        <p:nvSpPr>
          <p:cNvPr id="60" name="TextBox 59">
            <a:extLst>
              <a:ext uri="{FF2B5EF4-FFF2-40B4-BE49-F238E27FC236}">
                <a16:creationId xmlns:a16="http://schemas.microsoft.com/office/drawing/2014/main" id="{1D7F4047-72F2-5314-2087-46A1ECF407B6}"/>
              </a:ext>
            </a:extLst>
          </p:cNvPr>
          <p:cNvSpPr txBox="1"/>
          <p:nvPr/>
        </p:nvSpPr>
        <p:spPr>
          <a:xfrm>
            <a:off x="7421234" y="5575262"/>
            <a:ext cx="914490" cy="307777"/>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E8085B42-C68B-2921-0792-17594AE253E8}"/>
              </a:ext>
            </a:extLst>
          </p:cNvPr>
          <p:cNvSpPr txBox="1"/>
          <p:nvPr/>
        </p:nvSpPr>
        <p:spPr>
          <a:xfrm>
            <a:off x="4243627" y="3770067"/>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1.81</a:t>
            </a:r>
          </a:p>
        </p:txBody>
      </p:sp>
      <p:sp>
        <p:nvSpPr>
          <p:cNvPr id="64" name="TextBox 63">
            <a:extLst>
              <a:ext uri="{FF2B5EF4-FFF2-40B4-BE49-F238E27FC236}">
                <a16:creationId xmlns:a16="http://schemas.microsoft.com/office/drawing/2014/main" id="{32B094EC-6E5F-2A80-7843-BE26F1F22371}"/>
              </a:ext>
            </a:extLst>
          </p:cNvPr>
          <p:cNvSpPr txBox="1"/>
          <p:nvPr/>
        </p:nvSpPr>
        <p:spPr>
          <a:xfrm>
            <a:off x="209193" y="-347835"/>
            <a:ext cx="3238259" cy="369332"/>
          </a:xfrm>
          <a:prstGeom prst="rect">
            <a:avLst/>
          </a:prstGeom>
          <a:noFill/>
        </p:spPr>
        <p:txBody>
          <a:bodyPr wrap="none" rtlCol="0">
            <a:spAutoFit/>
          </a:bodyPr>
          <a:lstStyle/>
          <a:p>
            <a:r>
              <a:rPr lang="en-US" b="1" dirty="0"/>
              <a:t>Figure SX – alternative filtering</a:t>
            </a:r>
          </a:p>
        </p:txBody>
      </p:sp>
      <p:sp>
        <p:nvSpPr>
          <p:cNvPr id="66" name="TextBox 65">
            <a:extLst>
              <a:ext uri="{FF2B5EF4-FFF2-40B4-BE49-F238E27FC236}">
                <a16:creationId xmlns:a16="http://schemas.microsoft.com/office/drawing/2014/main" id="{48752220-E5B7-D1B1-C4D7-DCDD63773EE0}"/>
              </a:ext>
            </a:extLst>
          </p:cNvPr>
          <p:cNvSpPr txBox="1"/>
          <p:nvPr/>
        </p:nvSpPr>
        <p:spPr>
          <a:xfrm>
            <a:off x="8689582" y="331840"/>
            <a:ext cx="1607876" cy="307777"/>
          </a:xfrm>
          <a:prstGeom prst="rect">
            <a:avLst/>
          </a:prstGeom>
          <a:noFill/>
        </p:spPr>
        <p:txBody>
          <a:bodyPr wrap="none" rtlCol="0">
            <a:spAutoFit/>
          </a:bodyPr>
          <a:lstStyle/>
          <a:p>
            <a:r>
              <a:rPr lang="en-US" sz="1400" b="1" i="1" dirty="0">
                <a:latin typeface="Arial" panose="020B0604020202020204" pitchFamily="34" charset="0"/>
                <a:cs typeface="Arial" panose="020B0604020202020204" pitchFamily="34" charset="0"/>
              </a:rPr>
              <a:t>Total       Unique</a:t>
            </a:r>
          </a:p>
        </p:txBody>
      </p:sp>
      <p:cxnSp>
        <p:nvCxnSpPr>
          <p:cNvPr id="74" name="Straight Connector 73">
            <a:extLst>
              <a:ext uri="{FF2B5EF4-FFF2-40B4-BE49-F238E27FC236}">
                <a16:creationId xmlns:a16="http://schemas.microsoft.com/office/drawing/2014/main" id="{EAD38E62-AB82-743F-69AA-FA0C466DD926}"/>
              </a:ext>
            </a:extLst>
          </p:cNvPr>
          <p:cNvCxnSpPr>
            <a:cxnSpLocks/>
          </p:cNvCxnSpPr>
          <p:nvPr/>
        </p:nvCxnSpPr>
        <p:spPr>
          <a:xfrm>
            <a:off x="9433248" y="456402"/>
            <a:ext cx="0" cy="6243902"/>
          </a:xfrm>
          <a:prstGeom prst="line">
            <a:avLst/>
          </a:prstGeom>
          <a:ln w="12700">
            <a:solidFill>
              <a:schemeClr val="accent1"/>
            </a:solidFill>
            <a:prstDash val="sysDot"/>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63F6CC6B-8902-F730-AED1-F0CB0B4EF094}"/>
              </a:ext>
            </a:extLst>
          </p:cNvPr>
          <p:cNvSpPr txBox="1"/>
          <p:nvPr/>
        </p:nvSpPr>
        <p:spPr>
          <a:xfrm>
            <a:off x="9556516" y="598559"/>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5669</a:t>
            </a:r>
          </a:p>
        </p:txBody>
      </p:sp>
      <p:sp>
        <p:nvSpPr>
          <p:cNvPr id="83" name="TextBox 82">
            <a:extLst>
              <a:ext uri="{FF2B5EF4-FFF2-40B4-BE49-F238E27FC236}">
                <a16:creationId xmlns:a16="http://schemas.microsoft.com/office/drawing/2014/main" id="{9354EA0E-FF4C-2020-0CC7-3ACD366AAB53}"/>
              </a:ext>
            </a:extLst>
          </p:cNvPr>
          <p:cNvSpPr txBox="1"/>
          <p:nvPr/>
        </p:nvSpPr>
        <p:spPr>
          <a:xfrm>
            <a:off x="9556516" y="939560"/>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4680</a:t>
            </a:r>
          </a:p>
        </p:txBody>
      </p:sp>
      <p:sp>
        <p:nvSpPr>
          <p:cNvPr id="84" name="TextBox 83">
            <a:extLst>
              <a:ext uri="{FF2B5EF4-FFF2-40B4-BE49-F238E27FC236}">
                <a16:creationId xmlns:a16="http://schemas.microsoft.com/office/drawing/2014/main" id="{EB479EBB-8BE9-D121-68D7-2B99EB90C589}"/>
              </a:ext>
            </a:extLst>
          </p:cNvPr>
          <p:cNvSpPr txBox="1"/>
          <p:nvPr/>
        </p:nvSpPr>
        <p:spPr>
          <a:xfrm>
            <a:off x="9556516" y="1280561"/>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4261</a:t>
            </a:r>
          </a:p>
        </p:txBody>
      </p:sp>
      <p:sp>
        <p:nvSpPr>
          <p:cNvPr id="86" name="TextBox 85">
            <a:extLst>
              <a:ext uri="{FF2B5EF4-FFF2-40B4-BE49-F238E27FC236}">
                <a16:creationId xmlns:a16="http://schemas.microsoft.com/office/drawing/2014/main" id="{5B02A2B9-2952-ABDB-BE75-A693B2C8008C}"/>
              </a:ext>
            </a:extLst>
          </p:cNvPr>
          <p:cNvSpPr txBox="1"/>
          <p:nvPr/>
        </p:nvSpPr>
        <p:spPr>
          <a:xfrm>
            <a:off x="9561773" y="1621562"/>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4132</a:t>
            </a:r>
          </a:p>
        </p:txBody>
      </p:sp>
      <p:sp>
        <p:nvSpPr>
          <p:cNvPr id="93" name="TextBox 92">
            <a:extLst>
              <a:ext uri="{FF2B5EF4-FFF2-40B4-BE49-F238E27FC236}">
                <a16:creationId xmlns:a16="http://schemas.microsoft.com/office/drawing/2014/main" id="{51E4E6C4-DB13-8F4E-5258-8E2121056A2E}"/>
              </a:ext>
            </a:extLst>
          </p:cNvPr>
          <p:cNvSpPr txBox="1"/>
          <p:nvPr/>
        </p:nvSpPr>
        <p:spPr>
          <a:xfrm>
            <a:off x="9561773" y="1962563"/>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5260</a:t>
            </a:r>
          </a:p>
        </p:txBody>
      </p:sp>
      <p:sp>
        <p:nvSpPr>
          <p:cNvPr id="97" name="TextBox 96">
            <a:extLst>
              <a:ext uri="{FF2B5EF4-FFF2-40B4-BE49-F238E27FC236}">
                <a16:creationId xmlns:a16="http://schemas.microsoft.com/office/drawing/2014/main" id="{46D46E44-766A-74FB-F425-944B1E10E1C4}"/>
              </a:ext>
            </a:extLst>
          </p:cNvPr>
          <p:cNvSpPr txBox="1"/>
          <p:nvPr/>
        </p:nvSpPr>
        <p:spPr>
          <a:xfrm>
            <a:off x="9561773" y="2303564"/>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4492</a:t>
            </a:r>
          </a:p>
        </p:txBody>
      </p:sp>
      <p:sp>
        <p:nvSpPr>
          <p:cNvPr id="98" name="TextBox 97">
            <a:extLst>
              <a:ext uri="{FF2B5EF4-FFF2-40B4-BE49-F238E27FC236}">
                <a16:creationId xmlns:a16="http://schemas.microsoft.com/office/drawing/2014/main" id="{D59F3520-8148-0E72-FFF9-C39DB1CC4083}"/>
              </a:ext>
            </a:extLst>
          </p:cNvPr>
          <p:cNvSpPr txBox="1"/>
          <p:nvPr/>
        </p:nvSpPr>
        <p:spPr>
          <a:xfrm>
            <a:off x="9572283" y="2644565"/>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4690</a:t>
            </a:r>
          </a:p>
        </p:txBody>
      </p:sp>
      <p:sp>
        <p:nvSpPr>
          <p:cNvPr id="101" name="TextBox 100">
            <a:extLst>
              <a:ext uri="{FF2B5EF4-FFF2-40B4-BE49-F238E27FC236}">
                <a16:creationId xmlns:a16="http://schemas.microsoft.com/office/drawing/2014/main" id="{2127453A-1048-2C9D-1BE3-ABC273B9B834}"/>
              </a:ext>
            </a:extLst>
          </p:cNvPr>
          <p:cNvSpPr txBox="1"/>
          <p:nvPr/>
        </p:nvSpPr>
        <p:spPr>
          <a:xfrm>
            <a:off x="9572283" y="2985566"/>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3283</a:t>
            </a:r>
          </a:p>
        </p:txBody>
      </p:sp>
      <p:sp>
        <p:nvSpPr>
          <p:cNvPr id="103" name="TextBox 102">
            <a:extLst>
              <a:ext uri="{FF2B5EF4-FFF2-40B4-BE49-F238E27FC236}">
                <a16:creationId xmlns:a16="http://schemas.microsoft.com/office/drawing/2014/main" id="{6D5A5448-E979-2647-A646-68F256A8A4B9}"/>
              </a:ext>
            </a:extLst>
          </p:cNvPr>
          <p:cNvSpPr txBox="1"/>
          <p:nvPr/>
        </p:nvSpPr>
        <p:spPr>
          <a:xfrm>
            <a:off x="9572282" y="3326567"/>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3056</a:t>
            </a:r>
          </a:p>
        </p:txBody>
      </p:sp>
      <p:sp>
        <p:nvSpPr>
          <p:cNvPr id="104" name="TextBox 103">
            <a:extLst>
              <a:ext uri="{FF2B5EF4-FFF2-40B4-BE49-F238E27FC236}">
                <a16:creationId xmlns:a16="http://schemas.microsoft.com/office/drawing/2014/main" id="{15BDFC37-AA27-221B-5AD8-B9A763FC2EC0}"/>
              </a:ext>
            </a:extLst>
          </p:cNvPr>
          <p:cNvSpPr txBox="1"/>
          <p:nvPr/>
        </p:nvSpPr>
        <p:spPr>
          <a:xfrm>
            <a:off x="9567029" y="3667568"/>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1741</a:t>
            </a:r>
          </a:p>
        </p:txBody>
      </p:sp>
      <p:sp>
        <p:nvSpPr>
          <p:cNvPr id="105" name="TextBox 104">
            <a:extLst>
              <a:ext uri="{FF2B5EF4-FFF2-40B4-BE49-F238E27FC236}">
                <a16:creationId xmlns:a16="http://schemas.microsoft.com/office/drawing/2014/main" id="{B1A791DD-10A6-42C1-3325-DB5D6F96B7FA}"/>
              </a:ext>
            </a:extLst>
          </p:cNvPr>
          <p:cNvSpPr txBox="1"/>
          <p:nvPr/>
        </p:nvSpPr>
        <p:spPr>
          <a:xfrm>
            <a:off x="9567029" y="4008569"/>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1802</a:t>
            </a:r>
          </a:p>
        </p:txBody>
      </p:sp>
      <p:sp>
        <p:nvSpPr>
          <p:cNvPr id="106" name="TextBox 105">
            <a:extLst>
              <a:ext uri="{FF2B5EF4-FFF2-40B4-BE49-F238E27FC236}">
                <a16:creationId xmlns:a16="http://schemas.microsoft.com/office/drawing/2014/main" id="{BD49BA32-9C1A-AAAB-8E77-ECF7A72C24C4}"/>
              </a:ext>
            </a:extLst>
          </p:cNvPr>
          <p:cNvSpPr txBox="1"/>
          <p:nvPr/>
        </p:nvSpPr>
        <p:spPr>
          <a:xfrm>
            <a:off x="9632342" y="4349570"/>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839</a:t>
            </a:r>
          </a:p>
        </p:txBody>
      </p:sp>
      <p:sp>
        <p:nvSpPr>
          <p:cNvPr id="109" name="TextBox 108">
            <a:extLst>
              <a:ext uri="{FF2B5EF4-FFF2-40B4-BE49-F238E27FC236}">
                <a16:creationId xmlns:a16="http://schemas.microsoft.com/office/drawing/2014/main" id="{5DFD3C96-CD21-4275-85E4-9536AC963EE4}"/>
              </a:ext>
            </a:extLst>
          </p:cNvPr>
          <p:cNvSpPr txBox="1"/>
          <p:nvPr/>
        </p:nvSpPr>
        <p:spPr>
          <a:xfrm>
            <a:off x="9452915" y="469057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226-793</a:t>
            </a:r>
          </a:p>
        </p:txBody>
      </p:sp>
      <p:sp>
        <p:nvSpPr>
          <p:cNvPr id="110" name="TextBox 109">
            <a:extLst>
              <a:ext uri="{FF2B5EF4-FFF2-40B4-BE49-F238E27FC236}">
                <a16:creationId xmlns:a16="http://schemas.microsoft.com/office/drawing/2014/main" id="{D86C142C-FC6E-3E00-92A1-0F57CBAFDC7F}"/>
              </a:ext>
            </a:extLst>
          </p:cNvPr>
          <p:cNvSpPr txBox="1"/>
          <p:nvPr/>
        </p:nvSpPr>
        <p:spPr>
          <a:xfrm>
            <a:off x="9666713" y="5031572"/>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a:t>
            </a:r>
          </a:p>
        </p:txBody>
      </p:sp>
      <p:sp>
        <p:nvSpPr>
          <p:cNvPr id="113" name="TextBox 112">
            <a:extLst>
              <a:ext uri="{FF2B5EF4-FFF2-40B4-BE49-F238E27FC236}">
                <a16:creationId xmlns:a16="http://schemas.microsoft.com/office/drawing/2014/main" id="{DC3BE455-4E38-C548-FDDD-DF9FA0110EFE}"/>
              </a:ext>
            </a:extLst>
          </p:cNvPr>
          <p:cNvSpPr txBox="1"/>
          <p:nvPr/>
        </p:nvSpPr>
        <p:spPr>
          <a:xfrm>
            <a:off x="9703289" y="5372573"/>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6</a:t>
            </a:r>
          </a:p>
        </p:txBody>
      </p:sp>
      <p:sp>
        <p:nvSpPr>
          <p:cNvPr id="131" name="TextBox 130">
            <a:extLst>
              <a:ext uri="{FF2B5EF4-FFF2-40B4-BE49-F238E27FC236}">
                <a16:creationId xmlns:a16="http://schemas.microsoft.com/office/drawing/2014/main" id="{F50BF239-D270-2F78-FD13-437074E7DFF0}"/>
              </a:ext>
            </a:extLst>
          </p:cNvPr>
          <p:cNvSpPr txBox="1"/>
          <p:nvPr/>
        </p:nvSpPr>
        <p:spPr>
          <a:xfrm>
            <a:off x="9698035" y="5713574"/>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a:t>
            </a:r>
          </a:p>
        </p:txBody>
      </p:sp>
      <p:sp>
        <p:nvSpPr>
          <p:cNvPr id="133" name="TextBox 132">
            <a:extLst>
              <a:ext uri="{FF2B5EF4-FFF2-40B4-BE49-F238E27FC236}">
                <a16:creationId xmlns:a16="http://schemas.microsoft.com/office/drawing/2014/main" id="{0D2337F8-751D-5352-7818-69D3DE3CBD4B}"/>
              </a:ext>
            </a:extLst>
          </p:cNvPr>
          <p:cNvSpPr txBox="1"/>
          <p:nvPr/>
        </p:nvSpPr>
        <p:spPr>
          <a:xfrm>
            <a:off x="9579600" y="6054575"/>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2-42</a:t>
            </a:r>
          </a:p>
        </p:txBody>
      </p:sp>
      <p:sp>
        <p:nvSpPr>
          <p:cNvPr id="134" name="TextBox 133">
            <a:extLst>
              <a:ext uri="{FF2B5EF4-FFF2-40B4-BE49-F238E27FC236}">
                <a16:creationId xmlns:a16="http://schemas.microsoft.com/office/drawing/2014/main" id="{B586C24B-58D8-D888-DFB6-4EFFA3C2BAFA}"/>
              </a:ext>
            </a:extLst>
          </p:cNvPr>
          <p:cNvSpPr txBox="1"/>
          <p:nvPr/>
        </p:nvSpPr>
        <p:spPr>
          <a:xfrm>
            <a:off x="9443742" y="640632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517-526</a:t>
            </a:r>
          </a:p>
        </p:txBody>
      </p:sp>
      <p:cxnSp>
        <p:nvCxnSpPr>
          <p:cNvPr id="136" name="Straight Connector 135">
            <a:extLst>
              <a:ext uri="{FF2B5EF4-FFF2-40B4-BE49-F238E27FC236}">
                <a16:creationId xmlns:a16="http://schemas.microsoft.com/office/drawing/2014/main" id="{41D2A6CE-69AC-6E7E-B4C0-CC9178146B2C}"/>
              </a:ext>
            </a:extLst>
          </p:cNvPr>
          <p:cNvCxnSpPr/>
          <p:nvPr/>
        </p:nvCxnSpPr>
        <p:spPr>
          <a:xfrm>
            <a:off x="7402464" y="777321"/>
            <a:ext cx="1277343"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D39672EB-7C5E-D46D-02CF-E28A61A29C02}"/>
              </a:ext>
            </a:extLst>
          </p:cNvPr>
          <p:cNvCxnSpPr/>
          <p:nvPr/>
        </p:nvCxnSpPr>
        <p:spPr>
          <a:xfrm>
            <a:off x="8341041" y="1121964"/>
            <a:ext cx="36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438C5702-2A29-164B-1170-81EE055EB7AF}"/>
              </a:ext>
            </a:extLst>
          </p:cNvPr>
          <p:cNvCxnSpPr/>
          <p:nvPr/>
        </p:nvCxnSpPr>
        <p:spPr>
          <a:xfrm>
            <a:off x="7199140" y="1441834"/>
            <a:ext cx="151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F2C85FF8-0D79-566F-F65C-00ADA3B7D802}"/>
              </a:ext>
            </a:extLst>
          </p:cNvPr>
          <p:cNvCxnSpPr/>
          <p:nvPr/>
        </p:nvCxnSpPr>
        <p:spPr>
          <a:xfrm>
            <a:off x="7495229" y="1799307"/>
            <a:ext cx="1234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A8037CBF-841E-14E4-68C6-7358D5CDFC4B}"/>
              </a:ext>
            </a:extLst>
          </p:cNvPr>
          <p:cNvCxnSpPr/>
          <p:nvPr/>
        </p:nvCxnSpPr>
        <p:spPr>
          <a:xfrm>
            <a:off x="7306387" y="2134494"/>
            <a:ext cx="140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24846FC5-CE1A-4A0D-317F-16FD743D8973}"/>
              </a:ext>
            </a:extLst>
          </p:cNvPr>
          <p:cNvCxnSpPr/>
          <p:nvPr/>
        </p:nvCxnSpPr>
        <p:spPr>
          <a:xfrm>
            <a:off x="7906043" y="2485100"/>
            <a:ext cx="802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66255218-86D4-3880-853F-A2774C560D38}"/>
              </a:ext>
            </a:extLst>
          </p:cNvPr>
          <p:cNvCxnSpPr/>
          <p:nvPr/>
        </p:nvCxnSpPr>
        <p:spPr>
          <a:xfrm>
            <a:off x="7120861" y="2830226"/>
            <a:ext cx="162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C3EE3D83-651A-9C02-8789-884426F8E2ED}"/>
              </a:ext>
            </a:extLst>
          </p:cNvPr>
          <p:cNvCxnSpPr/>
          <p:nvPr/>
        </p:nvCxnSpPr>
        <p:spPr>
          <a:xfrm>
            <a:off x="6690165" y="3168148"/>
            <a:ext cx="205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88FBF547-69CB-A2E1-4C0C-BF12CF48E149}"/>
              </a:ext>
            </a:extLst>
          </p:cNvPr>
          <p:cNvCxnSpPr/>
          <p:nvPr/>
        </p:nvCxnSpPr>
        <p:spPr>
          <a:xfrm>
            <a:off x="7157307" y="3502767"/>
            <a:ext cx="156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A89871B0-CD05-E2FD-57E2-FEED9731E2EB}"/>
              </a:ext>
            </a:extLst>
          </p:cNvPr>
          <p:cNvCxnSpPr/>
          <p:nvPr/>
        </p:nvCxnSpPr>
        <p:spPr>
          <a:xfrm>
            <a:off x="6726626" y="3854480"/>
            <a:ext cx="201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65896CA5-7319-E238-CE5F-B2B5C53CA444}"/>
              </a:ext>
            </a:extLst>
          </p:cNvPr>
          <p:cNvCxnSpPr/>
          <p:nvPr/>
        </p:nvCxnSpPr>
        <p:spPr>
          <a:xfrm>
            <a:off x="6413247" y="4190586"/>
            <a:ext cx="23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9B0B4B0-6362-909C-5D26-9C5BF68B6E63}"/>
              </a:ext>
            </a:extLst>
          </p:cNvPr>
          <p:cNvCxnSpPr/>
          <p:nvPr/>
        </p:nvCxnSpPr>
        <p:spPr>
          <a:xfrm>
            <a:off x="6824926" y="4529117"/>
            <a:ext cx="198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6B64CEAC-BBC7-A180-0FFC-D205C7AE2A31}"/>
              </a:ext>
            </a:extLst>
          </p:cNvPr>
          <p:cNvCxnSpPr/>
          <p:nvPr/>
        </p:nvCxnSpPr>
        <p:spPr>
          <a:xfrm>
            <a:off x="6818300" y="4871844"/>
            <a:ext cx="180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5931100B-2395-9959-6E2E-9C75866BA756}"/>
              </a:ext>
            </a:extLst>
          </p:cNvPr>
          <p:cNvCxnSpPr/>
          <p:nvPr/>
        </p:nvCxnSpPr>
        <p:spPr>
          <a:xfrm>
            <a:off x="7421234" y="5207218"/>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75141F65-D444-72BA-3677-0704204471CF}"/>
              </a:ext>
            </a:extLst>
          </p:cNvPr>
          <p:cNvCxnSpPr/>
          <p:nvPr/>
        </p:nvCxnSpPr>
        <p:spPr>
          <a:xfrm>
            <a:off x="7421234" y="5541534"/>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69F85024-EDD5-6541-376F-622E10E98A44}"/>
              </a:ext>
            </a:extLst>
          </p:cNvPr>
          <p:cNvCxnSpPr/>
          <p:nvPr/>
        </p:nvCxnSpPr>
        <p:spPr>
          <a:xfrm>
            <a:off x="7421234" y="5898041"/>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EBE7ABA6-1C68-B763-B524-3813A0865691}"/>
              </a:ext>
            </a:extLst>
          </p:cNvPr>
          <p:cNvCxnSpPr/>
          <p:nvPr/>
        </p:nvCxnSpPr>
        <p:spPr>
          <a:xfrm>
            <a:off x="7421234" y="6213722"/>
            <a:ext cx="1386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7E30C245-BA49-D191-ADFC-5C71C34546D0}"/>
              </a:ext>
            </a:extLst>
          </p:cNvPr>
          <p:cNvCxnSpPr/>
          <p:nvPr/>
        </p:nvCxnSpPr>
        <p:spPr>
          <a:xfrm>
            <a:off x="7055637" y="6565199"/>
            <a:ext cx="158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8" name="Right Brace 187">
            <a:extLst>
              <a:ext uri="{FF2B5EF4-FFF2-40B4-BE49-F238E27FC236}">
                <a16:creationId xmlns:a16="http://schemas.microsoft.com/office/drawing/2014/main" id="{C21E867A-EA52-ED7E-B7AA-63B529105BF2}"/>
              </a:ext>
            </a:extLst>
          </p:cNvPr>
          <p:cNvSpPr/>
          <p:nvPr/>
        </p:nvSpPr>
        <p:spPr>
          <a:xfrm>
            <a:off x="7278028" y="5162103"/>
            <a:ext cx="159026" cy="1147712"/>
          </a:xfrm>
          <a:prstGeom prst="rightBrace">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282153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C6153D3-1799-784C-846D-B000A5DA5BCD}"/>
              </a:ext>
            </a:extLst>
          </p:cNvPr>
          <p:cNvPicPr>
            <a:picLocks noChangeAspect="1"/>
          </p:cNvPicPr>
          <p:nvPr/>
        </p:nvPicPr>
        <p:blipFill>
          <a:blip r:embed="rId2"/>
          <a:stretch>
            <a:fillRect/>
          </a:stretch>
        </p:blipFill>
        <p:spPr>
          <a:xfrm>
            <a:off x="1527717" y="402587"/>
            <a:ext cx="9938587" cy="6332750"/>
          </a:xfrm>
          <a:prstGeom prst="rect">
            <a:avLst/>
          </a:prstGeom>
        </p:spPr>
      </p:pic>
    </p:spTree>
    <p:extLst>
      <p:ext uri="{BB962C8B-B14F-4D97-AF65-F5344CB8AC3E}">
        <p14:creationId xmlns:p14="http://schemas.microsoft.com/office/powerpoint/2010/main" val="3165115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5B1D71C-67AA-784B-92E9-20FDD554F8B9}"/>
              </a:ext>
            </a:extLst>
          </p:cNvPr>
          <p:cNvPicPr>
            <a:picLocks noChangeAspect="1"/>
          </p:cNvPicPr>
          <p:nvPr/>
        </p:nvPicPr>
        <p:blipFill>
          <a:blip r:embed="rId2"/>
          <a:stretch>
            <a:fillRect/>
          </a:stretch>
        </p:blipFill>
        <p:spPr>
          <a:xfrm>
            <a:off x="0" y="200722"/>
            <a:ext cx="6256422" cy="3830184"/>
          </a:xfrm>
          <a:prstGeom prst="rect">
            <a:avLst/>
          </a:prstGeom>
        </p:spPr>
      </p:pic>
      <p:pic>
        <p:nvPicPr>
          <p:cNvPr id="9" name="Picture 8">
            <a:extLst>
              <a:ext uri="{FF2B5EF4-FFF2-40B4-BE49-F238E27FC236}">
                <a16:creationId xmlns:a16="http://schemas.microsoft.com/office/drawing/2014/main" id="{3E6404C9-B53D-364A-B2E6-797D97491AA6}"/>
              </a:ext>
            </a:extLst>
          </p:cNvPr>
          <p:cNvPicPr>
            <a:picLocks noChangeAspect="1"/>
          </p:cNvPicPr>
          <p:nvPr/>
        </p:nvPicPr>
        <p:blipFill>
          <a:blip r:embed="rId3"/>
          <a:stretch>
            <a:fillRect/>
          </a:stretch>
        </p:blipFill>
        <p:spPr>
          <a:xfrm>
            <a:off x="6590369" y="208371"/>
            <a:ext cx="5060437" cy="3822535"/>
          </a:xfrm>
          <a:prstGeom prst="rect">
            <a:avLst/>
          </a:prstGeom>
        </p:spPr>
      </p:pic>
      <p:sp>
        <p:nvSpPr>
          <p:cNvPr id="10" name="TextBox 9">
            <a:extLst>
              <a:ext uri="{FF2B5EF4-FFF2-40B4-BE49-F238E27FC236}">
                <a16:creationId xmlns:a16="http://schemas.microsoft.com/office/drawing/2014/main" id="{149E6A7B-4E51-2143-9C88-87F26BD65396}"/>
              </a:ext>
            </a:extLst>
          </p:cNvPr>
          <p:cNvSpPr txBox="1"/>
          <p:nvPr/>
        </p:nvSpPr>
        <p:spPr>
          <a:xfrm>
            <a:off x="7292898" y="4030906"/>
            <a:ext cx="3989234" cy="369332"/>
          </a:xfrm>
          <a:prstGeom prst="rect">
            <a:avLst/>
          </a:prstGeom>
          <a:noFill/>
        </p:spPr>
        <p:txBody>
          <a:bodyPr wrap="none" rtlCol="0">
            <a:spAutoFit/>
          </a:bodyPr>
          <a:lstStyle/>
          <a:p>
            <a:r>
              <a:rPr lang="en-US" dirty="0"/>
              <a:t>Filtered lengths &lt;2500 bp, and &lt;1.5 Mb</a:t>
            </a:r>
          </a:p>
        </p:txBody>
      </p:sp>
    </p:spTree>
    <p:extLst>
      <p:ext uri="{BB962C8B-B14F-4D97-AF65-F5344CB8AC3E}">
        <p14:creationId xmlns:p14="http://schemas.microsoft.com/office/powerpoint/2010/main" val="3086575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67FFF69-4F62-BBB3-7E34-44DA3883BE27}"/>
              </a:ext>
            </a:extLst>
          </p:cNvPr>
          <p:cNvPicPr>
            <a:picLocks noChangeAspect="1"/>
          </p:cNvPicPr>
          <p:nvPr/>
        </p:nvPicPr>
        <p:blipFill>
          <a:blip r:embed="rId3"/>
          <a:stretch>
            <a:fillRect/>
          </a:stretch>
        </p:blipFill>
        <p:spPr>
          <a:xfrm>
            <a:off x="737191" y="574831"/>
            <a:ext cx="9370828" cy="5008545"/>
          </a:xfrm>
          <a:prstGeom prst="rect">
            <a:avLst/>
          </a:prstGeom>
        </p:spPr>
      </p:pic>
    </p:spTree>
    <p:extLst>
      <p:ext uri="{BB962C8B-B14F-4D97-AF65-F5344CB8AC3E}">
        <p14:creationId xmlns:p14="http://schemas.microsoft.com/office/powerpoint/2010/main" val="23321001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F103247-7C81-0D48-AE16-4683CDEE6718}"/>
              </a:ext>
            </a:extLst>
          </p:cNvPr>
          <p:cNvSpPr txBox="1"/>
          <p:nvPr/>
        </p:nvSpPr>
        <p:spPr>
          <a:xfrm>
            <a:off x="1076446" y="486137"/>
            <a:ext cx="5185137" cy="369332"/>
          </a:xfrm>
          <a:prstGeom prst="rect">
            <a:avLst/>
          </a:prstGeom>
          <a:noFill/>
        </p:spPr>
        <p:txBody>
          <a:bodyPr wrap="none" rtlCol="0">
            <a:spAutoFit/>
          </a:bodyPr>
          <a:lstStyle/>
          <a:p>
            <a:r>
              <a:rPr lang="en-US" dirty="0"/>
              <a:t>Marker length distribution with: inserts_lengths_v3.R</a:t>
            </a:r>
          </a:p>
        </p:txBody>
      </p:sp>
      <p:pic>
        <p:nvPicPr>
          <p:cNvPr id="7" name="Picture 6">
            <a:extLst>
              <a:ext uri="{FF2B5EF4-FFF2-40B4-BE49-F238E27FC236}">
                <a16:creationId xmlns:a16="http://schemas.microsoft.com/office/drawing/2014/main" id="{07443F26-38F1-0844-B722-ABAA9831C0E0}"/>
              </a:ext>
            </a:extLst>
          </p:cNvPr>
          <p:cNvPicPr>
            <a:picLocks noChangeAspect="1"/>
          </p:cNvPicPr>
          <p:nvPr/>
        </p:nvPicPr>
        <p:blipFill>
          <a:blip r:embed="rId2"/>
          <a:stretch>
            <a:fillRect/>
          </a:stretch>
        </p:blipFill>
        <p:spPr>
          <a:xfrm>
            <a:off x="1076446" y="855469"/>
            <a:ext cx="10172700" cy="5638800"/>
          </a:xfrm>
          <a:prstGeom prst="rect">
            <a:avLst/>
          </a:prstGeom>
        </p:spPr>
      </p:pic>
    </p:spTree>
    <p:extLst>
      <p:ext uri="{BB962C8B-B14F-4D97-AF65-F5344CB8AC3E}">
        <p14:creationId xmlns:p14="http://schemas.microsoft.com/office/powerpoint/2010/main" val="32409097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3B51C-B7D4-1A44-8250-3B09C2C353FD}"/>
              </a:ext>
            </a:extLst>
          </p:cNvPr>
          <p:cNvSpPr>
            <a:spLocks noGrp="1"/>
          </p:cNvSpPr>
          <p:nvPr>
            <p:ph type="title"/>
          </p:nvPr>
        </p:nvSpPr>
        <p:spPr>
          <a:xfrm>
            <a:off x="259466" y="-572424"/>
            <a:ext cx="10515600" cy="1325563"/>
          </a:xfrm>
        </p:spPr>
        <p:txBody>
          <a:bodyPr/>
          <a:lstStyle/>
          <a:p>
            <a:r>
              <a:rPr lang="en-US" dirty="0"/>
              <a:t>Insert origins</a:t>
            </a:r>
          </a:p>
        </p:txBody>
      </p:sp>
      <p:pic>
        <p:nvPicPr>
          <p:cNvPr id="7" name="Picture 6">
            <a:extLst>
              <a:ext uri="{FF2B5EF4-FFF2-40B4-BE49-F238E27FC236}">
                <a16:creationId xmlns:a16="http://schemas.microsoft.com/office/drawing/2014/main" id="{229A0A07-263F-F143-80BA-F0AE938BAA42}"/>
              </a:ext>
            </a:extLst>
          </p:cNvPr>
          <p:cNvPicPr>
            <a:picLocks noChangeAspect="1"/>
          </p:cNvPicPr>
          <p:nvPr/>
        </p:nvPicPr>
        <p:blipFill>
          <a:blip r:embed="rId2"/>
          <a:stretch>
            <a:fillRect/>
          </a:stretch>
        </p:blipFill>
        <p:spPr>
          <a:xfrm>
            <a:off x="1809750" y="0"/>
            <a:ext cx="8572500" cy="6858000"/>
          </a:xfrm>
          <a:prstGeom prst="rect">
            <a:avLst/>
          </a:prstGeom>
        </p:spPr>
      </p:pic>
    </p:spTree>
    <p:extLst>
      <p:ext uri="{BB962C8B-B14F-4D97-AF65-F5344CB8AC3E}">
        <p14:creationId xmlns:p14="http://schemas.microsoft.com/office/powerpoint/2010/main" val="12841147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747884F-1637-E940-B3B3-1AF6631B764F}"/>
              </a:ext>
            </a:extLst>
          </p:cNvPr>
          <p:cNvPicPr>
            <a:picLocks noChangeAspect="1"/>
          </p:cNvPicPr>
          <p:nvPr/>
        </p:nvPicPr>
        <p:blipFill rotWithShape="1">
          <a:blip r:embed="rId2"/>
          <a:srcRect l="7073" t="4504" r="22447" b="6328"/>
          <a:stretch/>
        </p:blipFill>
        <p:spPr>
          <a:xfrm>
            <a:off x="2238555" y="1255567"/>
            <a:ext cx="3119867" cy="3157683"/>
          </a:xfrm>
          <a:prstGeom prst="rect">
            <a:avLst/>
          </a:prstGeom>
        </p:spPr>
      </p:pic>
      <p:sp>
        <p:nvSpPr>
          <p:cNvPr id="7" name="TextBox 6">
            <a:extLst>
              <a:ext uri="{FF2B5EF4-FFF2-40B4-BE49-F238E27FC236}">
                <a16:creationId xmlns:a16="http://schemas.microsoft.com/office/drawing/2014/main" id="{5D5F8D69-0C99-1942-B3F4-67111F29D364}"/>
              </a:ext>
            </a:extLst>
          </p:cNvPr>
          <p:cNvSpPr txBox="1"/>
          <p:nvPr/>
        </p:nvSpPr>
        <p:spPr>
          <a:xfrm>
            <a:off x="5077905" y="3917117"/>
            <a:ext cx="1247457" cy="230832"/>
          </a:xfrm>
          <a:prstGeom prst="rect">
            <a:avLst/>
          </a:prstGeom>
          <a:noFill/>
        </p:spPr>
        <p:txBody>
          <a:bodyPr wrap="none" rtlCol="0">
            <a:spAutoFit/>
          </a:bodyPr>
          <a:lstStyle/>
          <a:p>
            <a:r>
              <a:rPr lang="en-US" sz="900" i="1" dirty="0"/>
              <a:t>Periplaneta americana</a:t>
            </a:r>
          </a:p>
        </p:txBody>
      </p:sp>
      <p:sp>
        <p:nvSpPr>
          <p:cNvPr id="9" name="TextBox 8">
            <a:extLst>
              <a:ext uri="{FF2B5EF4-FFF2-40B4-BE49-F238E27FC236}">
                <a16:creationId xmlns:a16="http://schemas.microsoft.com/office/drawing/2014/main" id="{888754E2-E0C8-4E42-A747-78A83BD6B4B6}"/>
              </a:ext>
            </a:extLst>
          </p:cNvPr>
          <p:cNvSpPr txBox="1"/>
          <p:nvPr/>
        </p:nvSpPr>
        <p:spPr>
          <a:xfrm>
            <a:off x="5077905" y="4012860"/>
            <a:ext cx="1064715" cy="230832"/>
          </a:xfrm>
          <a:prstGeom prst="rect">
            <a:avLst/>
          </a:prstGeom>
          <a:noFill/>
        </p:spPr>
        <p:txBody>
          <a:bodyPr wrap="none" rtlCol="0">
            <a:spAutoFit/>
          </a:bodyPr>
          <a:lstStyle/>
          <a:p>
            <a:r>
              <a:rPr lang="en-US" sz="900" i="1" dirty="0"/>
              <a:t>Blatella germanica</a:t>
            </a:r>
          </a:p>
        </p:txBody>
      </p:sp>
      <p:sp>
        <p:nvSpPr>
          <p:cNvPr id="10" name="TextBox 9">
            <a:extLst>
              <a:ext uri="{FF2B5EF4-FFF2-40B4-BE49-F238E27FC236}">
                <a16:creationId xmlns:a16="http://schemas.microsoft.com/office/drawing/2014/main" id="{A310BFC1-59A8-0442-A0B2-EF40C37C2A03}"/>
              </a:ext>
            </a:extLst>
          </p:cNvPr>
          <p:cNvSpPr txBox="1"/>
          <p:nvPr/>
        </p:nvSpPr>
        <p:spPr>
          <a:xfrm>
            <a:off x="5015388" y="3810197"/>
            <a:ext cx="1127232" cy="230832"/>
          </a:xfrm>
          <a:prstGeom prst="rect">
            <a:avLst/>
          </a:prstGeom>
          <a:noFill/>
        </p:spPr>
        <p:txBody>
          <a:bodyPr wrap="none" rtlCol="0">
            <a:spAutoFit/>
          </a:bodyPr>
          <a:lstStyle/>
          <a:p>
            <a:r>
              <a:rPr lang="en-US" sz="900" i="1" dirty="0"/>
              <a:t>Diploptera punctata</a:t>
            </a:r>
          </a:p>
        </p:txBody>
      </p:sp>
      <p:sp>
        <p:nvSpPr>
          <p:cNvPr id="15" name="TextBox 14">
            <a:extLst>
              <a:ext uri="{FF2B5EF4-FFF2-40B4-BE49-F238E27FC236}">
                <a16:creationId xmlns:a16="http://schemas.microsoft.com/office/drawing/2014/main" id="{009A7E7D-D327-3949-96C6-CBD159935FBA}"/>
              </a:ext>
            </a:extLst>
          </p:cNvPr>
          <p:cNvSpPr txBox="1"/>
          <p:nvPr/>
        </p:nvSpPr>
        <p:spPr>
          <a:xfrm>
            <a:off x="5057325" y="1863752"/>
            <a:ext cx="1744388" cy="230832"/>
          </a:xfrm>
          <a:prstGeom prst="rect">
            <a:avLst/>
          </a:prstGeom>
          <a:noFill/>
        </p:spPr>
        <p:txBody>
          <a:bodyPr wrap="none" rtlCol="0">
            <a:spAutoFit/>
          </a:bodyPr>
          <a:lstStyle/>
          <a:p>
            <a:r>
              <a:rPr lang="en-US" sz="900" i="1" dirty="0"/>
              <a:t>Panesthia tryoni tryoni </a:t>
            </a:r>
            <a:r>
              <a:rPr lang="en-US" sz="900" dirty="0"/>
              <a:t>(Eungella)</a:t>
            </a:r>
          </a:p>
        </p:txBody>
      </p:sp>
      <p:sp>
        <p:nvSpPr>
          <p:cNvPr id="16" name="TextBox 15">
            <a:extLst>
              <a:ext uri="{FF2B5EF4-FFF2-40B4-BE49-F238E27FC236}">
                <a16:creationId xmlns:a16="http://schemas.microsoft.com/office/drawing/2014/main" id="{8167B8E0-2D3D-5D40-92BB-642F4B6C67A6}"/>
              </a:ext>
            </a:extLst>
          </p:cNvPr>
          <p:cNvSpPr txBox="1"/>
          <p:nvPr/>
        </p:nvSpPr>
        <p:spPr>
          <a:xfrm>
            <a:off x="5062802" y="1767941"/>
            <a:ext cx="2034531" cy="230832"/>
          </a:xfrm>
          <a:prstGeom prst="rect">
            <a:avLst/>
          </a:prstGeom>
          <a:noFill/>
        </p:spPr>
        <p:txBody>
          <a:bodyPr wrap="none" rtlCol="0">
            <a:spAutoFit/>
          </a:bodyPr>
          <a:lstStyle/>
          <a:p>
            <a:r>
              <a:rPr lang="en-US" sz="900" i="1" dirty="0"/>
              <a:t>Panesthia tryoni tryoni </a:t>
            </a:r>
            <a:r>
              <a:rPr lang="en-US" sz="900" dirty="0"/>
              <a:t>(Kroombit Tops)</a:t>
            </a:r>
          </a:p>
        </p:txBody>
      </p:sp>
      <p:sp>
        <p:nvSpPr>
          <p:cNvPr id="17" name="TextBox 16">
            <a:extLst>
              <a:ext uri="{FF2B5EF4-FFF2-40B4-BE49-F238E27FC236}">
                <a16:creationId xmlns:a16="http://schemas.microsoft.com/office/drawing/2014/main" id="{7FB259DF-A70A-2849-B653-460C82CDBD8A}"/>
              </a:ext>
            </a:extLst>
          </p:cNvPr>
          <p:cNvSpPr txBox="1"/>
          <p:nvPr/>
        </p:nvSpPr>
        <p:spPr>
          <a:xfrm>
            <a:off x="5053725" y="2077524"/>
            <a:ext cx="1519968" cy="230832"/>
          </a:xfrm>
          <a:prstGeom prst="rect">
            <a:avLst/>
          </a:prstGeom>
          <a:noFill/>
        </p:spPr>
        <p:txBody>
          <a:bodyPr wrap="none" rtlCol="0">
            <a:spAutoFit/>
          </a:bodyPr>
          <a:lstStyle/>
          <a:p>
            <a:r>
              <a:rPr lang="en-US" sz="900" i="1" dirty="0"/>
              <a:t>Panesthia tryoni tegminifera</a:t>
            </a:r>
            <a:endParaRPr lang="en-US" sz="900" dirty="0"/>
          </a:p>
        </p:txBody>
      </p:sp>
      <p:sp>
        <p:nvSpPr>
          <p:cNvPr id="19" name="TextBox 18">
            <a:extLst>
              <a:ext uri="{FF2B5EF4-FFF2-40B4-BE49-F238E27FC236}">
                <a16:creationId xmlns:a16="http://schemas.microsoft.com/office/drawing/2014/main" id="{7BC98F33-9367-044F-863B-1C66DD4CE56A}"/>
              </a:ext>
            </a:extLst>
          </p:cNvPr>
          <p:cNvSpPr txBox="1"/>
          <p:nvPr/>
        </p:nvSpPr>
        <p:spPr>
          <a:xfrm>
            <a:off x="5053725" y="1970604"/>
            <a:ext cx="1306768" cy="230832"/>
          </a:xfrm>
          <a:prstGeom prst="rect">
            <a:avLst/>
          </a:prstGeom>
          <a:noFill/>
        </p:spPr>
        <p:txBody>
          <a:bodyPr wrap="none" rtlCol="0">
            <a:spAutoFit/>
          </a:bodyPr>
          <a:lstStyle/>
          <a:p>
            <a:r>
              <a:rPr lang="en-US" sz="900" i="1" dirty="0"/>
              <a:t>Parapanesthia gigantea</a:t>
            </a:r>
            <a:endParaRPr lang="en-US" sz="900" dirty="0"/>
          </a:p>
        </p:txBody>
      </p:sp>
      <p:sp>
        <p:nvSpPr>
          <p:cNvPr id="20" name="TextBox 19">
            <a:extLst>
              <a:ext uri="{FF2B5EF4-FFF2-40B4-BE49-F238E27FC236}">
                <a16:creationId xmlns:a16="http://schemas.microsoft.com/office/drawing/2014/main" id="{EF32D1E8-3A75-734C-95A0-F89F1A28938E}"/>
              </a:ext>
            </a:extLst>
          </p:cNvPr>
          <p:cNvSpPr txBox="1"/>
          <p:nvPr/>
        </p:nvSpPr>
        <p:spPr>
          <a:xfrm>
            <a:off x="5024770" y="2629343"/>
            <a:ext cx="1265090" cy="230832"/>
          </a:xfrm>
          <a:prstGeom prst="rect">
            <a:avLst/>
          </a:prstGeom>
          <a:noFill/>
        </p:spPr>
        <p:txBody>
          <a:bodyPr wrap="none" rtlCol="0">
            <a:spAutoFit/>
          </a:bodyPr>
          <a:lstStyle/>
          <a:p>
            <a:r>
              <a:rPr lang="en-US" sz="900" i="1" dirty="0"/>
              <a:t>Neogeoscapheus hanni</a:t>
            </a:r>
            <a:endParaRPr lang="en-US" sz="900" dirty="0"/>
          </a:p>
        </p:txBody>
      </p:sp>
      <p:sp>
        <p:nvSpPr>
          <p:cNvPr id="21" name="TextBox 20">
            <a:extLst>
              <a:ext uri="{FF2B5EF4-FFF2-40B4-BE49-F238E27FC236}">
                <a16:creationId xmlns:a16="http://schemas.microsoft.com/office/drawing/2014/main" id="{F2229EA9-5D84-EC4F-84F0-D9409A5959B8}"/>
              </a:ext>
            </a:extLst>
          </p:cNvPr>
          <p:cNvSpPr txBox="1"/>
          <p:nvPr/>
        </p:nvSpPr>
        <p:spPr>
          <a:xfrm>
            <a:off x="5002392" y="1667412"/>
            <a:ext cx="1239442" cy="230832"/>
          </a:xfrm>
          <a:prstGeom prst="rect">
            <a:avLst/>
          </a:prstGeom>
          <a:noFill/>
        </p:spPr>
        <p:txBody>
          <a:bodyPr wrap="none" rtlCol="0">
            <a:spAutoFit/>
          </a:bodyPr>
          <a:lstStyle/>
          <a:p>
            <a:r>
              <a:rPr lang="en-US" sz="900" i="1" dirty="0"/>
              <a:t>Geoscapheus dilatatus</a:t>
            </a:r>
            <a:endParaRPr lang="en-US" sz="900" dirty="0"/>
          </a:p>
        </p:txBody>
      </p:sp>
      <p:sp>
        <p:nvSpPr>
          <p:cNvPr id="22" name="TextBox 21">
            <a:extLst>
              <a:ext uri="{FF2B5EF4-FFF2-40B4-BE49-F238E27FC236}">
                <a16:creationId xmlns:a16="http://schemas.microsoft.com/office/drawing/2014/main" id="{3DB02597-FB85-324D-92F3-60139675F34E}"/>
              </a:ext>
            </a:extLst>
          </p:cNvPr>
          <p:cNvSpPr txBox="1"/>
          <p:nvPr/>
        </p:nvSpPr>
        <p:spPr>
          <a:xfrm>
            <a:off x="5015388" y="1518292"/>
            <a:ext cx="1342034" cy="230832"/>
          </a:xfrm>
          <a:prstGeom prst="rect">
            <a:avLst/>
          </a:prstGeom>
          <a:noFill/>
        </p:spPr>
        <p:txBody>
          <a:bodyPr wrap="none" rtlCol="0">
            <a:spAutoFit/>
          </a:bodyPr>
          <a:lstStyle/>
          <a:p>
            <a:r>
              <a:rPr lang="en-US" sz="900" i="1" dirty="0"/>
              <a:t>Neogeoscapheus dahmsi</a:t>
            </a:r>
            <a:endParaRPr lang="en-US" sz="900" dirty="0"/>
          </a:p>
        </p:txBody>
      </p:sp>
      <p:sp>
        <p:nvSpPr>
          <p:cNvPr id="23" name="TextBox 22">
            <a:extLst>
              <a:ext uri="{FF2B5EF4-FFF2-40B4-BE49-F238E27FC236}">
                <a16:creationId xmlns:a16="http://schemas.microsoft.com/office/drawing/2014/main" id="{9275BADF-4D78-0746-B2AC-2D33520AC854}"/>
              </a:ext>
            </a:extLst>
          </p:cNvPr>
          <p:cNvSpPr txBox="1"/>
          <p:nvPr/>
        </p:nvSpPr>
        <p:spPr>
          <a:xfrm>
            <a:off x="5049291" y="1294551"/>
            <a:ext cx="1470274" cy="230832"/>
          </a:xfrm>
          <a:prstGeom prst="rect">
            <a:avLst/>
          </a:prstGeom>
          <a:noFill/>
        </p:spPr>
        <p:txBody>
          <a:bodyPr wrap="none" rtlCol="0">
            <a:spAutoFit/>
          </a:bodyPr>
          <a:lstStyle/>
          <a:p>
            <a:r>
              <a:rPr lang="en-US" sz="900" i="1" dirty="0"/>
              <a:t>Macropanesthia lithgowae </a:t>
            </a:r>
            <a:endParaRPr lang="en-US" sz="900" dirty="0"/>
          </a:p>
        </p:txBody>
      </p:sp>
      <p:pic>
        <p:nvPicPr>
          <p:cNvPr id="24" name="Picture 23">
            <a:extLst>
              <a:ext uri="{FF2B5EF4-FFF2-40B4-BE49-F238E27FC236}">
                <a16:creationId xmlns:a16="http://schemas.microsoft.com/office/drawing/2014/main" id="{B59F7878-8D31-2F41-A3A6-F7FBEE2CDA0D}"/>
              </a:ext>
            </a:extLst>
          </p:cNvPr>
          <p:cNvPicPr>
            <a:picLocks noChangeAspect="1"/>
          </p:cNvPicPr>
          <p:nvPr/>
        </p:nvPicPr>
        <p:blipFill rotWithShape="1">
          <a:blip r:embed="rId2"/>
          <a:srcRect l="76918" t="4504"/>
          <a:stretch/>
        </p:blipFill>
        <p:spPr>
          <a:xfrm>
            <a:off x="9005671" y="-167862"/>
            <a:ext cx="2316478" cy="7666996"/>
          </a:xfrm>
          <a:prstGeom prst="rect">
            <a:avLst/>
          </a:prstGeom>
        </p:spPr>
      </p:pic>
      <p:sp>
        <p:nvSpPr>
          <p:cNvPr id="25" name="TextBox 24">
            <a:extLst>
              <a:ext uri="{FF2B5EF4-FFF2-40B4-BE49-F238E27FC236}">
                <a16:creationId xmlns:a16="http://schemas.microsoft.com/office/drawing/2014/main" id="{2B13983A-9E9E-C34E-AD72-EC882581478D}"/>
              </a:ext>
            </a:extLst>
          </p:cNvPr>
          <p:cNvSpPr txBox="1"/>
          <p:nvPr/>
        </p:nvSpPr>
        <p:spPr>
          <a:xfrm>
            <a:off x="2271805" y="4366272"/>
            <a:ext cx="250390" cy="246221"/>
          </a:xfrm>
          <a:prstGeom prst="rect">
            <a:avLst/>
          </a:prstGeom>
          <a:noFill/>
        </p:spPr>
        <p:txBody>
          <a:bodyPr wrap="none" rtlCol="0">
            <a:spAutoFit/>
          </a:bodyPr>
          <a:lstStyle/>
          <a:p>
            <a:r>
              <a:rPr lang="en-US" sz="1000" dirty="0"/>
              <a:t>0</a:t>
            </a:r>
          </a:p>
        </p:txBody>
      </p:sp>
      <p:sp>
        <p:nvSpPr>
          <p:cNvPr id="26" name="TextBox 25">
            <a:extLst>
              <a:ext uri="{FF2B5EF4-FFF2-40B4-BE49-F238E27FC236}">
                <a16:creationId xmlns:a16="http://schemas.microsoft.com/office/drawing/2014/main" id="{55E5B9DB-CC9B-6449-8A90-45E12F33807B}"/>
              </a:ext>
            </a:extLst>
          </p:cNvPr>
          <p:cNvSpPr txBox="1"/>
          <p:nvPr/>
        </p:nvSpPr>
        <p:spPr>
          <a:xfrm>
            <a:off x="2423545" y="4533373"/>
            <a:ext cx="2578847" cy="276999"/>
          </a:xfrm>
          <a:prstGeom prst="rect">
            <a:avLst/>
          </a:prstGeom>
          <a:noFill/>
        </p:spPr>
        <p:txBody>
          <a:bodyPr wrap="none" rtlCol="0">
            <a:spAutoFit/>
          </a:bodyPr>
          <a:lstStyle/>
          <a:p>
            <a:r>
              <a:rPr lang="en-US" sz="1200" i="1" dirty="0"/>
              <a:t>Blattabacterium</a:t>
            </a:r>
            <a:r>
              <a:rPr lang="en-US" sz="1200" dirty="0"/>
              <a:t> genome position (kb)</a:t>
            </a:r>
          </a:p>
        </p:txBody>
      </p:sp>
      <p:sp>
        <p:nvSpPr>
          <p:cNvPr id="27" name="TextBox 26">
            <a:extLst>
              <a:ext uri="{FF2B5EF4-FFF2-40B4-BE49-F238E27FC236}">
                <a16:creationId xmlns:a16="http://schemas.microsoft.com/office/drawing/2014/main" id="{9E98D433-EB95-A642-9565-62D70FCBA984}"/>
              </a:ext>
            </a:extLst>
          </p:cNvPr>
          <p:cNvSpPr txBox="1"/>
          <p:nvPr/>
        </p:nvSpPr>
        <p:spPr>
          <a:xfrm rot="16200000">
            <a:off x="934547" y="2554989"/>
            <a:ext cx="1673087" cy="276999"/>
          </a:xfrm>
          <a:prstGeom prst="rect">
            <a:avLst/>
          </a:prstGeom>
          <a:noFill/>
        </p:spPr>
        <p:txBody>
          <a:bodyPr wrap="none" rtlCol="0">
            <a:spAutoFit/>
          </a:bodyPr>
          <a:lstStyle/>
          <a:p>
            <a:r>
              <a:rPr lang="en-US" sz="1200" dirty="0"/>
              <a:t>Cumulative insert count</a:t>
            </a:r>
          </a:p>
        </p:txBody>
      </p:sp>
      <p:sp>
        <p:nvSpPr>
          <p:cNvPr id="28" name="TextBox 27">
            <a:extLst>
              <a:ext uri="{FF2B5EF4-FFF2-40B4-BE49-F238E27FC236}">
                <a16:creationId xmlns:a16="http://schemas.microsoft.com/office/drawing/2014/main" id="{BD336D30-FE22-1445-8F1F-00531F581154}"/>
              </a:ext>
            </a:extLst>
          </p:cNvPr>
          <p:cNvSpPr txBox="1"/>
          <p:nvPr/>
        </p:nvSpPr>
        <p:spPr>
          <a:xfrm>
            <a:off x="3059847" y="4366271"/>
            <a:ext cx="381836" cy="246221"/>
          </a:xfrm>
          <a:prstGeom prst="rect">
            <a:avLst/>
          </a:prstGeom>
          <a:noFill/>
        </p:spPr>
        <p:txBody>
          <a:bodyPr wrap="none" rtlCol="0">
            <a:spAutoFit/>
          </a:bodyPr>
          <a:lstStyle/>
          <a:p>
            <a:r>
              <a:rPr lang="en-US" sz="1000" dirty="0"/>
              <a:t>200</a:t>
            </a:r>
          </a:p>
        </p:txBody>
      </p:sp>
      <p:sp>
        <p:nvSpPr>
          <p:cNvPr id="29" name="TextBox 28">
            <a:extLst>
              <a:ext uri="{FF2B5EF4-FFF2-40B4-BE49-F238E27FC236}">
                <a16:creationId xmlns:a16="http://schemas.microsoft.com/office/drawing/2014/main" id="{1E402040-B2DC-A141-B977-7348C38E08B1}"/>
              </a:ext>
            </a:extLst>
          </p:cNvPr>
          <p:cNvSpPr txBox="1"/>
          <p:nvPr/>
        </p:nvSpPr>
        <p:spPr>
          <a:xfrm>
            <a:off x="3927412" y="4366270"/>
            <a:ext cx="381836" cy="246221"/>
          </a:xfrm>
          <a:prstGeom prst="rect">
            <a:avLst/>
          </a:prstGeom>
          <a:noFill/>
        </p:spPr>
        <p:txBody>
          <a:bodyPr wrap="none" rtlCol="0">
            <a:spAutoFit/>
          </a:bodyPr>
          <a:lstStyle/>
          <a:p>
            <a:r>
              <a:rPr lang="en-US" sz="1000" dirty="0"/>
              <a:t>400</a:t>
            </a:r>
          </a:p>
        </p:txBody>
      </p:sp>
      <p:sp>
        <p:nvSpPr>
          <p:cNvPr id="30" name="TextBox 29">
            <a:extLst>
              <a:ext uri="{FF2B5EF4-FFF2-40B4-BE49-F238E27FC236}">
                <a16:creationId xmlns:a16="http://schemas.microsoft.com/office/drawing/2014/main" id="{AB01D96E-DF4A-C247-B4B9-44558E41F7A3}"/>
              </a:ext>
            </a:extLst>
          </p:cNvPr>
          <p:cNvSpPr txBox="1"/>
          <p:nvPr/>
        </p:nvSpPr>
        <p:spPr>
          <a:xfrm>
            <a:off x="4797211" y="4367848"/>
            <a:ext cx="381836" cy="246221"/>
          </a:xfrm>
          <a:prstGeom prst="rect">
            <a:avLst/>
          </a:prstGeom>
          <a:noFill/>
        </p:spPr>
        <p:txBody>
          <a:bodyPr wrap="none" rtlCol="0">
            <a:spAutoFit/>
          </a:bodyPr>
          <a:lstStyle/>
          <a:p>
            <a:r>
              <a:rPr lang="en-US" sz="1000" dirty="0"/>
              <a:t>600</a:t>
            </a:r>
          </a:p>
        </p:txBody>
      </p:sp>
      <p:sp>
        <p:nvSpPr>
          <p:cNvPr id="31" name="TextBox 30">
            <a:extLst>
              <a:ext uri="{FF2B5EF4-FFF2-40B4-BE49-F238E27FC236}">
                <a16:creationId xmlns:a16="http://schemas.microsoft.com/office/drawing/2014/main" id="{ECCD8C77-D49A-0548-B9F2-93EE8175AA82}"/>
              </a:ext>
            </a:extLst>
          </p:cNvPr>
          <p:cNvSpPr txBox="1"/>
          <p:nvPr/>
        </p:nvSpPr>
        <p:spPr>
          <a:xfrm>
            <a:off x="1846957" y="3530032"/>
            <a:ext cx="447558" cy="246221"/>
          </a:xfrm>
          <a:prstGeom prst="rect">
            <a:avLst/>
          </a:prstGeom>
          <a:noFill/>
        </p:spPr>
        <p:txBody>
          <a:bodyPr wrap="none" rtlCol="0">
            <a:spAutoFit/>
          </a:bodyPr>
          <a:lstStyle/>
          <a:p>
            <a:r>
              <a:rPr lang="en-US" sz="1000" dirty="0"/>
              <a:t>1000</a:t>
            </a:r>
          </a:p>
        </p:txBody>
      </p:sp>
      <p:sp>
        <p:nvSpPr>
          <p:cNvPr id="32" name="TextBox 31">
            <a:extLst>
              <a:ext uri="{FF2B5EF4-FFF2-40B4-BE49-F238E27FC236}">
                <a16:creationId xmlns:a16="http://schemas.microsoft.com/office/drawing/2014/main" id="{015FF4CD-2239-7141-8F5D-4FEE2AD4D2FB}"/>
              </a:ext>
            </a:extLst>
          </p:cNvPr>
          <p:cNvSpPr txBox="1"/>
          <p:nvPr/>
        </p:nvSpPr>
        <p:spPr>
          <a:xfrm>
            <a:off x="2045636" y="4120049"/>
            <a:ext cx="250390" cy="246221"/>
          </a:xfrm>
          <a:prstGeom prst="rect">
            <a:avLst/>
          </a:prstGeom>
          <a:noFill/>
        </p:spPr>
        <p:txBody>
          <a:bodyPr wrap="none" rtlCol="0">
            <a:spAutoFit/>
          </a:bodyPr>
          <a:lstStyle/>
          <a:p>
            <a:r>
              <a:rPr lang="en-US" sz="1000" dirty="0"/>
              <a:t>0</a:t>
            </a:r>
          </a:p>
        </p:txBody>
      </p:sp>
      <p:sp>
        <p:nvSpPr>
          <p:cNvPr id="33" name="TextBox 32">
            <a:extLst>
              <a:ext uri="{FF2B5EF4-FFF2-40B4-BE49-F238E27FC236}">
                <a16:creationId xmlns:a16="http://schemas.microsoft.com/office/drawing/2014/main" id="{2C468C45-8AC9-5346-B2CD-AF4FA1D8086E}"/>
              </a:ext>
            </a:extLst>
          </p:cNvPr>
          <p:cNvSpPr txBox="1"/>
          <p:nvPr/>
        </p:nvSpPr>
        <p:spPr>
          <a:xfrm>
            <a:off x="1846957" y="2940015"/>
            <a:ext cx="447558" cy="246221"/>
          </a:xfrm>
          <a:prstGeom prst="rect">
            <a:avLst/>
          </a:prstGeom>
          <a:noFill/>
        </p:spPr>
        <p:txBody>
          <a:bodyPr wrap="none" rtlCol="0">
            <a:spAutoFit/>
          </a:bodyPr>
          <a:lstStyle/>
          <a:p>
            <a:r>
              <a:rPr lang="en-US" sz="1000" dirty="0"/>
              <a:t>2000</a:t>
            </a:r>
          </a:p>
        </p:txBody>
      </p:sp>
      <p:sp>
        <p:nvSpPr>
          <p:cNvPr id="34" name="TextBox 33">
            <a:extLst>
              <a:ext uri="{FF2B5EF4-FFF2-40B4-BE49-F238E27FC236}">
                <a16:creationId xmlns:a16="http://schemas.microsoft.com/office/drawing/2014/main" id="{72252476-28B4-FF4D-A044-D94ED69096A2}"/>
              </a:ext>
            </a:extLst>
          </p:cNvPr>
          <p:cNvSpPr txBox="1"/>
          <p:nvPr/>
        </p:nvSpPr>
        <p:spPr>
          <a:xfrm>
            <a:off x="1851234" y="2349998"/>
            <a:ext cx="447558" cy="246221"/>
          </a:xfrm>
          <a:prstGeom prst="rect">
            <a:avLst/>
          </a:prstGeom>
          <a:noFill/>
        </p:spPr>
        <p:txBody>
          <a:bodyPr wrap="none" rtlCol="0">
            <a:spAutoFit/>
          </a:bodyPr>
          <a:lstStyle/>
          <a:p>
            <a:r>
              <a:rPr lang="en-US" sz="1000" dirty="0"/>
              <a:t>3000</a:t>
            </a:r>
          </a:p>
        </p:txBody>
      </p:sp>
      <p:sp>
        <p:nvSpPr>
          <p:cNvPr id="35" name="TextBox 34">
            <a:extLst>
              <a:ext uri="{FF2B5EF4-FFF2-40B4-BE49-F238E27FC236}">
                <a16:creationId xmlns:a16="http://schemas.microsoft.com/office/drawing/2014/main" id="{BB31DA1A-2493-BF49-B5BC-D9BAEF784CBC}"/>
              </a:ext>
            </a:extLst>
          </p:cNvPr>
          <p:cNvSpPr txBox="1"/>
          <p:nvPr/>
        </p:nvSpPr>
        <p:spPr>
          <a:xfrm>
            <a:off x="1845791" y="1755977"/>
            <a:ext cx="447558" cy="246221"/>
          </a:xfrm>
          <a:prstGeom prst="rect">
            <a:avLst/>
          </a:prstGeom>
          <a:noFill/>
        </p:spPr>
        <p:txBody>
          <a:bodyPr wrap="none" rtlCol="0">
            <a:spAutoFit/>
          </a:bodyPr>
          <a:lstStyle/>
          <a:p>
            <a:r>
              <a:rPr lang="en-US" sz="1000" dirty="0"/>
              <a:t>4000</a:t>
            </a:r>
          </a:p>
        </p:txBody>
      </p:sp>
      <p:sp>
        <p:nvSpPr>
          <p:cNvPr id="36" name="TextBox 35">
            <a:extLst>
              <a:ext uri="{FF2B5EF4-FFF2-40B4-BE49-F238E27FC236}">
                <a16:creationId xmlns:a16="http://schemas.microsoft.com/office/drawing/2014/main" id="{AC8B5727-94CA-614A-A234-0A09649CFF2D}"/>
              </a:ext>
            </a:extLst>
          </p:cNvPr>
          <p:cNvSpPr txBox="1"/>
          <p:nvPr/>
        </p:nvSpPr>
        <p:spPr>
          <a:xfrm>
            <a:off x="1851234" y="1167399"/>
            <a:ext cx="447558" cy="246221"/>
          </a:xfrm>
          <a:prstGeom prst="rect">
            <a:avLst/>
          </a:prstGeom>
          <a:noFill/>
        </p:spPr>
        <p:txBody>
          <a:bodyPr wrap="none" rtlCol="0">
            <a:spAutoFit/>
          </a:bodyPr>
          <a:lstStyle/>
          <a:p>
            <a:r>
              <a:rPr lang="en-US" sz="1000" dirty="0"/>
              <a:t>5000</a:t>
            </a:r>
          </a:p>
        </p:txBody>
      </p:sp>
    </p:spTree>
    <p:extLst>
      <p:ext uri="{BB962C8B-B14F-4D97-AF65-F5344CB8AC3E}">
        <p14:creationId xmlns:p14="http://schemas.microsoft.com/office/powerpoint/2010/main" val="42807421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45A0E29-9F21-FC4B-A4F5-B53517A41FC2}"/>
              </a:ext>
            </a:extLst>
          </p:cNvPr>
          <p:cNvPicPr>
            <a:picLocks noChangeAspect="1"/>
          </p:cNvPicPr>
          <p:nvPr/>
        </p:nvPicPr>
        <p:blipFill>
          <a:blip r:embed="rId3"/>
          <a:stretch>
            <a:fillRect/>
          </a:stretch>
        </p:blipFill>
        <p:spPr>
          <a:xfrm>
            <a:off x="75050" y="454968"/>
            <a:ext cx="6561506" cy="4396430"/>
          </a:xfrm>
          <a:prstGeom prst="rect">
            <a:avLst/>
          </a:prstGeom>
        </p:spPr>
      </p:pic>
      <p:sp>
        <p:nvSpPr>
          <p:cNvPr id="5" name="TextBox 4">
            <a:extLst>
              <a:ext uri="{FF2B5EF4-FFF2-40B4-BE49-F238E27FC236}">
                <a16:creationId xmlns:a16="http://schemas.microsoft.com/office/drawing/2014/main" id="{4F756E17-FE9E-4DC6-F3CF-AABBBF0B49DD}"/>
              </a:ext>
            </a:extLst>
          </p:cNvPr>
          <p:cNvSpPr txBox="1"/>
          <p:nvPr/>
        </p:nvSpPr>
        <p:spPr>
          <a:xfrm>
            <a:off x="7856065" y="3519340"/>
            <a:ext cx="3343468" cy="830997"/>
          </a:xfrm>
          <a:prstGeom prst="rect">
            <a:avLst/>
          </a:prstGeom>
          <a:noFill/>
        </p:spPr>
        <p:txBody>
          <a:bodyPr wrap="square" rtlCol="0">
            <a:spAutoFit/>
          </a:bodyPr>
          <a:lstStyle/>
          <a:p>
            <a:pPr algn="ctr"/>
            <a:r>
              <a:rPr lang="en-US" sz="1600" b="1" dirty="0">
                <a:solidFill>
                  <a:srgbClr val="FF0000"/>
                </a:solidFill>
              </a:rPr>
              <a:t>C. </a:t>
            </a:r>
            <a:r>
              <a:rPr lang="en-US" sz="1600" dirty="0">
                <a:solidFill>
                  <a:srgbClr val="FF0000"/>
                </a:solidFill>
              </a:rPr>
              <a:t>Placeholder: depiction of the origin of the insert around the </a:t>
            </a:r>
            <a:r>
              <a:rPr lang="en-US" sz="1600" dirty="0" err="1">
                <a:solidFill>
                  <a:srgbClr val="FF0000"/>
                </a:solidFill>
              </a:rPr>
              <a:t>Blatta</a:t>
            </a:r>
            <a:r>
              <a:rPr lang="en-US" sz="1600" dirty="0">
                <a:solidFill>
                  <a:srgbClr val="FF0000"/>
                </a:solidFill>
              </a:rPr>
              <a:t> genome (waiting on Leo)</a:t>
            </a:r>
          </a:p>
        </p:txBody>
      </p:sp>
      <p:sp>
        <p:nvSpPr>
          <p:cNvPr id="7" name="TextBox 6">
            <a:extLst>
              <a:ext uri="{FF2B5EF4-FFF2-40B4-BE49-F238E27FC236}">
                <a16:creationId xmlns:a16="http://schemas.microsoft.com/office/drawing/2014/main" id="{1C0E847B-8FC5-0867-7196-259B77611FF8}"/>
              </a:ext>
            </a:extLst>
          </p:cNvPr>
          <p:cNvSpPr txBox="1"/>
          <p:nvPr/>
        </p:nvSpPr>
        <p:spPr>
          <a:xfrm>
            <a:off x="215683" y="425302"/>
            <a:ext cx="324128" cy="369332"/>
          </a:xfrm>
          <a:prstGeom prst="rect">
            <a:avLst/>
          </a:prstGeom>
          <a:noFill/>
        </p:spPr>
        <p:txBody>
          <a:bodyPr wrap="none" rtlCol="0">
            <a:spAutoFit/>
          </a:bodyPr>
          <a:lstStyle/>
          <a:p>
            <a:r>
              <a:rPr lang="en-US" b="1" dirty="0"/>
              <a:t>A</a:t>
            </a:r>
          </a:p>
        </p:txBody>
      </p:sp>
      <p:pic>
        <p:nvPicPr>
          <p:cNvPr id="13" name="Picture 12">
            <a:extLst>
              <a:ext uri="{FF2B5EF4-FFF2-40B4-BE49-F238E27FC236}">
                <a16:creationId xmlns:a16="http://schemas.microsoft.com/office/drawing/2014/main" id="{DC883A01-AA48-044E-76DC-460544A87194}"/>
              </a:ext>
            </a:extLst>
          </p:cNvPr>
          <p:cNvPicPr>
            <a:picLocks noChangeAspect="1"/>
          </p:cNvPicPr>
          <p:nvPr/>
        </p:nvPicPr>
        <p:blipFill>
          <a:blip r:embed="rId4"/>
          <a:srcRect t="5172"/>
          <a:stretch>
            <a:fillRect/>
          </a:stretch>
        </p:blipFill>
        <p:spPr>
          <a:xfrm>
            <a:off x="7048374" y="496730"/>
            <a:ext cx="5104657" cy="2587255"/>
          </a:xfrm>
          <a:prstGeom prst="rect">
            <a:avLst/>
          </a:prstGeom>
        </p:spPr>
      </p:pic>
      <p:sp>
        <p:nvSpPr>
          <p:cNvPr id="14" name="TextBox 13">
            <a:extLst>
              <a:ext uri="{FF2B5EF4-FFF2-40B4-BE49-F238E27FC236}">
                <a16:creationId xmlns:a16="http://schemas.microsoft.com/office/drawing/2014/main" id="{2C6B5942-B39C-46A8-0714-63EF48E22894}"/>
              </a:ext>
            </a:extLst>
          </p:cNvPr>
          <p:cNvSpPr txBox="1"/>
          <p:nvPr/>
        </p:nvSpPr>
        <p:spPr>
          <a:xfrm>
            <a:off x="6720534" y="425302"/>
            <a:ext cx="314510" cy="369332"/>
          </a:xfrm>
          <a:prstGeom prst="rect">
            <a:avLst/>
          </a:prstGeom>
          <a:noFill/>
        </p:spPr>
        <p:txBody>
          <a:bodyPr wrap="none" rtlCol="0">
            <a:spAutoFit/>
          </a:bodyPr>
          <a:lstStyle/>
          <a:p>
            <a:r>
              <a:rPr lang="en-US" b="1" dirty="0"/>
              <a:t>B</a:t>
            </a:r>
          </a:p>
        </p:txBody>
      </p:sp>
    </p:spTree>
    <p:extLst>
      <p:ext uri="{BB962C8B-B14F-4D97-AF65-F5344CB8AC3E}">
        <p14:creationId xmlns:p14="http://schemas.microsoft.com/office/powerpoint/2010/main" val="25603802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94DAB9-5922-6E44-A3F5-A540D9060343}"/>
              </a:ext>
            </a:extLst>
          </p:cNvPr>
          <p:cNvPicPr>
            <a:picLocks noChangeAspect="1"/>
          </p:cNvPicPr>
          <p:nvPr/>
        </p:nvPicPr>
        <p:blipFill>
          <a:blip r:embed="rId2"/>
          <a:stretch>
            <a:fillRect/>
          </a:stretch>
        </p:blipFill>
        <p:spPr>
          <a:xfrm>
            <a:off x="620" y="888103"/>
            <a:ext cx="7401205" cy="4959057"/>
          </a:xfrm>
          <a:prstGeom prst="rect">
            <a:avLst/>
          </a:prstGeom>
        </p:spPr>
      </p:pic>
      <p:sp>
        <p:nvSpPr>
          <p:cNvPr id="5" name="TextBox 4">
            <a:extLst>
              <a:ext uri="{FF2B5EF4-FFF2-40B4-BE49-F238E27FC236}">
                <a16:creationId xmlns:a16="http://schemas.microsoft.com/office/drawing/2014/main" id="{E58C594A-EE99-F94C-81FE-2D81A39F661D}"/>
              </a:ext>
            </a:extLst>
          </p:cNvPr>
          <p:cNvSpPr txBox="1"/>
          <p:nvPr/>
        </p:nvSpPr>
        <p:spPr>
          <a:xfrm>
            <a:off x="106636" y="774971"/>
            <a:ext cx="324128" cy="369332"/>
          </a:xfrm>
          <a:prstGeom prst="rect">
            <a:avLst/>
          </a:prstGeom>
          <a:noFill/>
        </p:spPr>
        <p:txBody>
          <a:bodyPr wrap="none" rtlCol="0">
            <a:spAutoFit/>
          </a:bodyPr>
          <a:lstStyle/>
          <a:p>
            <a:r>
              <a:rPr lang="en-US" b="1" dirty="0"/>
              <a:t>A</a:t>
            </a:r>
          </a:p>
        </p:txBody>
      </p:sp>
      <p:pic>
        <p:nvPicPr>
          <p:cNvPr id="7" name="Picture 6">
            <a:extLst>
              <a:ext uri="{FF2B5EF4-FFF2-40B4-BE49-F238E27FC236}">
                <a16:creationId xmlns:a16="http://schemas.microsoft.com/office/drawing/2014/main" id="{2B338236-E156-FE47-AE70-11C3578780FC}"/>
              </a:ext>
            </a:extLst>
          </p:cNvPr>
          <p:cNvPicPr>
            <a:picLocks noChangeAspect="1"/>
          </p:cNvPicPr>
          <p:nvPr/>
        </p:nvPicPr>
        <p:blipFill rotWithShape="1">
          <a:blip r:embed="rId3"/>
          <a:srcRect t="16747"/>
          <a:stretch/>
        </p:blipFill>
        <p:spPr>
          <a:xfrm>
            <a:off x="7520673" y="606392"/>
            <a:ext cx="4621710" cy="2132799"/>
          </a:xfrm>
          <a:prstGeom prst="rect">
            <a:avLst/>
          </a:prstGeom>
        </p:spPr>
      </p:pic>
      <p:pic>
        <p:nvPicPr>
          <p:cNvPr id="8" name="Picture 7">
            <a:extLst>
              <a:ext uri="{FF2B5EF4-FFF2-40B4-BE49-F238E27FC236}">
                <a16:creationId xmlns:a16="http://schemas.microsoft.com/office/drawing/2014/main" id="{5D87A8CC-2D44-F142-AC84-DFDCE2C26908}"/>
              </a:ext>
            </a:extLst>
          </p:cNvPr>
          <p:cNvPicPr>
            <a:picLocks noChangeAspect="1"/>
          </p:cNvPicPr>
          <p:nvPr/>
        </p:nvPicPr>
        <p:blipFill rotWithShape="1">
          <a:blip r:embed="rId3"/>
          <a:srcRect l="47205" t="8857" r="46349" b="83744"/>
          <a:stretch/>
        </p:blipFill>
        <p:spPr>
          <a:xfrm>
            <a:off x="10616303" y="801475"/>
            <a:ext cx="384849" cy="244855"/>
          </a:xfrm>
          <a:prstGeom prst="rect">
            <a:avLst/>
          </a:prstGeom>
        </p:spPr>
      </p:pic>
      <p:pic>
        <p:nvPicPr>
          <p:cNvPr id="11" name="Picture 10">
            <a:extLst>
              <a:ext uri="{FF2B5EF4-FFF2-40B4-BE49-F238E27FC236}">
                <a16:creationId xmlns:a16="http://schemas.microsoft.com/office/drawing/2014/main" id="{4F25226D-0620-F947-BABF-235A3925546B}"/>
              </a:ext>
            </a:extLst>
          </p:cNvPr>
          <p:cNvPicPr>
            <a:picLocks noChangeAspect="1"/>
          </p:cNvPicPr>
          <p:nvPr/>
        </p:nvPicPr>
        <p:blipFill rotWithShape="1">
          <a:blip r:embed="rId3"/>
          <a:srcRect l="62141" t="9357" r="25096" b="83528"/>
          <a:stretch/>
        </p:blipFill>
        <p:spPr>
          <a:xfrm>
            <a:off x="10617959" y="1243961"/>
            <a:ext cx="762000" cy="235464"/>
          </a:xfrm>
          <a:prstGeom prst="rect">
            <a:avLst/>
          </a:prstGeom>
        </p:spPr>
      </p:pic>
      <p:pic>
        <p:nvPicPr>
          <p:cNvPr id="12" name="Picture 11">
            <a:extLst>
              <a:ext uri="{FF2B5EF4-FFF2-40B4-BE49-F238E27FC236}">
                <a16:creationId xmlns:a16="http://schemas.microsoft.com/office/drawing/2014/main" id="{EAF42107-902A-CB47-8D84-84DF719130E4}"/>
              </a:ext>
            </a:extLst>
          </p:cNvPr>
          <p:cNvPicPr>
            <a:picLocks noChangeAspect="1"/>
          </p:cNvPicPr>
          <p:nvPr/>
        </p:nvPicPr>
        <p:blipFill rotWithShape="1">
          <a:blip r:embed="rId3"/>
          <a:srcRect l="53770" t="8857" r="37681" b="84040"/>
          <a:stretch/>
        </p:blipFill>
        <p:spPr>
          <a:xfrm>
            <a:off x="10632135" y="1008882"/>
            <a:ext cx="510362" cy="235079"/>
          </a:xfrm>
          <a:prstGeom prst="rect">
            <a:avLst/>
          </a:prstGeom>
        </p:spPr>
      </p:pic>
      <p:pic>
        <p:nvPicPr>
          <p:cNvPr id="30" name="Picture 29">
            <a:extLst>
              <a:ext uri="{FF2B5EF4-FFF2-40B4-BE49-F238E27FC236}">
                <a16:creationId xmlns:a16="http://schemas.microsoft.com/office/drawing/2014/main" id="{C4E67423-6E82-E441-863A-43B48251193F}"/>
              </a:ext>
            </a:extLst>
          </p:cNvPr>
          <p:cNvPicPr>
            <a:picLocks noChangeAspect="1"/>
          </p:cNvPicPr>
          <p:nvPr/>
        </p:nvPicPr>
        <p:blipFill>
          <a:blip r:embed="rId4"/>
          <a:stretch>
            <a:fillRect/>
          </a:stretch>
        </p:blipFill>
        <p:spPr>
          <a:xfrm>
            <a:off x="7365890" y="2974270"/>
            <a:ext cx="4816249" cy="3234001"/>
          </a:xfrm>
          <a:prstGeom prst="rect">
            <a:avLst/>
          </a:prstGeom>
        </p:spPr>
      </p:pic>
      <p:sp>
        <p:nvSpPr>
          <p:cNvPr id="31" name="TextBox 30">
            <a:extLst>
              <a:ext uri="{FF2B5EF4-FFF2-40B4-BE49-F238E27FC236}">
                <a16:creationId xmlns:a16="http://schemas.microsoft.com/office/drawing/2014/main" id="{3ADE7A3B-324C-1B4E-A883-8BFFC24D1A54}"/>
              </a:ext>
            </a:extLst>
          </p:cNvPr>
          <p:cNvSpPr txBox="1"/>
          <p:nvPr/>
        </p:nvSpPr>
        <p:spPr>
          <a:xfrm>
            <a:off x="7330379" y="554570"/>
            <a:ext cx="314510" cy="369332"/>
          </a:xfrm>
          <a:prstGeom prst="rect">
            <a:avLst/>
          </a:prstGeom>
          <a:noFill/>
        </p:spPr>
        <p:txBody>
          <a:bodyPr wrap="none" rtlCol="0">
            <a:spAutoFit/>
          </a:bodyPr>
          <a:lstStyle/>
          <a:p>
            <a:r>
              <a:rPr lang="en-US" b="1" dirty="0"/>
              <a:t>B</a:t>
            </a:r>
          </a:p>
        </p:txBody>
      </p:sp>
      <p:sp>
        <p:nvSpPr>
          <p:cNvPr id="32" name="TextBox 31">
            <a:extLst>
              <a:ext uri="{FF2B5EF4-FFF2-40B4-BE49-F238E27FC236}">
                <a16:creationId xmlns:a16="http://schemas.microsoft.com/office/drawing/2014/main" id="{1F4ACF6B-8B33-5245-8FDF-2805ED4B716D}"/>
              </a:ext>
            </a:extLst>
          </p:cNvPr>
          <p:cNvSpPr txBox="1"/>
          <p:nvPr/>
        </p:nvSpPr>
        <p:spPr>
          <a:xfrm>
            <a:off x="7330379" y="2888058"/>
            <a:ext cx="306494" cy="369332"/>
          </a:xfrm>
          <a:prstGeom prst="rect">
            <a:avLst/>
          </a:prstGeom>
          <a:noFill/>
        </p:spPr>
        <p:txBody>
          <a:bodyPr wrap="none" rtlCol="0">
            <a:spAutoFit/>
          </a:bodyPr>
          <a:lstStyle/>
          <a:p>
            <a:r>
              <a:rPr lang="en-US" b="1" dirty="0"/>
              <a:t>C</a:t>
            </a:r>
          </a:p>
        </p:txBody>
      </p:sp>
    </p:spTree>
    <p:extLst>
      <p:ext uri="{BB962C8B-B14F-4D97-AF65-F5344CB8AC3E}">
        <p14:creationId xmlns:p14="http://schemas.microsoft.com/office/powerpoint/2010/main" val="1622815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CBCCAAD-C40A-0540-A342-CC95BED36479}"/>
              </a:ext>
            </a:extLst>
          </p:cNvPr>
          <p:cNvSpPr txBox="1"/>
          <p:nvPr/>
        </p:nvSpPr>
        <p:spPr>
          <a:xfrm>
            <a:off x="152327" y="-28505"/>
            <a:ext cx="943528" cy="369332"/>
          </a:xfrm>
          <a:prstGeom prst="rect">
            <a:avLst/>
          </a:prstGeom>
          <a:noFill/>
        </p:spPr>
        <p:txBody>
          <a:bodyPr wrap="none" rtlCol="0">
            <a:spAutoFit/>
          </a:bodyPr>
          <a:lstStyle/>
          <a:p>
            <a:r>
              <a:rPr lang="en-US" b="1" dirty="0"/>
              <a:t>Figure 2</a:t>
            </a:r>
          </a:p>
        </p:txBody>
      </p:sp>
      <p:pic>
        <p:nvPicPr>
          <p:cNvPr id="6" name="Picture 5">
            <a:extLst>
              <a:ext uri="{FF2B5EF4-FFF2-40B4-BE49-F238E27FC236}">
                <a16:creationId xmlns:a16="http://schemas.microsoft.com/office/drawing/2014/main" id="{D2107C2B-7AD9-0940-814D-542810A3F058}"/>
              </a:ext>
            </a:extLst>
          </p:cNvPr>
          <p:cNvPicPr>
            <a:picLocks noChangeAspect="1"/>
          </p:cNvPicPr>
          <p:nvPr/>
        </p:nvPicPr>
        <p:blipFill rotWithShape="1">
          <a:blip r:embed="rId3"/>
          <a:srcRect t="52525"/>
          <a:stretch/>
        </p:blipFill>
        <p:spPr>
          <a:xfrm>
            <a:off x="6369518" y="1648788"/>
            <a:ext cx="5689283" cy="3981303"/>
          </a:xfrm>
          <a:prstGeom prst="rect">
            <a:avLst/>
          </a:prstGeom>
        </p:spPr>
      </p:pic>
      <p:pic>
        <p:nvPicPr>
          <p:cNvPr id="7" name="Picture 6">
            <a:extLst>
              <a:ext uri="{FF2B5EF4-FFF2-40B4-BE49-F238E27FC236}">
                <a16:creationId xmlns:a16="http://schemas.microsoft.com/office/drawing/2014/main" id="{4D1CA6F0-055A-C240-A4FC-6BEFEB8FFA56}"/>
              </a:ext>
            </a:extLst>
          </p:cNvPr>
          <p:cNvPicPr>
            <a:picLocks noChangeAspect="1"/>
          </p:cNvPicPr>
          <p:nvPr/>
        </p:nvPicPr>
        <p:blipFill rotWithShape="1">
          <a:blip r:embed="rId4"/>
          <a:srcRect l="2701" t="7745" r="2136" b="6008"/>
          <a:stretch/>
        </p:blipFill>
        <p:spPr>
          <a:xfrm>
            <a:off x="936970" y="1852864"/>
            <a:ext cx="5423723" cy="3433730"/>
          </a:xfrm>
          <a:prstGeom prst="rect">
            <a:avLst/>
          </a:prstGeom>
        </p:spPr>
      </p:pic>
      <p:sp>
        <p:nvSpPr>
          <p:cNvPr id="2" name="TextBox 1">
            <a:extLst>
              <a:ext uri="{FF2B5EF4-FFF2-40B4-BE49-F238E27FC236}">
                <a16:creationId xmlns:a16="http://schemas.microsoft.com/office/drawing/2014/main" id="{633D4B2A-37ED-CE4F-938D-1864D4E6B025}"/>
              </a:ext>
            </a:extLst>
          </p:cNvPr>
          <p:cNvSpPr txBox="1"/>
          <p:nvPr/>
        </p:nvSpPr>
        <p:spPr>
          <a:xfrm>
            <a:off x="2094074" y="4445366"/>
            <a:ext cx="1241562" cy="430887"/>
          </a:xfrm>
          <a:prstGeom prst="rect">
            <a:avLst/>
          </a:prstGeom>
          <a:noFill/>
        </p:spPr>
        <p:txBody>
          <a:bodyPr wrap="square" rtlCol="0">
            <a:spAutoFit/>
          </a:bodyPr>
          <a:lstStyle/>
          <a:p>
            <a:r>
              <a:rPr lang="en-US" sz="1100" dirty="0"/>
              <a:t>Putative ancestral inserts</a:t>
            </a:r>
          </a:p>
        </p:txBody>
      </p:sp>
      <p:sp>
        <p:nvSpPr>
          <p:cNvPr id="8" name="TextBox 7">
            <a:extLst>
              <a:ext uri="{FF2B5EF4-FFF2-40B4-BE49-F238E27FC236}">
                <a16:creationId xmlns:a16="http://schemas.microsoft.com/office/drawing/2014/main" id="{C1A254C8-E221-074A-8EC7-674BF6886A40}"/>
              </a:ext>
            </a:extLst>
          </p:cNvPr>
          <p:cNvSpPr txBox="1"/>
          <p:nvPr/>
        </p:nvSpPr>
        <p:spPr>
          <a:xfrm>
            <a:off x="3862937" y="2027575"/>
            <a:ext cx="1528056" cy="430887"/>
          </a:xfrm>
          <a:prstGeom prst="rect">
            <a:avLst/>
          </a:prstGeom>
          <a:noFill/>
        </p:spPr>
        <p:txBody>
          <a:bodyPr wrap="square" rtlCol="0">
            <a:spAutoFit/>
          </a:bodyPr>
          <a:lstStyle/>
          <a:p>
            <a:pPr algn="r"/>
            <a:r>
              <a:rPr lang="en-US" sz="1100" dirty="0"/>
              <a:t>Putative contemporary inserts</a:t>
            </a:r>
          </a:p>
        </p:txBody>
      </p:sp>
      <p:sp>
        <p:nvSpPr>
          <p:cNvPr id="9" name="TextBox 8">
            <a:extLst>
              <a:ext uri="{FF2B5EF4-FFF2-40B4-BE49-F238E27FC236}">
                <a16:creationId xmlns:a16="http://schemas.microsoft.com/office/drawing/2014/main" id="{A1AB082A-F420-0C48-91D5-4F7BF95C306D}"/>
              </a:ext>
            </a:extLst>
          </p:cNvPr>
          <p:cNvSpPr txBox="1"/>
          <p:nvPr/>
        </p:nvSpPr>
        <p:spPr>
          <a:xfrm>
            <a:off x="4082441" y="3736051"/>
            <a:ext cx="1281120" cy="261610"/>
          </a:xfrm>
          <a:prstGeom prst="rect">
            <a:avLst/>
          </a:prstGeom>
          <a:noFill/>
        </p:spPr>
        <p:txBody>
          <a:bodyPr wrap="none" rtlCol="0">
            <a:spAutoFit/>
          </a:bodyPr>
          <a:lstStyle/>
          <a:p>
            <a:r>
              <a:rPr lang="en-US" sz="1100" dirty="0"/>
              <a:t>Unable to infer age</a:t>
            </a:r>
          </a:p>
        </p:txBody>
      </p:sp>
      <p:sp>
        <p:nvSpPr>
          <p:cNvPr id="3" name="TextBox 2">
            <a:extLst>
              <a:ext uri="{FF2B5EF4-FFF2-40B4-BE49-F238E27FC236}">
                <a16:creationId xmlns:a16="http://schemas.microsoft.com/office/drawing/2014/main" id="{56561D6C-B0AC-0E48-A749-34E5EC08CA93}"/>
              </a:ext>
            </a:extLst>
          </p:cNvPr>
          <p:cNvSpPr txBox="1"/>
          <p:nvPr/>
        </p:nvSpPr>
        <p:spPr>
          <a:xfrm>
            <a:off x="3177302" y="5230862"/>
            <a:ext cx="1064779" cy="307777"/>
          </a:xfrm>
          <a:prstGeom prst="rect">
            <a:avLst/>
          </a:prstGeom>
          <a:noFill/>
        </p:spPr>
        <p:txBody>
          <a:bodyPr wrap="none" rtlCol="0">
            <a:spAutoFit/>
          </a:bodyPr>
          <a:lstStyle/>
          <a:p>
            <a:r>
              <a:rPr lang="en-US" sz="1400" dirty="0"/>
              <a:t>Insert count</a:t>
            </a:r>
          </a:p>
        </p:txBody>
      </p:sp>
      <p:sp>
        <p:nvSpPr>
          <p:cNvPr id="10" name="TextBox 9">
            <a:extLst>
              <a:ext uri="{FF2B5EF4-FFF2-40B4-BE49-F238E27FC236}">
                <a16:creationId xmlns:a16="http://schemas.microsoft.com/office/drawing/2014/main" id="{90AA9167-B2F4-DB40-8978-942B5407BF84}"/>
              </a:ext>
            </a:extLst>
          </p:cNvPr>
          <p:cNvSpPr txBox="1"/>
          <p:nvPr/>
        </p:nvSpPr>
        <p:spPr>
          <a:xfrm rot="16200000">
            <a:off x="-308369" y="3261666"/>
            <a:ext cx="2290755" cy="307777"/>
          </a:xfrm>
          <a:prstGeom prst="rect">
            <a:avLst/>
          </a:prstGeom>
          <a:noFill/>
        </p:spPr>
        <p:txBody>
          <a:bodyPr wrap="none" rtlCol="0">
            <a:spAutoFit/>
          </a:bodyPr>
          <a:lstStyle/>
          <a:p>
            <a:r>
              <a:rPr lang="en-US" sz="1400" dirty="0"/>
              <a:t>BLAST identity (%) difference</a:t>
            </a:r>
          </a:p>
        </p:txBody>
      </p:sp>
      <p:sp>
        <p:nvSpPr>
          <p:cNvPr id="11" name="TextBox 10">
            <a:extLst>
              <a:ext uri="{FF2B5EF4-FFF2-40B4-BE49-F238E27FC236}">
                <a16:creationId xmlns:a16="http://schemas.microsoft.com/office/drawing/2014/main" id="{FDFFE04B-D070-864B-B8B8-CEADF928B4A8}"/>
              </a:ext>
            </a:extLst>
          </p:cNvPr>
          <p:cNvSpPr txBox="1"/>
          <p:nvPr/>
        </p:nvSpPr>
        <p:spPr>
          <a:xfrm>
            <a:off x="563825" y="1753280"/>
            <a:ext cx="324128" cy="369332"/>
          </a:xfrm>
          <a:prstGeom prst="rect">
            <a:avLst/>
          </a:prstGeom>
          <a:noFill/>
        </p:spPr>
        <p:txBody>
          <a:bodyPr wrap="none" rtlCol="0">
            <a:spAutoFit/>
          </a:bodyPr>
          <a:lstStyle/>
          <a:p>
            <a:r>
              <a:rPr lang="en-US" b="1" dirty="0"/>
              <a:t>A</a:t>
            </a:r>
          </a:p>
        </p:txBody>
      </p:sp>
      <p:sp>
        <p:nvSpPr>
          <p:cNvPr id="12" name="TextBox 11">
            <a:extLst>
              <a:ext uri="{FF2B5EF4-FFF2-40B4-BE49-F238E27FC236}">
                <a16:creationId xmlns:a16="http://schemas.microsoft.com/office/drawing/2014/main" id="{276F2C94-E046-8F49-A92D-49719149D358}"/>
              </a:ext>
            </a:extLst>
          </p:cNvPr>
          <p:cNvSpPr txBox="1"/>
          <p:nvPr/>
        </p:nvSpPr>
        <p:spPr>
          <a:xfrm>
            <a:off x="6360693" y="1753280"/>
            <a:ext cx="314510" cy="369332"/>
          </a:xfrm>
          <a:prstGeom prst="rect">
            <a:avLst/>
          </a:prstGeom>
          <a:noFill/>
        </p:spPr>
        <p:txBody>
          <a:bodyPr wrap="none" rtlCol="0">
            <a:spAutoFit/>
          </a:bodyPr>
          <a:lstStyle/>
          <a:p>
            <a:r>
              <a:rPr lang="en-US" b="1" dirty="0"/>
              <a:t>B</a:t>
            </a:r>
          </a:p>
        </p:txBody>
      </p:sp>
      <p:sp>
        <p:nvSpPr>
          <p:cNvPr id="13" name="Oval 12">
            <a:extLst>
              <a:ext uri="{FF2B5EF4-FFF2-40B4-BE49-F238E27FC236}">
                <a16:creationId xmlns:a16="http://schemas.microsoft.com/office/drawing/2014/main" id="{E421327E-452A-CD40-9CB2-DCE4DADC7EB8}"/>
              </a:ext>
            </a:extLst>
          </p:cNvPr>
          <p:cNvSpPr/>
          <p:nvPr/>
        </p:nvSpPr>
        <p:spPr>
          <a:xfrm rot="20764211">
            <a:off x="1270899" y="4637079"/>
            <a:ext cx="865164" cy="326542"/>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AD5DDC-8234-0745-83AA-125A34ABC016}"/>
              </a:ext>
            </a:extLst>
          </p:cNvPr>
          <p:cNvSpPr/>
          <p:nvPr/>
        </p:nvSpPr>
        <p:spPr>
          <a:xfrm rot="20764211">
            <a:off x="5332359" y="2021240"/>
            <a:ext cx="865164" cy="326542"/>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8A2940A-50E2-9E4E-B45B-7E8B51C98C89}"/>
              </a:ext>
            </a:extLst>
          </p:cNvPr>
          <p:cNvSpPr/>
          <p:nvPr/>
        </p:nvSpPr>
        <p:spPr>
          <a:xfrm rot="21257093">
            <a:off x="1828726" y="3163471"/>
            <a:ext cx="3824834" cy="642507"/>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36291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8AC1BD0-7DA5-E9BF-1323-A48980C680F0}"/>
              </a:ext>
            </a:extLst>
          </p:cNvPr>
          <p:cNvPicPr>
            <a:picLocks noChangeAspect="1"/>
          </p:cNvPicPr>
          <p:nvPr/>
        </p:nvPicPr>
        <p:blipFill>
          <a:blip r:embed="rId3"/>
          <a:stretch>
            <a:fillRect/>
          </a:stretch>
        </p:blipFill>
        <p:spPr>
          <a:xfrm>
            <a:off x="3699510" y="-103505"/>
            <a:ext cx="4617303" cy="6806057"/>
          </a:xfrm>
          <a:prstGeom prst="rect">
            <a:avLst/>
          </a:prstGeom>
        </p:spPr>
      </p:pic>
    </p:spTree>
    <p:extLst>
      <p:ext uri="{BB962C8B-B14F-4D97-AF65-F5344CB8AC3E}">
        <p14:creationId xmlns:p14="http://schemas.microsoft.com/office/powerpoint/2010/main" val="41999593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1BBB3A3-78CA-A200-3731-AABEB7DD0C3F}"/>
              </a:ext>
            </a:extLst>
          </p:cNvPr>
          <p:cNvPicPr>
            <a:picLocks noChangeAspect="1"/>
          </p:cNvPicPr>
          <p:nvPr/>
        </p:nvPicPr>
        <p:blipFill>
          <a:blip r:embed="rId3"/>
          <a:stretch>
            <a:fillRect/>
          </a:stretch>
        </p:blipFill>
        <p:spPr>
          <a:xfrm>
            <a:off x="3230245" y="428307"/>
            <a:ext cx="5731510" cy="6001385"/>
          </a:xfrm>
          <a:prstGeom prst="rect">
            <a:avLst/>
          </a:prstGeom>
        </p:spPr>
      </p:pic>
    </p:spTree>
    <p:extLst>
      <p:ext uri="{BB962C8B-B14F-4D97-AF65-F5344CB8AC3E}">
        <p14:creationId xmlns:p14="http://schemas.microsoft.com/office/powerpoint/2010/main" val="2815334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65D913-7192-374F-8DD8-295EDAC76DD3}"/>
              </a:ext>
            </a:extLst>
          </p:cNvPr>
          <p:cNvPicPr>
            <a:picLocks noChangeAspect="1"/>
          </p:cNvPicPr>
          <p:nvPr/>
        </p:nvPicPr>
        <p:blipFill>
          <a:blip r:embed="rId2"/>
          <a:stretch>
            <a:fillRect/>
          </a:stretch>
        </p:blipFill>
        <p:spPr>
          <a:xfrm>
            <a:off x="1689107" y="211874"/>
            <a:ext cx="8985383" cy="6276794"/>
          </a:xfrm>
          <a:prstGeom prst="rect">
            <a:avLst/>
          </a:prstGeom>
        </p:spPr>
      </p:pic>
      <p:sp>
        <p:nvSpPr>
          <p:cNvPr id="6" name="TextBox 5">
            <a:extLst>
              <a:ext uri="{FF2B5EF4-FFF2-40B4-BE49-F238E27FC236}">
                <a16:creationId xmlns:a16="http://schemas.microsoft.com/office/drawing/2014/main" id="{4247A41C-BF5A-F64D-ABE3-09583767864B}"/>
              </a:ext>
            </a:extLst>
          </p:cNvPr>
          <p:cNvSpPr txBox="1"/>
          <p:nvPr/>
        </p:nvSpPr>
        <p:spPr>
          <a:xfrm>
            <a:off x="624468" y="6488668"/>
            <a:ext cx="3591689" cy="369332"/>
          </a:xfrm>
          <a:prstGeom prst="rect">
            <a:avLst/>
          </a:prstGeom>
          <a:noFill/>
        </p:spPr>
        <p:txBody>
          <a:bodyPr wrap="none" rtlCol="0">
            <a:spAutoFit/>
          </a:bodyPr>
          <a:lstStyle/>
          <a:p>
            <a:r>
              <a:rPr lang="en-US" dirty="0"/>
              <a:t>P-</a:t>
            </a:r>
            <a:r>
              <a:rPr lang="en-US" dirty="0" err="1"/>
              <a:t>tryoni</a:t>
            </a:r>
            <a:r>
              <a:rPr lang="en-US" dirty="0"/>
              <a:t>-</a:t>
            </a:r>
            <a:r>
              <a:rPr lang="en-US" dirty="0" err="1"/>
              <a:t>tryoni</a:t>
            </a:r>
            <a:r>
              <a:rPr lang="en-US" dirty="0"/>
              <a:t>-</a:t>
            </a:r>
            <a:r>
              <a:rPr lang="en-US" dirty="0" err="1"/>
              <a:t>Eungella_ageing</a:t>
            </a:r>
            <a:r>
              <a:rPr lang="en-US" dirty="0"/>
              <a:t>-plot</a:t>
            </a:r>
          </a:p>
        </p:txBody>
      </p:sp>
    </p:spTree>
    <p:extLst>
      <p:ext uri="{BB962C8B-B14F-4D97-AF65-F5344CB8AC3E}">
        <p14:creationId xmlns:p14="http://schemas.microsoft.com/office/powerpoint/2010/main" val="822455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1BBB3A3-78CA-A200-3731-AABEB7DD0C3F}"/>
              </a:ext>
            </a:extLst>
          </p:cNvPr>
          <p:cNvPicPr>
            <a:picLocks noChangeAspect="1"/>
          </p:cNvPicPr>
          <p:nvPr/>
        </p:nvPicPr>
        <p:blipFill rotWithShape="1">
          <a:blip r:embed="rId3"/>
          <a:srcRect t="4855"/>
          <a:stretch/>
        </p:blipFill>
        <p:spPr>
          <a:xfrm>
            <a:off x="3230245" y="719667"/>
            <a:ext cx="5731510" cy="5710025"/>
          </a:xfrm>
          <a:prstGeom prst="rect">
            <a:avLst/>
          </a:prstGeom>
        </p:spPr>
      </p:pic>
      <p:sp>
        <p:nvSpPr>
          <p:cNvPr id="2" name="TextBox 1">
            <a:extLst>
              <a:ext uri="{FF2B5EF4-FFF2-40B4-BE49-F238E27FC236}">
                <a16:creationId xmlns:a16="http://schemas.microsoft.com/office/drawing/2014/main" id="{FAC75DAA-4E26-9941-B0F2-5BE6D09F93CE}"/>
              </a:ext>
            </a:extLst>
          </p:cNvPr>
          <p:cNvSpPr txBox="1"/>
          <p:nvPr/>
        </p:nvSpPr>
        <p:spPr>
          <a:xfrm>
            <a:off x="4944535" y="3124201"/>
            <a:ext cx="2142066" cy="523220"/>
          </a:xfrm>
          <a:prstGeom prst="rect">
            <a:avLst/>
          </a:prstGeom>
          <a:noFill/>
        </p:spPr>
        <p:txBody>
          <a:bodyPr wrap="square" rtlCol="0">
            <a:spAutoFit/>
          </a:bodyPr>
          <a:lstStyle/>
          <a:p>
            <a:pPr algn="ctr"/>
            <a:r>
              <a:rPr lang="en-US" sz="1400" i="1" dirty="0">
                <a:latin typeface="Arial" panose="020B0604020202020204" pitchFamily="34" charset="0"/>
                <a:cs typeface="Arial" panose="020B0604020202020204" pitchFamily="34" charset="0"/>
              </a:rPr>
              <a:t>Blattabacterium cuenoti </a:t>
            </a:r>
            <a:r>
              <a:rPr lang="en-US" sz="1400" dirty="0">
                <a:latin typeface="Arial" panose="020B0604020202020204" pitchFamily="34" charset="0"/>
                <a:cs typeface="Arial" panose="020B0604020202020204" pitchFamily="34" charset="0"/>
              </a:rPr>
              <a:t>genome </a:t>
            </a:r>
          </a:p>
        </p:txBody>
      </p:sp>
      <p:sp>
        <p:nvSpPr>
          <p:cNvPr id="5" name="TextBox 4">
            <a:extLst>
              <a:ext uri="{FF2B5EF4-FFF2-40B4-BE49-F238E27FC236}">
                <a16:creationId xmlns:a16="http://schemas.microsoft.com/office/drawing/2014/main" id="{1A655766-8F62-3C48-830A-8A34D4AC274A}"/>
              </a:ext>
            </a:extLst>
          </p:cNvPr>
          <p:cNvSpPr txBox="1"/>
          <p:nvPr/>
        </p:nvSpPr>
        <p:spPr>
          <a:xfrm>
            <a:off x="4351868" y="523443"/>
            <a:ext cx="3191932" cy="307777"/>
          </a:xfrm>
          <a:prstGeom prst="rect">
            <a:avLst/>
          </a:prstGeom>
          <a:noFill/>
        </p:spPr>
        <p:txBody>
          <a:bodyPr wrap="square" rtlCol="0">
            <a:spAutoFit/>
          </a:bodyPr>
          <a:lstStyle/>
          <a:p>
            <a:pPr algn="ctr"/>
            <a:r>
              <a:rPr lang="en-US" sz="1400" i="1" dirty="0">
                <a:latin typeface="Arial" panose="020B0604020202020204" pitchFamily="34" charset="0"/>
                <a:cs typeface="Arial" panose="020B0604020202020204" pitchFamily="34" charset="0"/>
              </a:rPr>
              <a:t>Panesthia tryoni tegminifera </a:t>
            </a:r>
            <a:r>
              <a:rPr lang="en-US" sz="1400" dirty="0">
                <a:latin typeface="Arial" panose="020B0604020202020204" pitchFamily="34" charset="0"/>
                <a:cs typeface="Arial" panose="020B0604020202020204" pitchFamily="34" charset="0"/>
              </a:rPr>
              <a:t>contig</a:t>
            </a:r>
          </a:p>
        </p:txBody>
      </p:sp>
    </p:spTree>
    <p:extLst>
      <p:ext uri="{BB962C8B-B14F-4D97-AF65-F5344CB8AC3E}">
        <p14:creationId xmlns:p14="http://schemas.microsoft.com/office/powerpoint/2010/main" val="1535606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1370</TotalTime>
  <Words>1242</Words>
  <Application>Microsoft Macintosh PowerPoint</Application>
  <PresentationFormat>Widescreen</PresentationFormat>
  <Paragraphs>285</Paragraphs>
  <Slides>16</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Insert origins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Nathan Lo</dc:creator>
  <cp:lastModifiedBy>Microsoft Office User</cp:lastModifiedBy>
  <cp:revision>40</cp:revision>
  <dcterms:created xsi:type="dcterms:W3CDTF">2024-11-11T06:16:46Z</dcterms:created>
  <dcterms:modified xsi:type="dcterms:W3CDTF">2025-11-13T08:45:16Z</dcterms:modified>
</cp:coreProperties>
</file>